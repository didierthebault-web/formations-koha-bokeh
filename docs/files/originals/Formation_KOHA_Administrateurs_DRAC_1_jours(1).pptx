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2" r:id="rId5"/>
    <p:sldId id="259" r:id="rId6"/>
    <p:sldId id="260" r:id="rId7"/>
    <p:sldId id="261" r:id="rId8"/>
    <p:sldId id="263" r:id="rId9"/>
    <p:sldId id="264" r:id="rId10"/>
    <p:sldId id="265" r:id="rId11"/>
    <p:sldId id="267" r:id="rId12"/>
    <p:sldId id="266"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6" r:id="rId28"/>
    <p:sldId id="288" r:id="rId29"/>
    <p:sldId id="287" r:id="rId30"/>
    <p:sldId id="289" r:id="rId31"/>
    <p:sldId id="290" r:id="rId32"/>
    <p:sldId id="291" r:id="rId33"/>
    <p:sldId id="283" r:id="rId34"/>
    <p:sldId id="284" r:id="rId35"/>
    <p:sldId id="285" r:id="rId36"/>
    <p:sldId id="292" r:id="rId37"/>
    <p:sldId id="293" r:id="rId38"/>
    <p:sldId id="294" r:id="rId39"/>
    <p:sldId id="295"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99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106" autoAdjust="0"/>
  </p:normalViewPr>
  <p:slideViewPr>
    <p:cSldViewPr snapToGrid="0" snapToObjects="1">
      <p:cViewPr varScale="1">
        <p:scale>
          <a:sx n="103" d="100"/>
          <a:sy n="103" d="100"/>
        </p:scale>
        <p:origin x="1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sz="3200" dirty="0"/>
              <a:t>FORMATION</a:t>
            </a:r>
          </a:p>
        </p:txBody>
      </p:sp>
      <p:sp>
        <p:nvSpPr>
          <p:cNvPr id="4" name="TextBox 3"/>
          <p:cNvSpPr txBox="1"/>
          <p:nvPr/>
        </p:nvSpPr>
        <p:spPr>
          <a:xfrm>
            <a:off x="845034" y="3652098"/>
            <a:ext cx="7537409" cy="584775"/>
          </a:xfrm>
          <a:prstGeom prst="rect">
            <a:avLst/>
          </a:prstGeom>
          <a:noFill/>
        </p:spPr>
        <p:txBody>
          <a:bodyPr wrap="square">
            <a:spAutoFit/>
          </a:bodyPr>
          <a:lstStyle/>
          <a:p>
            <a:pPr algn="ctr">
              <a:defRPr sz="3200" b="1">
                <a:solidFill>
                  <a:srgbClr val="141991"/>
                </a:solidFill>
              </a:defRPr>
            </a:pPr>
            <a:r>
              <a:rPr lang="fr-FR" noProof="0" dirty="0"/>
              <a:t>Administrer le SIGB</a:t>
            </a:r>
          </a:p>
        </p:txBody>
      </p:sp>
      <p:pic>
        <p:nvPicPr>
          <p:cNvPr id="6" name="Image 5">
            <a:extLst>
              <a:ext uri="{FF2B5EF4-FFF2-40B4-BE49-F238E27FC236}">
                <a16:creationId xmlns:a16="http://schemas.microsoft.com/office/drawing/2014/main" id="{C7977FBB-F4B7-E101-7BE3-B5E34FD92226}"/>
              </a:ext>
            </a:extLst>
          </p:cNvPr>
          <p:cNvPicPr>
            <a:picLocks noChangeAspect="1"/>
          </p:cNvPicPr>
          <p:nvPr/>
        </p:nvPicPr>
        <p:blipFill>
          <a:blip r:embed="rId2"/>
          <a:stretch>
            <a:fillRect/>
          </a:stretch>
        </p:blipFill>
        <p:spPr>
          <a:xfrm>
            <a:off x="2253997" y="1545235"/>
            <a:ext cx="4719482" cy="1352866"/>
          </a:xfrm>
          <a:prstGeom prst="rect">
            <a:avLst/>
          </a:prstGeom>
        </p:spPr>
      </p:pic>
      <p:pic>
        <p:nvPicPr>
          <p:cNvPr id="8" name="Image 7">
            <a:extLst>
              <a:ext uri="{FF2B5EF4-FFF2-40B4-BE49-F238E27FC236}">
                <a16:creationId xmlns:a16="http://schemas.microsoft.com/office/drawing/2014/main" id="{CF8BF2A5-8D45-619B-85B6-53F45F0895AE}"/>
              </a:ext>
            </a:extLst>
          </p:cNvPr>
          <p:cNvPicPr>
            <a:picLocks noChangeAspect="1"/>
          </p:cNvPicPr>
          <p:nvPr/>
        </p:nvPicPr>
        <p:blipFill>
          <a:blip r:embed="rId3"/>
          <a:stretch>
            <a:fillRect/>
          </a:stretch>
        </p:blipFill>
        <p:spPr>
          <a:xfrm>
            <a:off x="49161" y="5709827"/>
            <a:ext cx="1396180" cy="10623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p:cNvSpPr txBox="1"/>
          <p:nvPr/>
        </p:nvSpPr>
        <p:spPr>
          <a:xfrm>
            <a:off x="502920" y="569914"/>
            <a:ext cx="7667897" cy="4606389"/>
          </a:xfrm>
          <a:prstGeom prst="rect">
            <a:avLst/>
          </a:prstGeom>
          <a:noFill/>
        </p:spPr>
        <p:txBody>
          <a:bodyPr wrap="square">
            <a:spAutoFit/>
          </a:bodyPr>
          <a:lstStyle/>
          <a:p>
            <a:pPr>
              <a:spcAft>
                <a:spcPts val="1100"/>
              </a:spcAft>
              <a:defRPr sz="1800">
                <a:solidFill>
                  <a:srgbClr val="23232D"/>
                </a:solidFill>
              </a:defRPr>
            </a:pPr>
            <a:r>
              <a:rPr lang="fr-FR" sz="2000" noProof="0" dirty="0">
                <a:solidFill>
                  <a:srgbClr val="002060"/>
                </a:solidFill>
              </a:rPr>
              <a:t>À l'issue de la journée, le référent doit pouvoir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comprendre l'organisation d'une instance Koha mutualisée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distinguer ce qui relève de l'administration centrale et de l'administration locale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gérer les paramètres fonctionnels de son site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créer et gérer les utilisateurs professionnels et leurs droits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comprendre le paramétrage des notices et des exemplaires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utiliser les principaux outils de traitement par lot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produire et exploiter des rapports ;</a:t>
            </a:r>
          </a:p>
          <a:p>
            <a:pPr marL="342900" indent="-342900">
              <a:spcAft>
                <a:spcPts val="1100"/>
              </a:spcAft>
              <a:buFont typeface="Wingdings" panose="05000000000000000000" pitchFamily="2" charset="2"/>
              <a:buChar char="§"/>
              <a:defRPr sz="1800">
                <a:solidFill>
                  <a:srgbClr val="23232D"/>
                </a:solidFill>
              </a:defRPr>
            </a:pPr>
            <a:r>
              <a:rPr lang="fr-FR" sz="2000" noProof="0" dirty="0">
                <a:solidFill>
                  <a:srgbClr val="002060"/>
                </a:solidFill>
              </a:rPr>
              <a:t>identifier une anomalie et savoir quand la faire remonter à l'administrateur central.</a:t>
            </a:r>
          </a:p>
        </p:txBody>
      </p:sp>
      <p:sp>
        <p:nvSpPr>
          <p:cNvPr id="7" name="Rectangle 6">
            <a:extLst>
              <a:ext uri="{FF2B5EF4-FFF2-40B4-BE49-F238E27FC236}">
                <a16:creationId xmlns:a16="http://schemas.microsoft.com/office/drawing/2014/main" id="{C78AE17C-83AE-18DA-B5C3-211AD67EBD1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9CE02608-8309-8BB5-182C-AC9EEDE8EDC1}"/>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5F7E6D-C99D-AD0B-0429-126B0E705B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C6181E-9D5C-BD67-9BB9-7848A14F060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C3197650-4D9C-CBC8-FAD4-AB4591E5F344}"/>
              </a:ext>
            </a:extLst>
          </p:cNvPr>
          <p:cNvSpPr txBox="1"/>
          <p:nvPr/>
        </p:nvSpPr>
        <p:spPr>
          <a:xfrm>
            <a:off x="502920" y="569914"/>
            <a:ext cx="7667897" cy="2695610"/>
          </a:xfrm>
          <a:prstGeom prst="rect">
            <a:avLst/>
          </a:prstGeom>
          <a:noFill/>
        </p:spPr>
        <p:txBody>
          <a:bodyPr wrap="square">
            <a:spAutoFit/>
          </a:bodyPr>
          <a:lstStyle/>
          <a:p>
            <a:pPr>
              <a:spcAft>
                <a:spcPts val="1100"/>
              </a:spcAft>
              <a:defRPr sz="1800">
                <a:solidFill>
                  <a:srgbClr val="23232D"/>
                </a:solidFill>
              </a:defRPr>
            </a:pPr>
            <a:r>
              <a:rPr lang="fr-FR" sz="2000" noProof="0" dirty="0">
                <a:solidFill>
                  <a:srgbClr val="002060"/>
                </a:solidFill>
              </a:rPr>
              <a:t>L’administrateur DRAC est le référent fonctionnel de Koha pour sa structure. </a:t>
            </a:r>
            <a:br>
              <a:rPr lang="fr-FR" sz="2000" noProof="0" dirty="0">
                <a:solidFill>
                  <a:srgbClr val="002060"/>
                </a:solidFill>
              </a:rPr>
            </a:br>
            <a:r>
              <a:rPr lang="fr-FR" sz="2000" noProof="0" dirty="0">
                <a:solidFill>
                  <a:srgbClr val="002060"/>
                </a:solidFill>
              </a:rPr>
              <a:t>Il accompagne les utilisateurs, veille à la bonne utilisation du SIGB et assure le lien entre les besoins de sa DRAC et l’administration centrale du catalogue mutualisé.</a:t>
            </a:r>
          </a:p>
          <a:p>
            <a:pPr>
              <a:spcAft>
                <a:spcPts val="1100"/>
              </a:spcAft>
              <a:defRPr sz="1800">
                <a:solidFill>
                  <a:srgbClr val="23232D"/>
                </a:solidFill>
              </a:defRPr>
            </a:pPr>
            <a:r>
              <a:rPr lang="fr-FR" sz="2000" noProof="0" dirty="0">
                <a:solidFill>
                  <a:srgbClr val="002060"/>
                </a:solidFill>
              </a:rPr>
              <a:t>Son rôle n’est pas d’administrer techniquement le serveur Koha, mais de garantir le bon fonctionnement de son environnement documentaire local, dans le respect des règles communes.</a:t>
            </a:r>
          </a:p>
        </p:txBody>
      </p:sp>
      <p:sp>
        <p:nvSpPr>
          <p:cNvPr id="7" name="Rectangle 6">
            <a:extLst>
              <a:ext uri="{FF2B5EF4-FFF2-40B4-BE49-F238E27FC236}">
                <a16:creationId xmlns:a16="http://schemas.microsoft.com/office/drawing/2014/main" id="{D79A7077-3F4F-0863-0F5C-2ACC8EFB82D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1D03071-DFF8-E36A-143E-BDF88A092EA0}"/>
              </a:ext>
            </a:extLst>
          </p:cNvPr>
          <p:cNvSpPr txBox="1"/>
          <p:nvPr/>
        </p:nvSpPr>
        <p:spPr>
          <a:xfrm>
            <a:off x="8760542" y="914400"/>
            <a:ext cx="3352800" cy="3170099"/>
          </a:xfrm>
          <a:prstGeom prst="rect">
            <a:avLst/>
          </a:prstGeom>
          <a:noFill/>
        </p:spPr>
        <p:txBody>
          <a:bodyPr wrap="square">
            <a:spAutoFit/>
          </a:bodyPr>
          <a:lstStyle/>
          <a:p>
            <a:pPr>
              <a:defRPr sz="1600" b="1">
                <a:solidFill>
                  <a:srgbClr val="FFFFFF"/>
                </a:solidFill>
              </a:defRPr>
            </a:pPr>
            <a:r>
              <a:rPr lang="fr-FR" sz="3200" dirty="0"/>
              <a:t>Le rôle de l'administrateur DRAC : </a:t>
            </a:r>
          </a:p>
          <a:p>
            <a:pPr>
              <a:defRPr sz="1600" b="1">
                <a:solidFill>
                  <a:srgbClr val="FFFFFF"/>
                </a:solidFill>
              </a:defRPr>
            </a:pPr>
            <a:endParaRPr lang="fr-FR" sz="3200" b="1" dirty="0">
              <a:solidFill>
                <a:srgbClr val="FFFFFF"/>
              </a:solidFill>
            </a:endParaRPr>
          </a:p>
          <a:p>
            <a:pPr>
              <a:defRPr sz="1600" b="1">
                <a:solidFill>
                  <a:srgbClr val="FFFFFF"/>
                </a:solidFill>
              </a:defRPr>
            </a:pPr>
            <a:r>
              <a:rPr lang="fr-FR" sz="2400" b="1" dirty="0">
                <a:solidFill>
                  <a:srgbClr val="FFFFFF"/>
                </a:solidFill>
              </a:rPr>
              <a:t>Un référent local </a:t>
            </a:r>
            <a:br>
              <a:rPr lang="fr-FR" sz="2400" b="1" dirty="0">
                <a:solidFill>
                  <a:srgbClr val="FFFFFF"/>
                </a:solidFill>
              </a:rPr>
            </a:br>
            <a:r>
              <a:rPr lang="fr-FR" sz="2400" b="1" dirty="0">
                <a:solidFill>
                  <a:srgbClr val="FFFFFF"/>
                </a:solidFill>
              </a:rPr>
              <a:t>dans un environnement mutualisé</a:t>
            </a:r>
            <a:endParaRPr lang="fr-FR" sz="2400" dirty="0"/>
          </a:p>
        </p:txBody>
      </p:sp>
      <p:pic>
        <p:nvPicPr>
          <p:cNvPr id="5" name="Image 4">
            <a:extLst>
              <a:ext uri="{FF2B5EF4-FFF2-40B4-BE49-F238E27FC236}">
                <a16:creationId xmlns:a16="http://schemas.microsoft.com/office/drawing/2014/main" id="{C1E74115-9F39-D136-6F0C-BD0D36D1288C}"/>
              </a:ext>
            </a:extLst>
          </p:cNvPr>
          <p:cNvPicPr>
            <a:picLocks noChangeAspect="1"/>
          </p:cNvPicPr>
          <p:nvPr/>
        </p:nvPicPr>
        <p:blipFill>
          <a:blip r:embed="rId2"/>
          <a:srcRect l="10907" t="9524" r="53719" b="50000"/>
          <a:stretch>
            <a:fillRect/>
          </a:stretch>
        </p:blipFill>
        <p:spPr>
          <a:xfrm>
            <a:off x="898383" y="3592477"/>
            <a:ext cx="1343610" cy="1537400"/>
          </a:xfrm>
          <a:prstGeom prst="rect">
            <a:avLst/>
          </a:prstGeom>
        </p:spPr>
      </p:pic>
      <p:sp>
        <p:nvSpPr>
          <p:cNvPr id="8" name="ZoneTexte 7">
            <a:extLst>
              <a:ext uri="{FF2B5EF4-FFF2-40B4-BE49-F238E27FC236}">
                <a16:creationId xmlns:a16="http://schemas.microsoft.com/office/drawing/2014/main" id="{001BAA38-A1B5-3435-FA0D-8EC75F39E94B}"/>
              </a:ext>
            </a:extLst>
          </p:cNvPr>
          <p:cNvSpPr txBox="1"/>
          <p:nvPr/>
        </p:nvSpPr>
        <p:spPr>
          <a:xfrm>
            <a:off x="285208" y="5087498"/>
            <a:ext cx="2569960" cy="369332"/>
          </a:xfrm>
          <a:prstGeom prst="rect">
            <a:avLst/>
          </a:prstGeom>
          <a:noFill/>
        </p:spPr>
        <p:txBody>
          <a:bodyPr wrap="square">
            <a:spAutoFit/>
          </a:bodyPr>
          <a:lstStyle/>
          <a:p>
            <a:pPr algn="ctr"/>
            <a:r>
              <a:rPr lang="fr-FR" dirty="0">
                <a:solidFill>
                  <a:srgbClr val="141991"/>
                </a:solidFill>
              </a:rPr>
              <a:t>Catalogueurs de la DRAC</a:t>
            </a:r>
          </a:p>
        </p:txBody>
      </p:sp>
      <p:sp>
        <p:nvSpPr>
          <p:cNvPr id="11" name="ZoneTexte 10">
            <a:extLst>
              <a:ext uri="{FF2B5EF4-FFF2-40B4-BE49-F238E27FC236}">
                <a16:creationId xmlns:a16="http://schemas.microsoft.com/office/drawing/2014/main" id="{497376EC-B2F3-3F0D-38EF-DDA0B2A07C0C}"/>
              </a:ext>
            </a:extLst>
          </p:cNvPr>
          <p:cNvSpPr txBox="1"/>
          <p:nvPr/>
        </p:nvSpPr>
        <p:spPr>
          <a:xfrm>
            <a:off x="411793" y="5456830"/>
            <a:ext cx="2316790" cy="461665"/>
          </a:xfrm>
          <a:prstGeom prst="rect">
            <a:avLst/>
          </a:prstGeom>
          <a:noFill/>
        </p:spPr>
        <p:txBody>
          <a:bodyPr wrap="square">
            <a:spAutoFit/>
          </a:bodyPr>
          <a:lstStyle/>
          <a:p>
            <a:pPr algn="ctr"/>
            <a:r>
              <a:rPr lang="fr-FR" sz="1200" dirty="0">
                <a:solidFill>
                  <a:srgbClr val="141991"/>
                </a:solidFill>
              </a:rPr>
              <a:t>Accompagnement, droits, pratiques, difficultés rencontrées</a:t>
            </a:r>
          </a:p>
        </p:txBody>
      </p:sp>
      <p:pic>
        <p:nvPicPr>
          <p:cNvPr id="12" name="Image 11">
            <a:extLst>
              <a:ext uri="{FF2B5EF4-FFF2-40B4-BE49-F238E27FC236}">
                <a16:creationId xmlns:a16="http://schemas.microsoft.com/office/drawing/2014/main" id="{86F13BE4-683A-6D08-3E7D-CFF5D6602664}"/>
              </a:ext>
            </a:extLst>
          </p:cNvPr>
          <p:cNvPicPr>
            <a:picLocks noChangeAspect="1"/>
          </p:cNvPicPr>
          <p:nvPr/>
        </p:nvPicPr>
        <p:blipFill>
          <a:blip r:embed="rId2"/>
          <a:srcRect l="10907" t="9524" r="53719" b="50000"/>
          <a:stretch>
            <a:fillRect/>
          </a:stretch>
        </p:blipFill>
        <p:spPr>
          <a:xfrm>
            <a:off x="3594928" y="3592477"/>
            <a:ext cx="1343610" cy="1537400"/>
          </a:xfrm>
          <a:prstGeom prst="rect">
            <a:avLst/>
          </a:prstGeom>
        </p:spPr>
      </p:pic>
      <p:sp>
        <p:nvSpPr>
          <p:cNvPr id="13" name="ZoneTexte 12">
            <a:extLst>
              <a:ext uri="{FF2B5EF4-FFF2-40B4-BE49-F238E27FC236}">
                <a16:creationId xmlns:a16="http://schemas.microsoft.com/office/drawing/2014/main" id="{EB8FF8A9-20AB-4936-0C51-191B33F72CE8}"/>
              </a:ext>
            </a:extLst>
          </p:cNvPr>
          <p:cNvSpPr txBox="1"/>
          <p:nvPr/>
        </p:nvSpPr>
        <p:spPr>
          <a:xfrm>
            <a:off x="2981753" y="5087498"/>
            <a:ext cx="2569960" cy="369332"/>
          </a:xfrm>
          <a:prstGeom prst="rect">
            <a:avLst/>
          </a:prstGeom>
          <a:noFill/>
        </p:spPr>
        <p:txBody>
          <a:bodyPr wrap="square">
            <a:spAutoFit/>
          </a:bodyPr>
          <a:lstStyle/>
          <a:p>
            <a:pPr algn="ctr"/>
            <a:r>
              <a:rPr lang="fr-FR" dirty="0">
                <a:solidFill>
                  <a:srgbClr val="141991"/>
                </a:solidFill>
              </a:rPr>
              <a:t>Administrateur DRAC</a:t>
            </a:r>
          </a:p>
        </p:txBody>
      </p:sp>
      <p:sp>
        <p:nvSpPr>
          <p:cNvPr id="14" name="ZoneTexte 13">
            <a:extLst>
              <a:ext uri="{FF2B5EF4-FFF2-40B4-BE49-F238E27FC236}">
                <a16:creationId xmlns:a16="http://schemas.microsoft.com/office/drawing/2014/main" id="{08D1C138-DDDA-8188-36FE-5DE32E47AF4D}"/>
              </a:ext>
            </a:extLst>
          </p:cNvPr>
          <p:cNvSpPr txBox="1"/>
          <p:nvPr/>
        </p:nvSpPr>
        <p:spPr>
          <a:xfrm>
            <a:off x="3108338" y="5456830"/>
            <a:ext cx="2316790" cy="830997"/>
          </a:xfrm>
          <a:prstGeom prst="rect">
            <a:avLst/>
          </a:prstGeom>
          <a:noFill/>
        </p:spPr>
        <p:txBody>
          <a:bodyPr wrap="square">
            <a:spAutoFit/>
          </a:bodyPr>
          <a:lstStyle/>
          <a:p>
            <a:pPr algn="ctr"/>
            <a:r>
              <a:rPr lang="fr-FR" sz="1200" dirty="0">
                <a:solidFill>
                  <a:srgbClr val="141991"/>
                </a:solidFill>
              </a:rPr>
              <a:t>Respect du référentiel commun </a:t>
            </a:r>
            <a:br>
              <a:rPr lang="fr-FR" sz="1200" dirty="0">
                <a:solidFill>
                  <a:srgbClr val="141991"/>
                </a:solidFill>
              </a:rPr>
            </a:br>
            <a:r>
              <a:rPr lang="fr-FR" sz="1200" dirty="0">
                <a:solidFill>
                  <a:srgbClr val="141991"/>
                </a:solidFill>
              </a:rPr>
              <a:t>et qualité des données – Traitement ou remontée des anomalies ou des demandes</a:t>
            </a:r>
          </a:p>
        </p:txBody>
      </p:sp>
      <p:pic>
        <p:nvPicPr>
          <p:cNvPr id="15" name="Image 14">
            <a:extLst>
              <a:ext uri="{FF2B5EF4-FFF2-40B4-BE49-F238E27FC236}">
                <a16:creationId xmlns:a16="http://schemas.microsoft.com/office/drawing/2014/main" id="{FB2FB63B-4DE2-CA18-12FF-F746102968C0}"/>
              </a:ext>
            </a:extLst>
          </p:cNvPr>
          <p:cNvPicPr>
            <a:picLocks noChangeAspect="1"/>
          </p:cNvPicPr>
          <p:nvPr/>
        </p:nvPicPr>
        <p:blipFill>
          <a:blip r:embed="rId2"/>
          <a:srcRect l="10907" t="9524" r="53719" b="50000"/>
          <a:stretch>
            <a:fillRect/>
          </a:stretch>
        </p:blipFill>
        <p:spPr>
          <a:xfrm>
            <a:off x="6508566" y="3592477"/>
            <a:ext cx="1343610" cy="1537400"/>
          </a:xfrm>
          <a:prstGeom prst="rect">
            <a:avLst/>
          </a:prstGeom>
        </p:spPr>
      </p:pic>
      <p:sp>
        <p:nvSpPr>
          <p:cNvPr id="16" name="ZoneTexte 15">
            <a:extLst>
              <a:ext uri="{FF2B5EF4-FFF2-40B4-BE49-F238E27FC236}">
                <a16:creationId xmlns:a16="http://schemas.microsoft.com/office/drawing/2014/main" id="{6D5EA6B1-E136-AEEC-F99C-A346A3268473}"/>
              </a:ext>
            </a:extLst>
          </p:cNvPr>
          <p:cNvSpPr txBox="1"/>
          <p:nvPr/>
        </p:nvSpPr>
        <p:spPr>
          <a:xfrm>
            <a:off x="5895391" y="5087498"/>
            <a:ext cx="2569960" cy="369332"/>
          </a:xfrm>
          <a:prstGeom prst="rect">
            <a:avLst/>
          </a:prstGeom>
          <a:noFill/>
        </p:spPr>
        <p:txBody>
          <a:bodyPr wrap="square">
            <a:spAutoFit/>
          </a:bodyPr>
          <a:lstStyle/>
          <a:p>
            <a:pPr algn="ctr"/>
            <a:r>
              <a:rPr lang="fr-FR" dirty="0">
                <a:solidFill>
                  <a:srgbClr val="141991"/>
                </a:solidFill>
              </a:rPr>
              <a:t>Administrateur AC</a:t>
            </a:r>
          </a:p>
        </p:txBody>
      </p:sp>
      <p:sp>
        <p:nvSpPr>
          <p:cNvPr id="17" name="ZoneTexte 16">
            <a:extLst>
              <a:ext uri="{FF2B5EF4-FFF2-40B4-BE49-F238E27FC236}">
                <a16:creationId xmlns:a16="http://schemas.microsoft.com/office/drawing/2014/main" id="{11A3AF03-71D1-CA6D-6B79-9F6B73D4A1F2}"/>
              </a:ext>
            </a:extLst>
          </p:cNvPr>
          <p:cNvSpPr txBox="1"/>
          <p:nvPr/>
        </p:nvSpPr>
        <p:spPr>
          <a:xfrm>
            <a:off x="6021976" y="5456830"/>
            <a:ext cx="2316790" cy="830997"/>
          </a:xfrm>
          <a:prstGeom prst="rect">
            <a:avLst/>
          </a:prstGeom>
          <a:noFill/>
        </p:spPr>
        <p:txBody>
          <a:bodyPr wrap="square">
            <a:spAutoFit/>
          </a:bodyPr>
          <a:lstStyle/>
          <a:p>
            <a:pPr algn="ctr"/>
            <a:r>
              <a:rPr lang="fr-FR" sz="1200" dirty="0">
                <a:solidFill>
                  <a:srgbClr val="141991"/>
                </a:solidFill>
              </a:rPr>
              <a:t>Traitement des anomalies, liens avec le fournisseur et le SNUM, traitement des demandes de paramétrage et évolutions.</a:t>
            </a:r>
          </a:p>
        </p:txBody>
      </p:sp>
    </p:spTree>
    <p:extLst>
      <p:ext uri="{BB962C8B-B14F-4D97-AF65-F5344CB8AC3E}">
        <p14:creationId xmlns:p14="http://schemas.microsoft.com/office/powerpoint/2010/main" val="2022853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2F81F7-49D1-77A3-0AC9-C730F0C6973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3A1347A-37E0-7BDE-C403-8618AB6DDAC8}"/>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2FF8C3C3-A39C-C807-8A7F-F17B7ABDF9A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8173FCA0-6D15-A79D-65A4-D71BA43C21DB}"/>
              </a:ext>
            </a:extLst>
          </p:cNvPr>
          <p:cNvSpPr txBox="1"/>
          <p:nvPr/>
        </p:nvSpPr>
        <p:spPr>
          <a:xfrm>
            <a:off x="8760542" y="914400"/>
            <a:ext cx="3352800" cy="3170099"/>
          </a:xfrm>
          <a:prstGeom prst="rect">
            <a:avLst/>
          </a:prstGeom>
          <a:noFill/>
        </p:spPr>
        <p:txBody>
          <a:bodyPr wrap="square">
            <a:spAutoFit/>
          </a:bodyPr>
          <a:lstStyle/>
          <a:p>
            <a:pPr>
              <a:defRPr sz="1600" b="1">
                <a:solidFill>
                  <a:srgbClr val="FFFFFF"/>
                </a:solidFill>
              </a:defRPr>
            </a:pPr>
            <a:r>
              <a:rPr lang="fr-FR" sz="3200" dirty="0"/>
              <a:t>Le rôle de l'administrateur fonctionnel : </a:t>
            </a:r>
          </a:p>
          <a:p>
            <a:pPr>
              <a:defRPr sz="1600" b="1">
                <a:solidFill>
                  <a:srgbClr val="FFFFFF"/>
                </a:solidFill>
              </a:defRPr>
            </a:pPr>
            <a:endParaRPr lang="fr-FR" sz="3200" b="1" dirty="0">
              <a:solidFill>
                <a:srgbClr val="FFFFFF"/>
              </a:solidFill>
            </a:endParaRPr>
          </a:p>
          <a:p>
            <a:pPr>
              <a:defRPr sz="1600" b="1">
                <a:solidFill>
                  <a:srgbClr val="FFFFFF"/>
                </a:solidFill>
              </a:defRPr>
            </a:pPr>
            <a:r>
              <a:rPr lang="fr-FR" sz="2400" b="1" dirty="0">
                <a:solidFill>
                  <a:srgbClr val="FFFFFF"/>
                </a:solidFill>
              </a:rPr>
              <a:t>Un référent local </a:t>
            </a:r>
            <a:br>
              <a:rPr lang="fr-FR" sz="2400" b="1" dirty="0">
                <a:solidFill>
                  <a:srgbClr val="FFFFFF"/>
                </a:solidFill>
              </a:rPr>
            </a:br>
            <a:r>
              <a:rPr lang="fr-FR" sz="2400" b="1" dirty="0">
                <a:solidFill>
                  <a:srgbClr val="FFFFFF"/>
                </a:solidFill>
              </a:rPr>
              <a:t>dans un environnement mutualisé</a:t>
            </a:r>
            <a:endParaRPr lang="fr-FR" sz="2400" dirty="0"/>
          </a:p>
        </p:txBody>
      </p:sp>
      <p:pic>
        <p:nvPicPr>
          <p:cNvPr id="5" name="Image 4">
            <a:extLst>
              <a:ext uri="{FF2B5EF4-FFF2-40B4-BE49-F238E27FC236}">
                <a16:creationId xmlns:a16="http://schemas.microsoft.com/office/drawing/2014/main" id="{CFA04BA0-2843-2525-E3D5-D48A756EE514}"/>
              </a:ext>
            </a:extLst>
          </p:cNvPr>
          <p:cNvPicPr>
            <a:picLocks noChangeAspect="1"/>
          </p:cNvPicPr>
          <p:nvPr/>
        </p:nvPicPr>
        <p:blipFill>
          <a:blip r:embed="rId2"/>
          <a:srcRect l="10907" t="9524" r="53719" b="50000"/>
          <a:stretch>
            <a:fillRect/>
          </a:stretch>
        </p:blipFill>
        <p:spPr>
          <a:xfrm>
            <a:off x="3948124" y="1411142"/>
            <a:ext cx="909424" cy="1040590"/>
          </a:xfrm>
          <a:prstGeom prst="rect">
            <a:avLst/>
          </a:prstGeom>
        </p:spPr>
      </p:pic>
      <p:sp>
        <p:nvSpPr>
          <p:cNvPr id="8" name="ZoneTexte 7">
            <a:extLst>
              <a:ext uri="{FF2B5EF4-FFF2-40B4-BE49-F238E27FC236}">
                <a16:creationId xmlns:a16="http://schemas.microsoft.com/office/drawing/2014/main" id="{B0F49EC6-121A-803E-319D-0FD997B813E7}"/>
              </a:ext>
            </a:extLst>
          </p:cNvPr>
          <p:cNvSpPr txBox="1"/>
          <p:nvPr/>
        </p:nvSpPr>
        <p:spPr>
          <a:xfrm>
            <a:off x="3117856" y="2459485"/>
            <a:ext cx="2569960" cy="584775"/>
          </a:xfrm>
          <a:prstGeom prst="rect">
            <a:avLst/>
          </a:prstGeom>
          <a:noFill/>
        </p:spPr>
        <p:txBody>
          <a:bodyPr wrap="square">
            <a:spAutoFit/>
          </a:bodyPr>
          <a:lstStyle/>
          <a:p>
            <a:pPr algn="ctr"/>
            <a:r>
              <a:rPr lang="fr-FR" dirty="0">
                <a:solidFill>
                  <a:srgbClr val="141991"/>
                </a:solidFill>
              </a:rPr>
              <a:t>Administrateur système</a:t>
            </a:r>
            <a:br>
              <a:rPr lang="fr-FR" dirty="0">
                <a:solidFill>
                  <a:srgbClr val="141991"/>
                </a:solidFill>
              </a:rPr>
            </a:br>
            <a:r>
              <a:rPr lang="fr-FR" sz="1400" dirty="0">
                <a:solidFill>
                  <a:srgbClr val="141991"/>
                </a:solidFill>
              </a:rPr>
              <a:t>Didier Thebault - MPDOC</a:t>
            </a:r>
            <a:endParaRPr lang="fr-FR" dirty="0">
              <a:solidFill>
                <a:srgbClr val="141991"/>
              </a:solidFill>
            </a:endParaRPr>
          </a:p>
        </p:txBody>
      </p:sp>
      <p:grpSp>
        <p:nvGrpSpPr>
          <p:cNvPr id="28" name="Groupe 27">
            <a:extLst>
              <a:ext uri="{FF2B5EF4-FFF2-40B4-BE49-F238E27FC236}">
                <a16:creationId xmlns:a16="http://schemas.microsoft.com/office/drawing/2014/main" id="{31B6812A-F1C8-817F-7078-BAB723EB7F9B}"/>
              </a:ext>
            </a:extLst>
          </p:cNvPr>
          <p:cNvGrpSpPr/>
          <p:nvPr/>
        </p:nvGrpSpPr>
        <p:grpSpPr>
          <a:xfrm>
            <a:off x="270464" y="3628059"/>
            <a:ext cx="2237666" cy="1672264"/>
            <a:chOff x="270464" y="2611022"/>
            <a:chExt cx="2237666" cy="1672264"/>
          </a:xfrm>
        </p:grpSpPr>
        <p:pic>
          <p:nvPicPr>
            <p:cNvPr id="3" name="Image 2">
              <a:extLst>
                <a:ext uri="{FF2B5EF4-FFF2-40B4-BE49-F238E27FC236}">
                  <a16:creationId xmlns:a16="http://schemas.microsoft.com/office/drawing/2014/main" id="{A8891F2B-3D1D-FB65-FFF5-71C612893712}"/>
                </a:ext>
              </a:extLst>
            </p:cNvPr>
            <p:cNvPicPr>
              <a:picLocks noChangeAspect="1"/>
            </p:cNvPicPr>
            <p:nvPr/>
          </p:nvPicPr>
          <p:blipFill>
            <a:blip r:embed="rId2"/>
            <a:srcRect l="10907" t="9524" r="53719" b="50000"/>
            <a:stretch>
              <a:fillRect/>
            </a:stretch>
          </p:blipFill>
          <p:spPr>
            <a:xfrm>
              <a:off x="1061762" y="2611022"/>
              <a:ext cx="655070" cy="749550"/>
            </a:xfrm>
            <a:prstGeom prst="rect">
              <a:avLst/>
            </a:prstGeom>
          </p:spPr>
        </p:pic>
        <p:sp>
          <p:nvSpPr>
            <p:cNvPr id="6" name="ZoneTexte 5">
              <a:extLst>
                <a:ext uri="{FF2B5EF4-FFF2-40B4-BE49-F238E27FC236}">
                  <a16:creationId xmlns:a16="http://schemas.microsoft.com/office/drawing/2014/main" id="{09858DAC-5ED0-BF87-B3CE-AAE354276C83}"/>
                </a:ext>
              </a:extLst>
            </p:cNvPr>
            <p:cNvSpPr txBox="1"/>
            <p:nvPr/>
          </p:nvSpPr>
          <p:spPr>
            <a:xfrm>
              <a:off x="270464" y="3513845"/>
              <a:ext cx="2237666" cy="769441"/>
            </a:xfrm>
            <a:prstGeom prst="rect">
              <a:avLst/>
            </a:prstGeom>
            <a:noFill/>
          </p:spPr>
          <p:txBody>
            <a:bodyPr wrap="square">
              <a:spAutoFit/>
            </a:bodyPr>
            <a:lstStyle/>
            <a:p>
              <a:pPr algn="ctr"/>
              <a:r>
                <a:rPr lang="fr-FR" sz="1600" dirty="0">
                  <a:solidFill>
                    <a:srgbClr val="141991"/>
                  </a:solidFill>
                </a:rPr>
                <a:t>Administrateur fonctionnel</a:t>
              </a:r>
              <a:br>
                <a:rPr lang="fr-FR" sz="1600" dirty="0">
                  <a:solidFill>
                    <a:srgbClr val="141991"/>
                  </a:solidFill>
                </a:rPr>
              </a:br>
              <a:r>
                <a:rPr lang="fr-FR" sz="1200" dirty="0">
                  <a:solidFill>
                    <a:srgbClr val="141991"/>
                  </a:solidFill>
                </a:rPr>
                <a:t>Sylvie Treille – AN</a:t>
              </a:r>
              <a:endParaRPr lang="fr-FR" sz="1600" dirty="0">
                <a:solidFill>
                  <a:srgbClr val="141991"/>
                </a:solidFill>
              </a:endParaRPr>
            </a:p>
          </p:txBody>
        </p:sp>
      </p:grpSp>
      <p:grpSp>
        <p:nvGrpSpPr>
          <p:cNvPr id="29" name="Groupe 28">
            <a:extLst>
              <a:ext uri="{FF2B5EF4-FFF2-40B4-BE49-F238E27FC236}">
                <a16:creationId xmlns:a16="http://schemas.microsoft.com/office/drawing/2014/main" id="{DB612F22-4276-0B2D-B7F9-1B3A48012301}"/>
              </a:ext>
            </a:extLst>
          </p:cNvPr>
          <p:cNvGrpSpPr/>
          <p:nvPr/>
        </p:nvGrpSpPr>
        <p:grpSpPr>
          <a:xfrm>
            <a:off x="2281761" y="3628059"/>
            <a:ext cx="2237666" cy="1672264"/>
            <a:chOff x="2210859" y="2611022"/>
            <a:chExt cx="2237666" cy="1672264"/>
          </a:xfrm>
        </p:grpSpPr>
        <p:pic>
          <p:nvPicPr>
            <p:cNvPr id="10" name="Image 9">
              <a:extLst>
                <a:ext uri="{FF2B5EF4-FFF2-40B4-BE49-F238E27FC236}">
                  <a16:creationId xmlns:a16="http://schemas.microsoft.com/office/drawing/2014/main" id="{D58FEB8C-9780-39BE-3D49-4391F5104F1E}"/>
                </a:ext>
              </a:extLst>
            </p:cNvPr>
            <p:cNvPicPr>
              <a:picLocks noChangeAspect="1"/>
            </p:cNvPicPr>
            <p:nvPr/>
          </p:nvPicPr>
          <p:blipFill>
            <a:blip r:embed="rId2"/>
            <a:srcRect l="10907" t="9524" r="53719" b="50000"/>
            <a:stretch>
              <a:fillRect/>
            </a:stretch>
          </p:blipFill>
          <p:spPr>
            <a:xfrm>
              <a:off x="3002157" y="2611022"/>
              <a:ext cx="655070" cy="749550"/>
            </a:xfrm>
            <a:prstGeom prst="rect">
              <a:avLst/>
            </a:prstGeom>
          </p:spPr>
        </p:pic>
        <p:sp>
          <p:nvSpPr>
            <p:cNvPr id="18" name="ZoneTexte 17">
              <a:extLst>
                <a:ext uri="{FF2B5EF4-FFF2-40B4-BE49-F238E27FC236}">
                  <a16:creationId xmlns:a16="http://schemas.microsoft.com/office/drawing/2014/main" id="{C43C48D2-ADCB-F03B-6A8C-B153F73DA1EB}"/>
                </a:ext>
              </a:extLst>
            </p:cNvPr>
            <p:cNvSpPr txBox="1"/>
            <p:nvPr/>
          </p:nvSpPr>
          <p:spPr>
            <a:xfrm>
              <a:off x="2210859" y="3513845"/>
              <a:ext cx="2237666" cy="769441"/>
            </a:xfrm>
            <a:prstGeom prst="rect">
              <a:avLst/>
            </a:prstGeom>
            <a:noFill/>
          </p:spPr>
          <p:txBody>
            <a:bodyPr wrap="square">
              <a:spAutoFit/>
            </a:bodyPr>
            <a:lstStyle/>
            <a:p>
              <a:pPr algn="ctr"/>
              <a:r>
                <a:rPr lang="fr-FR" sz="1600" dirty="0">
                  <a:solidFill>
                    <a:srgbClr val="141991"/>
                  </a:solidFill>
                </a:rPr>
                <a:t>Administrateur fonctionnel</a:t>
              </a:r>
              <a:br>
                <a:rPr lang="fr-FR" sz="1600" dirty="0">
                  <a:solidFill>
                    <a:srgbClr val="141991"/>
                  </a:solidFill>
                </a:rPr>
              </a:br>
              <a:r>
                <a:rPr lang="fr-FR" sz="1200" dirty="0">
                  <a:solidFill>
                    <a:srgbClr val="141991"/>
                  </a:solidFill>
                </a:rPr>
                <a:t>Angélique Voisin– MPP</a:t>
              </a:r>
              <a:endParaRPr lang="fr-FR" sz="1600" dirty="0">
                <a:solidFill>
                  <a:srgbClr val="141991"/>
                </a:solidFill>
              </a:endParaRPr>
            </a:p>
          </p:txBody>
        </p:sp>
      </p:grpSp>
      <p:grpSp>
        <p:nvGrpSpPr>
          <p:cNvPr id="30" name="Groupe 29">
            <a:extLst>
              <a:ext uri="{FF2B5EF4-FFF2-40B4-BE49-F238E27FC236}">
                <a16:creationId xmlns:a16="http://schemas.microsoft.com/office/drawing/2014/main" id="{12D5C0DA-B55B-4390-B00E-0980F93D6D4F}"/>
              </a:ext>
            </a:extLst>
          </p:cNvPr>
          <p:cNvGrpSpPr/>
          <p:nvPr/>
        </p:nvGrpSpPr>
        <p:grpSpPr>
          <a:xfrm>
            <a:off x="4293058" y="3628059"/>
            <a:ext cx="2237666" cy="1672264"/>
            <a:chOff x="4220050" y="2611022"/>
            <a:chExt cx="2237666" cy="1672264"/>
          </a:xfrm>
        </p:grpSpPr>
        <p:pic>
          <p:nvPicPr>
            <p:cNvPr id="19" name="Image 18">
              <a:extLst>
                <a:ext uri="{FF2B5EF4-FFF2-40B4-BE49-F238E27FC236}">
                  <a16:creationId xmlns:a16="http://schemas.microsoft.com/office/drawing/2014/main" id="{A56BCE21-2D20-65F0-0204-0595C4FFBD0B}"/>
                </a:ext>
              </a:extLst>
            </p:cNvPr>
            <p:cNvPicPr>
              <a:picLocks noChangeAspect="1"/>
            </p:cNvPicPr>
            <p:nvPr/>
          </p:nvPicPr>
          <p:blipFill>
            <a:blip r:embed="rId2"/>
            <a:srcRect l="10907" t="9524" r="53719" b="50000"/>
            <a:stretch>
              <a:fillRect/>
            </a:stretch>
          </p:blipFill>
          <p:spPr>
            <a:xfrm>
              <a:off x="5011348" y="2611022"/>
              <a:ext cx="655070" cy="749550"/>
            </a:xfrm>
            <a:prstGeom prst="rect">
              <a:avLst/>
            </a:prstGeom>
          </p:spPr>
        </p:pic>
        <p:sp>
          <p:nvSpPr>
            <p:cNvPr id="20" name="ZoneTexte 19">
              <a:extLst>
                <a:ext uri="{FF2B5EF4-FFF2-40B4-BE49-F238E27FC236}">
                  <a16:creationId xmlns:a16="http://schemas.microsoft.com/office/drawing/2014/main" id="{F26EF615-AB27-F941-A68D-25E9037873F2}"/>
                </a:ext>
              </a:extLst>
            </p:cNvPr>
            <p:cNvSpPr txBox="1"/>
            <p:nvPr/>
          </p:nvSpPr>
          <p:spPr>
            <a:xfrm>
              <a:off x="4220050" y="3513845"/>
              <a:ext cx="2237666" cy="769441"/>
            </a:xfrm>
            <a:prstGeom prst="rect">
              <a:avLst/>
            </a:prstGeom>
            <a:noFill/>
          </p:spPr>
          <p:txBody>
            <a:bodyPr wrap="square">
              <a:spAutoFit/>
            </a:bodyPr>
            <a:lstStyle/>
            <a:p>
              <a:pPr algn="ctr"/>
              <a:r>
                <a:rPr lang="fr-FR" sz="1600" dirty="0">
                  <a:solidFill>
                    <a:srgbClr val="141991"/>
                  </a:solidFill>
                </a:rPr>
                <a:t>Administrateur fonctionnel</a:t>
              </a:r>
              <a:br>
                <a:rPr lang="fr-FR" sz="1600" dirty="0">
                  <a:solidFill>
                    <a:srgbClr val="141991"/>
                  </a:solidFill>
                </a:rPr>
              </a:br>
              <a:r>
                <a:rPr lang="fr-FR" sz="1200" dirty="0">
                  <a:solidFill>
                    <a:srgbClr val="141991"/>
                  </a:solidFill>
                </a:rPr>
                <a:t>Laurence Senger– ANOM</a:t>
              </a:r>
              <a:endParaRPr lang="fr-FR" sz="1600" dirty="0">
                <a:solidFill>
                  <a:srgbClr val="141991"/>
                </a:solidFill>
              </a:endParaRPr>
            </a:p>
          </p:txBody>
        </p:sp>
      </p:grpSp>
      <p:grpSp>
        <p:nvGrpSpPr>
          <p:cNvPr id="31" name="Groupe 30">
            <a:extLst>
              <a:ext uri="{FF2B5EF4-FFF2-40B4-BE49-F238E27FC236}">
                <a16:creationId xmlns:a16="http://schemas.microsoft.com/office/drawing/2014/main" id="{B260FDB4-3C02-3E38-F190-F923EF0F6BEC}"/>
              </a:ext>
            </a:extLst>
          </p:cNvPr>
          <p:cNvGrpSpPr/>
          <p:nvPr/>
        </p:nvGrpSpPr>
        <p:grpSpPr>
          <a:xfrm>
            <a:off x="6304354" y="3628059"/>
            <a:ext cx="2237666" cy="1672264"/>
            <a:chOff x="6304354" y="2611022"/>
            <a:chExt cx="2237666" cy="1672264"/>
          </a:xfrm>
        </p:grpSpPr>
        <p:pic>
          <p:nvPicPr>
            <p:cNvPr id="26" name="Image 25">
              <a:extLst>
                <a:ext uri="{FF2B5EF4-FFF2-40B4-BE49-F238E27FC236}">
                  <a16:creationId xmlns:a16="http://schemas.microsoft.com/office/drawing/2014/main" id="{F42A49EA-1DB6-B76B-60D8-C1A2ACEDAC2D}"/>
                </a:ext>
              </a:extLst>
            </p:cNvPr>
            <p:cNvPicPr>
              <a:picLocks noChangeAspect="1"/>
            </p:cNvPicPr>
            <p:nvPr/>
          </p:nvPicPr>
          <p:blipFill>
            <a:blip r:embed="rId2"/>
            <a:srcRect l="10907" t="9524" r="53719" b="50000"/>
            <a:stretch>
              <a:fillRect/>
            </a:stretch>
          </p:blipFill>
          <p:spPr>
            <a:xfrm>
              <a:off x="7095652" y="2611022"/>
              <a:ext cx="655070" cy="749550"/>
            </a:xfrm>
            <a:prstGeom prst="rect">
              <a:avLst/>
            </a:prstGeom>
          </p:spPr>
        </p:pic>
        <p:sp>
          <p:nvSpPr>
            <p:cNvPr id="27" name="ZoneTexte 26">
              <a:extLst>
                <a:ext uri="{FF2B5EF4-FFF2-40B4-BE49-F238E27FC236}">
                  <a16:creationId xmlns:a16="http://schemas.microsoft.com/office/drawing/2014/main" id="{6C703B5E-6790-4A79-4B2B-E48949FC5FCD}"/>
                </a:ext>
              </a:extLst>
            </p:cNvPr>
            <p:cNvSpPr txBox="1"/>
            <p:nvPr/>
          </p:nvSpPr>
          <p:spPr>
            <a:xfrm>
              <a:off x="6304354" y="3513845"/>
              <a:ext cx="2237666" cy="769441"/>
            </a:xfrm>
            <a:prstGeom prst="rect">
              <a:avLst/>
            </a:prstGeom>
            <a:noFill/>
          </p:spPr>
          <p:txBody>
            <a:bodyPr wrap="square">
              <a:spAutoFit/>
            </a:bodyPr>
            <a:lstStyle/>
            <a:p>
              <a:pPr algn="ctr"/>
              <a:r>
                <a:rPr lang="fr-FR" sz="1600" dirty="0">
                  <a:solidFill>
                    <a:srgbClr val="141991"/>
                  </a:solidFill>
                </a:rPr>
                <a:t>Administrateur fonctionnel</a:t>
              </a:r>
              <a:br>
                <a:rPr lang="fr-FR" sz="1600" dirty="0">
                  <a:solidFill>
                    <a:srgbClr val="141991"/>
                  </a:solidFill>
                </a:rPr>
              </a:br>
              <a:r>
                <a:rPr lang="fr-FR" sz="1200" dirty="0">
                  <a:solidFill>
                    <a:srgbClr val="141991"/>
                  </a:solidFill>
                </a:rPr>
                <a:t>DRAC</a:t>
              </a:r>
              <a:endParaRPr lang="fr-FR" sz="1600" dirty="0">
                <a:solidFill>
                  <a:srgbClr val="141991"/>
                </a:solidFill>
              </a:endParaRPr>
            </a:p>
          </p:txBody>
        </p:sp>
      </p:grpSp>
      <p:cxnSp>
        <p:nvCxnSpPr>
          <p:cNvPr id="33" name="Connecteur : en angle 32">
            <a:extLst>
              <a:ext uri="{FF2B5EF4-FFF2-40B4-BE49-F238E27FC236}">
                <a16:creationId xmlns:a16="http://schemas.microsoft.com/office/drawing/2014/main" id="{FC12EA9C-5A9F-4262-13F2-0342903FEC19}"/>
              </a:ext>
            </a:extLst>
          </p:cNvPr>
          <p:cNvCxnSpPr>
            <a:cxnSpLocks/>
            <a:stCxn id="8" idx="2"/>
            <a:endCxn id="3" idx="0"/>
          </p:cNvCxnSpPr>
          <p:nvPr/>
        </p:nvCxnSpPr>
        <p:spPr>
          <a:xfrm rot="5400000">
            <a:off x="2604168" y="1829390"/>
            <a:ext cx="583799" cy="301353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Connecteur : en angle 35">
            <a:extLst>
              <a:ext uri="{FF2B5EF4-FFF2-40B4-BE49-F238E27FC236}">
                <a16:creationId xmlns:a16="http://schemas.microsoft.com/office/drawing/2014/main" id="{FC7B6550-A9DE-CD1A-B258-70353C33B8E1}"/>
              </a:ext>
            </a:extLst>
          </p:cNvPr>
          <p:cNvCxnSpPr>
            <a:cxnSpLocks/>
            <a:stCxn id="8" idx="2"/>
            <a:endCxn id="10" idx="0"/>
          </p:cNvCxnSpPr>
          <p:nvPr/>
        </p:nvCxnSpPr>
        <p:spPr>
          <a:xfrm rot="5400000">
            <a:off x="3609816" y="2835038"/>
            <a:ext cx="583799" cy="100224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eur : en angle 38">
            <a:extLst>
              <a:ext uri="{FF2B5EF4-FFF2-40B4-BE49-F238E27FC236}">
                <a16:creationId xmlns:a16="http://schemas.microsoft.com/office/drawing/2014/main" id="{AE1D9438-E3C3-0F86-C0A9-9BD8E962AED9}"/>
              </a:ext>
            </a:extLst>
          </p:cNvPr>
          <p:cNvCxnSpPr>
            <a:cxnSpLocks/>
            <a:stCxn id="8" idx="2"/>
            <a:endCxn id="19" idx="0"/>
          </p:cNvCxnSpPr>
          <p:nvPr/>
        </p:nvCxnSpPr>
        <p:spPr>
          <a:xfrm rot="16200000" flipH="1">
            <a:off x="4615464" y="2831631"/>
            <a:ext cx="583799" cy="100905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eur : en angle 41">
            <a:extLst>
              <a:ext uri="{FF2B5EF4-FFF2-40B4-BE49-F238E27FC236}">
                <a16:creationId xmlns:a16="http://schemas.microsoft.com/office/drawing/2014/main" id="{B5AF9286-84EF-1849-A8D8-02EBB4B7CC2E}"/>
              </a:ext>
            </a:extLst>
          </p:cNvPr>
          <p:cNvCxnSpPr>
            <a:cxnSpLocks/>
            <a:stCxn id="8" idx="2"/>
            <a:endCxn id="26" idx="0"/>
          </p:cNvCxnSpPr>
          <p:nvPr/>
        </p:nvCxnSpPr>
        <p:spPr>
          <a:xfrm rot="16200000" flipH="1">
            <a:off x="5621112" y="1825983"/>
            <a:ext cx="583799" cy="30203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45" name="Groupe 44">
            <a:extLst>
              <a:ext uri="{FF2B5EF4-FFF2-40B4-BE49-F238E27FC236}">
                <a16:creationId xmlns:a16="http://schemas.microsoft.com/office/drawing/2014/main" id="{A1652246-E20E-B605-7C64-ED97A7A93728}"/>
              </a:ext>
            </a:extLst>
          </p:cNvPr>
          <p:cNvGrpSpPr/>
          <p:nvPr/>
        </p:nvGrpSpPr>
        <p:grpSpPr>
          <a:xfrm>
            <a:off x="270464" y="1295360"/>
            <a:ext cx="8143808" cy="1426043"/>
            <a:chOff x="270464" y="2611022"/>
            <a:chExt cx="8143808" cy="1426043"/>
          </a:xfrm>
        </p:grpSpPr>
        <p:pic>
          <p:nvPicPr>
            <p:cNvPr id="46" name="Image 45">
              <a:extLst>
                <a:ext uri="{FF2B5EF4-FFF2-40B4-BE49-F238E27FC236}">
                  <a16:creationId xmlns:a16="http://schemas.microsoft.com/office/drawing/2014/main" id="{75908CD7-A8CE-67D8-4790-CEF22799F63D}"/>
                </a:ext>
              </a:extLst>
            </p:cNvPr>
            <p:cNvPicPr>
              <a:picLocks noChangeAspect="1"/>
            </p:cNvPicPr>
            <p:nvPr/>
          </p:nvPicPr>
          <p:blipFill>
            <a:blip r:embed="rId2"/>
            <a:srcRect l="10907" t="9524" r="53719" b="50000"/>
            <a:stretch>
              <a:fillRect/>
            </a:stretch>
          </p:blipFill>
          <p:spPr>
            <a:xfrm>
              <a:off x="1061762" y="2611022"/>
              <a:ext cx="655070" cy="749550"/>
            </a:xfrm>
            <a:prstGeom prst="rect">
              <a:avLst/>
            </a:prstGeom>
          </p:spPr>
        </p:pic>
        <p:sp>
          <p:nvSpPr>
            <p:cNvPr id="47" name="ZoneTexte 46">
              <a:extLst>
                <a:ext uri="{FF2B5EF4-FFF2-40B4-BE49-F238E27FC236}">
                  <a16:creationId xmlns:a16="http://schemas.microsoft.com/office/drawing/2014/main" id="{A301D7BA-2E63-3EB1-D615-4DE883F921A3}"/>
                </a:ext>
              </a:extLst>
            </p:cNvPr>
            <p:cNvSpPr txBox="1"/>
            <p:nvPr/>
          </p:nvSpPr>
          <p:spPr>
            <a:xfrm>
              <a:off x="270464" y="3513845"/>
              <a:ext cx="2237666" cy="523220"/>
            </a:xfrm>
            <a:prstGeom prst="rect">
              <a:avLst/>
            </a:prstGeom>
            <a:noFill/>
          </p:spPr>
          <p:txBody>
            <a:bodyPr wrap="square">
              <a:spAutoFit/>
            </a:bodyPr>
            <a:lstStyle/>
            <a:p>
              <a:pPr algn="ctr"/>
              <a:r>
                <a:rPr lang="fr-FR" sz="1600" dirty="0">
                  <a:solidFill>
                    <a:srgbClr val="141991"/>
                  </a:solidFill>
                </a:rPr>
                <a:t>SNUM</a:t>
              </a:r>
              <a:br>
                <a:rPr lang="fr-FR" sz="1600" dirty="0">
                  <a:solidFill>
                    <a:srgbClr val="141991"/>
                  </a:solidFill>
                </a:rPr>
              </a:br>
              <a:r>
                <a:rPr lang="fr-FR" sz="1200" dirty="0">
                  <a:solidFill>
                    <a:srgbClr val="141991"/>
                  </a:solidFill>
                </a:rPr>
                <a:t>Antoine Courtin</a:t>
              </a:r>
              <a:endParaRPr lang="fr-FR" sz="1600" dirty="0">
                <a:solidFill>
                  <a:srgbClr val="141991"/>
                </a:solidFill>
              </a:endParaRPr>
            </a:p>
          </p:txBody>
        </p:sp>
        <p:pic>
          <p:nvPicPr>
            <p:cNvPr id="48" name="Image 47">
              <a:extLst>
                <a:ext uri="{FF2B5EF4-FFF2-40B4-BE49-F238E27FC236}">
                  <a16:creationId xmlns:a16="http://schemas.microsoft.com/office/drawing/2014/main" id="{A1199AB4-A524-7AD7-7A61-94D287BA38C3}"/>
                </a:ext>
              </a:extLst>
            </p:cNvPr>
            <p:cNvPicPr>
              <a:picLocks noChangeAspect="1"/>
            </p:cNvPicPr>
            <p:nvPr/>
          </p:nvPicPr>
          <p:blipFill>
            <a:blip r:embed="rId2"/>
            <a:srcRect l="10907" t="9524" r="53719" b="50000"/>
            <a:stretch>
              <a:fillRect/>
            </a:stretch>
          </p:blipFill>
          <p:spPr>
            <a:xfrm>
              <a:off x="6967904" y="2611022"/>
              <a:ext cx="655070" cy="749550"/>
            </a:xfrm>
            <a:prstGeom prst="rect">
              <a:avLst/>
            </a:prstGeom>
          </p:spPr>
        </p:pic>
        <p:sp>
          <p:nvSpPr>
            <p:cNvPr id="49" name="ZoneTexte 48">
              <a:extLst>
                <a:ext uri="{FF2B5EF4-FFF2-40B4-BE49-F238E27FC236}">
                  <a16:creationId xmlns:a16="http://schemas.microsoft.com/office/drawing/2014/main" id="{BC6A1DAC-A0D3-0BDE-D646-5649447D1432}"/>
                </a:ext>
              </a:extLst>
            </p:cNvPr>
            <p:cNvSpPr txBox="1"/>
            <p:nvPr/>
          </p:nvSpPr>
          <p:spPr>
            <a:xfrm>
              <a:off x="6176606" y="3513845"/>
              <a:ext cx="2237666" cy="523220"/>
            </a:xfrm>
            <a:prstGeom prst="rect">
              <a:avLst/>
            </a:prstGeom>
            <a:noFill/>
          </p:spPr>
          <p:txBody>
            <a:bodyPr wrap="square">
              <a:spAutoFit/>
            </a:bodyPr>
            <a:lstStyle/>
            <a:p>
              <a:pPr algn="ctr"/>
              <a:r>
                <a:rPr lang="fr-FR" sz="1600" dirty="0">
                  <a:solidFill>
                    <a:srgbClr val="141991"/>
                  </a:solidFill>
                </a:rPr>
                <a:t>Biblibre</a:t>
              </a:r>
              <a:br>
                <a:rPr lang="fr-FR" sz="1600" dirty="0">
                  <a:solidFill>
                    <a:srgbClr val="141991"/>
                  </a:solidFill>
                </a:rPr>
              </a:br>
              <a:r>
                <a:rPr lang="fr-FR" sz="1200" dirty="0">
                  <a:solidFill>
                    <a:srgbClr val="141991"/>
                  </a:solidFill>
                </a:rPr>
                <a:t>Système Mantis</a:t>
              </a:r>
              <a:endParaRPr lang="fr-FR" sz="1600" dirty="0">
                <a:solidFill>
                  <a:srgbClr val="141991"/>
                </a:solidFill>
              </a:endParaRPr>
            </a:p>
          </p:txBody>
        </p:sp>
      </p:grpSp>
    </p:spTree>
    <p:extLst>
      <p:ext uri="{BB962C8B-B14F-4D97-AF65-F5344CB8AC3E}">
        <p14:creationId xmlns:p14="http://schemas.microsoft.com/office/powerpoint/2010/main" val="1344111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BC6FB85-099B-49B7-5789-14D6ACCD6D3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F5F119-8098-0786-B78E-454B351C7AB1}"/>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91985F4E-A452-A2FB-0A00-4B879C9DA543}"/>
              </a:ext>
            </a:extLst>
          </p:cNvPr>
          <p:cNvSpPr txBox="1"/>
          <p:nvPr/>
        </p:nvSpPr>
        <p:spPr>
          <a:xfrm>
            <a:off x="502920" y="569914"/>
            <a:ext cx="7667897" cy="2862322"/>
          </a:xfrm>
          <a:prstGeom prst="rect">
            <a:avLst/>
          </a:prstGeom>
          <a:noFill/>
        </p:spPr>
        <p:txBody>
          <a:bodyPr wrap="square">
            <a:spAutoFit/>
          </a:bodyPr>
          <a:lstStyle/>
          <a:p>
            <a:r>
              <a:rPr lang="fr-FR" b="1" dirty="0">
                <a:solidFill>
                  <a:srgbClr val="141991"/>
                </a:solidFill>
              </a:rPr>
              <a:t>Trois niveaux d’intervention</a:t>
            </a:r>
          </a:p>
          <a:p>
            <a:r>
              <a:rPr lang="fr-FR" dirty="0">
                <a:solidFill>
                  <a:srgbClr val="141991"/>
                </a:solidFill>
              </a:rPr>
              <a:t>🟢 </a:t>
            </a:r>
            <a:r>
              <a:rPr lang="fr-FR" b="1" dirty="0">
                <a:solidFill>
                  <a:srgbClr val="141991"/>
                </a:solidFill>
              </a:rPr>
              <a:t>Autonomie DRAC</a:t>
            </a:r>
            <a:br>
              <a:rPr lang="fr-FR" dirty="0">
                <a:solidFill>
                  <a:srgbClr val="141991"/>
                </a:solidFill>
              </a:rPr>
            </a:br>
            <a:r>
              <a:rPr lang="fr-FR" dirty="0">
                <a:solidFill>
                  <a:srgbClr val="141991"/>
                </a:solidFill>
              </a:rPr>
              <a:t>Gestion courante de son environnement, accompagnement des utilisateurs, contrôles et exploitation des rapports autorisés.</a:t>
            </a:r>
          </a:p>
          <a:p>
            <a:r>
              <a:rPr lang="fr-FR" dirty="0">
                <a:solidFill>
                  <a:srgbClr val="141991"/>
                </a:solidFill>
              </a:rPr>
              <a:t>🟠 </a:t>
            </a:r>
            <a:r>
              <a:rPr lang="fr-FR" b="1" dirty="0">
                <a:solidFill>
                  <a:srgbClr val="141991"/>
                </a:solidFill>
              </a:rPr>
              <a:t>Coordination nécessaire</a:t>
            </a:r>
            <a:br>
              <a:rPr lang="fr-FR" dirty="0">
                <a:solidFill>
                  <a:srgbClr val="141991"/>
                </a:solidFill>
              </a:rPr>
            </a:br>
            <a:r>
              <a:rPr lang="fr-FR" dirty="0">
                <a:solidFill>
                  <a:srgbClr val="141991"/>
                </a:solidFill>
              </a:rPr>
              <a:t>Demande d’une nouvelle localisation, d’une valeur autorisée ou d’une évolution susceptible d’intégrer le référentiel commun.</a:t>
            </a:r>
          </a:p>
          <a:p>
            <a:r>
              <a:rPr lang="fr-FR" dirty="0">
                <a:solidFill>
                  <a:srgbClr val="141991"/>
                </a:solidFill>
              </a:rPr>
              <a:t>🔴 </a:t>
            </a:r>
            <a:r>
              <a:rPr lang="fr-FR" b="1" dirty="0">
                <a:solidFill>
                  <a:srgbClr val="141991"/>
                </a:solidFill>
              </a:rPr>
              <a:t>Administration centrale</a:t>
            </a:r>
            <a:br>
              <a:rPr lang="fr-FR" dirty="0">
                <a:solidFill>
                  <a:srgbClr val="141991"/>
                </a:solidFill>
              </a:rPr>
            </a:br>
            <a:r>
              <a:rPr lang="fr-FR" dirty="0">
                <a:solidFill>
                  <a:srgbClr val="141991"/>
                </a:solidFill>
              </a:rPr>
              <a:t>Paramètres structurants de Koha, grilles MARC communes, préférences système globales et modifications susceptibles d’affecter l’ensemble des DRAC.</a:t>
            </a:r>
          </a:p>
        </p:txBody>
      </p:sp>
      <p:sp>
        <p:nvSpPr>
          <p:cNvPr id="7" name="Rectangle 6">
            <a:extLst>
              <a:ext uri="{FF2B5EF4-FFF2-40B4-BE49-F238E27FC236}">
                <a16:creationId xmlns:a16="http://schemas.microsoft.com/office/drawing/2014/main" id="{8EF2AA19-32D1-E472-AC70-5808D300E687}"/>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2D5988C1-C0AB-01D8-35D6-5BC1E950113D}"/>
              </a:ext>
            </a:extLst>
          </p:cNvPr>
          <p:cNvSpPr txBox="1"/>
          <p:nvPr/>
        </p:nvSpPr>
        <p:spPr>
          <a:xfrm>
            <a:off x="8760542" y="914400"/>
            <a:ext cx="3352800" cy="3170099"/>
          </a:xfrm>
          <a:prstGeom prst="rect">
            <a:avLst/>
          </a:prstGeom>
          <a:noFill/>
        </p:spPr>
        <p:txBody>
          <a:bodyPr wrap="square">
            <a:spAutoFit/>
          </a:bodyPr>
          <a:lstStyle/>
          <a:p>
            <a:pPr>
              <a:defRPr sz="1600" b="1">
                <a:solidFill>
                  <a:srgbClr val="FFFFFF"/>
                </a:solidFill>
              </a:defRPr>
            </a:pPr>
            <a:r>
              <a:rPr lang="fr-FR" sz="3200" dirty="0"/>
              <a:t>Le rôle de l'administrateur DRAC : </a:t>
            </a:r>
          </a:p>
          <a:p>
            <a:pPr>
              <a:defRPr sz="1600" b="1">
                <a:solidFill>
                  <a:srgbClr val="FFFFFF"/>
                </a:solidFill>
              </a:defRPr>
            </a:pPr>
            <a:endParaRPr lang="fr-FR" sz="3200" b="1" dirty="0">
              <a:solidFill>
                <a:srgbClr val="FFFFFF"/>
              </a:solidFill>
            </a:endParaRPr>
          </a:p>
          <a:p>
            <a:pPr>
              <a:defRPr sz="1600" b="1">
                <a:solidFill>
                  <a:srgbClr val="FFFFFF"/>
                </a:solidFill>
              </a:defRPr>
            </a:pPr>
            <a:r>
              <a:rPr lang="fr-FR" sz="2400" b="1" dirty="0">
                <a:solidFill>
                  <a:srgbClr val="FFFFFF"/>
                </a:solidFill>
              </a:rPr>
              <a:t>Un référent local </a:t>
            </a:r>
            <a:br>
              <a:rPr lang="fr-FR" sz="2400" b="1" dirty="0">
                <a:solidFill>
                  <a:srgbClr val="FFFFFF"/>
                </a:solidFill>
              </a:rPr>
            </a:br>
            <a:r>
              <a:rPr lang="fr-FR" sz="2400" b="1" dirty="0">
                <a:solidFill>
                  <a:srgbClr val="FFFFFF"/>
                </a:solidFill>
              </a:rPr>
              <a:t>dans un environnement mutualisé</a:t>
            </a:r>
            <a:endParaRPr lang="fr-FR" sz="2400" dirty="0"/>
          </a:p>
        </p:txBody>
      </p:sp>
      <p:sp>
        <p:nvSpPr>
          <p:cNvPr id="6" name="ZoneTexte 5">
            <a:extLst>
              <a:ext uri="{FF2B5EF4-FFF2-40B4-BE49-F238E27FC236}">
                <a16:creationId xmlns:a16="http://schemas.microsoft.com/office/drawing/2014/main" id="{06895EE0-3CBA-9AB9-EE64-A25568F3A864}"/>
              </a:ext>
            </a:extLst>
          </p:cNvPr>
          <p:cNvSpPr txBox="1"/>
          <p:nvPr/>
        </p:nvSpPr>
        <p:spPr>
          <a:xfrm>
            <a:off x="502920" y="3781731"/>
            <a:ext cx="7913292" cy="2062103"/>
          </a:xfrm>
          <a:prstGeom prst="rect">
            <a:avLst/>
          </a:prstGeom>
          <a:noFill/>
        </p:spPr>
        <p:txBody>
          <a:bodyPr wrap="square">
            <a:spAutoFit/>
          </a:bodyPr>
          <a:lstStyle/>
          <a:p>
            <a:pPr>
              <a:buNone/>
            </a:pPr>
            <a:r>
              <a:rPr lang="fr-FR" sz="1600" dirty="0">
                <a:solidFill>
                  <a:srgbClr val="141991"/>
                </a:solidFill>
              </a:rPr>
              <a:t>L’administrateur DRAC doit principalement </a:t>
            </a:r>
            <a:r>
              <a:rPr lang="fr-FR" sz="1600" b="1" dirty="0">
                <a:solidFill>
                  <a:srgbClr val="141991"/>
                </a:solidFill>
              </a:rPr>
              <a:t>accompagner, contrôler, diagnostiquer et coordonner</a:t>
            </a:r>
            <a:r>
              <a:rPr lang="fr-FR" sz="1600" dirty="0">
                <a:solidFill>
                  <a:srgbClr val="141991"/>
                </a:solidFill>
              </a:rPr>
              <a:t>. Il veille à la qualité des données de sa structure, aide les utilisateurs dans leurs pratiques, détecte les anomalies et transmet à l’administration centrale les demandes qui dépassent son périmètre.</a:t>
            </a:r>
            <a:br>
              <a:rPr lang="fr-FR" sz="1600" dirty="0">
                <a:solidFill>
                  <a:srgbClr val="141991"/>
                </a:solidFill>
              </a:rPr>
            </a:br>
            <a:endParaRPr lang="fr-FR" sz="1600" dirty="0">
              <a:solidFill>
                <a:srgbClr val="141991"/>
              </a:solidFill>
            </a:endParaRPr>
          </a:p>
          <a:p>
            <a:pPr>
              <a:buNone/>
            </a:pPr>
            <a:r>
              <a:rPr lang="fr-FR" sz="1600" b="1" dirty="0">
                <a:solidFill>
                  <a:srgbClr val="141991"/>
                </a:solidFill>
              </a:rPr>
              <a:t>À retenir :</a:t>
            </a:r>
            <a:endParaRPr lang="fr-FR" sz="1600" dirty="0">
              <a:solidFill>
                <a:srgbClr val="141991"/>
              </a:solidFill>
            </a:endParaRPr>
          </a:p>
          <a:p>
            <a:pPr>
              <a:buNone/>
            </a:pPr>
            <a:r>
              <a:rPr lang="fr-FR" sz="1600" b="1" dirty="0">
                <a:solidFill>
                  <a:srgbClr val="141991"/>
                </a:solidFill>
              </a:rPr>
              <a:t>L’administrateur DRAC n’est pas un administrateur technique de Koha : c’est le référent fonctionnel local du SIGB mutualisé.</a:t>
            </a:r>
            <a:endParaRPr lang="fr-FR" sz="1600" dirty="0">
              <a:solidFill>
                <a:srgbClr val="141991"/>
              </a:solidFill>
            </a:endParaRPr>
          </a:p>
        </p:txBody>
      </p:sp>
    </p:spTree>
    <p:extLst>
      <p:ext uri="{BB962C8B-B14F-4D97-AF65-F5344CB8AC3E}">
        <p14:creationId xmlns:p14="http://schemas.microsoft.com/office/powerpoint/2010/main" val="2692948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B7FE2A4-6F55-CD07-05C8-36C4547F2E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A65C48-9E98-B057-FF7C-4A90FD402F7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C7DA5464-A943-6E61-3E7A-2F97CD430C8F}"/>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A6E2BE5F-178A-CCBA-947A-C38F4F8DBB02}"/>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Le module Administration</a:t>
            </a:r>
            <a:endParaRPr lang="fr-FR" sz="2400" dirty="0"/>
          </a:p>
        </p:txBody>
      </p:sp>
      <p:sp>
        <p:nvSpPr>
          <p:cNvPr id="6" name="ZoneTexte 5">
            <a:extLst>
              <a:ext uri="{FF2B5EF4-FFF2-40B4-BE49-F238E27FC236}">
                <a16:creationId xmlns:a16="http://schemas.microsoft.com/office/drawing/2014/main" id="{A88FF791-5C8F-52E9-8DC6-107DAD9BADB9}"/>
              </a:ext>
            </a:extLst>
          </p:cNvPr>
          <p:cNvSpPr txBox="1"/>
          <p:nvPr/>
        </p:nvSpPr>
        <p:spPr>
          <a:xfrm>
            <a:off x="502920" y="544009"/>
            <a:ext cx="7913292" cy="5909310"/>
          </a:xfrm>
          <a:prstGeom prst="rect">
            <a:avLst/>
          </a:prstGeom>
          <a:noFill/>
        </p:spPr>
        <p:txBody>
          <a:bodyPr wrap="square">
            <a:spAutoFit/>
          </a:bodyPr>
          <a:lstStyle/>
          <a:p>
            <a:pPr>
              <a:buNone/>
            </a:pPr>
            <a:r>
              <a:rPr lang="fr-FR" dirty="0">
                <a:solidFill>
                  <a:srgbClr val="141991"/>
                </a:solidFill>
              </a:rPr>
              <a:t>Le module Administration permet de définir les règles qui déterminent </a:t>
            </a:r>
            <a:br>
              <a:rPr lang="fr-FR" dirty="0">
                <a:solidFill>
                  <a:srgbClr val="141991"/>
                </a:solidFill>
              </a:rPr>
            </a:br>
            <a:r>
              <a:rPr lang="fr-FR" dirty="0">
                <a:solidFill>
                  <a:srgbClr val="141991"/>
                </a:solidFill>
              </a:rPr>
              <a:t>le fonctionnement de Koha. </a:t>
            </a:r>
            <a:br>
              <a:rPr lang="fr-FR" dirty="0">
                <a:solidFill>
                  <a:srgbClr val="141991"/>
                </a:solidFill>
              </a:rPr>
            </a:br>
            <a:r>
              <a:rPr lang="fr-FR" dirty="0">
                <a:solidFill>
                  <a:srgbClr val="141991"/>
                </a:solidFill>
              </a:rPr>
              <a:t>Il ne sert pas à effectuer les opérations quotidiennes comme cataloguer ou prêter un document, mais à configurer l’environnement dans lequel ces opérations sont réalisées.</a:t>
            </a:r>
            <a:br>
              <a:rPr lang="fr-FR" dirty="0">
                <a:solidFill>
                  <a:srgbClr val="141991"/>
                </a:solidFill>
              </a:rPr>
            </a:br>
            <a:r>
              <a:rPr lang="fr-FR" dirty="0">
                <a:solidFill>
                  <a:srgbClr val="141991"/>
                </a:solidFill>
              </a:rPr>
              <a:t>L’administrateur fonctionnel intervient donc sur les paramètres qui structurent le travail des utilisateurs : bibliothèques et sites, catégories d’adhérents, types de documents, valeurs autorisées, règles de circulation, paramètres bibliographiques ou encore préférences système.</a:t>
            </a:r>
          </a:p>
          <a:p>
            <a:pPr>
              <a:buNone/>
            </a:pPr>
            <a:endParaRPr lang="fr-FR" dirty="0">
              <a:solidFill>
                <a:srgbClr val="141991"/>
              </a:solidFill>
            </a:endParaRPr>
          </a:p>
          <a:p>
            <a:pPr>
              <a:buNone/>
            </a:pPr>
            <a:r>
              <a:rPr lang="fr-FR" b="1" dirty="0">
                <a:solidFill>
                  <a:srgbClr val="141991"/>
                </a:solidFill>
              </a:rPr>
              <a:t>Deux niveaux : </a:t>
            </a:r>
          </a:p>
          <a:p>
            <a:pPr>
              <a:buNone/>
            </a:pPr>
            <a:r>
              <a:rPr lang="fr-FR" dirty="0">
                <a:solidFill>
                  <a:srgbClr val="141991"/>
                </a:solidFill>
              </a:rPr>
              <a:t>Préférences système = comment Koha fonctionne</a:t>
            </a:r>
          </a:p>
          <a:p>
            <a:pPr>
              <a:buNone/>
            </a:pPr>
            <a:r>
              <a:rPr lang="fr-FR" dirty="0">
                <a:solidFill>
                  <a:srgbClr val="141991"/>
                </a:solidFill>
              </a:rPr>
              <a:t>Paramètres = avec quelles règles et quelles données Koha fonctionne</a:t>
            </a:r>
          </a:p>
          <a:p>
            <a:pPr>
              <a:buNone/>
            </a:pPr>
            <a:endParaRPr lang="fr-FR" dirty="0">
              <a:solidFill>
                <a:srgbClr val="141991"/>
              </a:solidFill>
            </a:endParaRPr>
          </a:p>
          <a:p>
            <a:pPr>
              <a:buNone/>
            </a:pPr>
            <a:endParaRPr lang="fr-FR" dirty="0">
              <a:solidFill>
                <a:srgbClr val="141991"/>
              </a:solidFill>
            </a:endParaRPr>
          </a:p>
          <a:p>
            <a:pPr>
              <a:buNone/>
            </a:pPr>
            <a:r>
              <a:rPr lang="fr-FR" dirty="0">
                <a:solidFill>
                  <a:srgbClr val="C00000"/>
                </a:solidFill>
              </a:rPr>
              <a:t>Dans un catalogue mutualisé, avant de modifier un paramètre, toujours déterminer sa portée : locale ou globale.</a:t>
            </a:r>
          </a:p>
          <a:p>
            <a:pPr>
              <a:buNone/>
            </a:pPr>
            <a:endParaRPr lang="fr-FR" dirty="0">
              <a:solidFill>
                <a:srgbClr val="C00000"/>
              </a:solidFill>
            </a:endParaRPr>
          </a:p>
          <a:p>
            <a:pPr>
              <a:buNone/>
            </a:pPr>
            <a:r>
              <a:rPr lang="fr-FR" dirty="0">
                <a:solidFill>
                  <a:srgbClr val="C00000"/>
                </a:solidFill>
              </a:rPr>
              <a:t>Administrer Koha, ce n’est pas seulement savoir où se trouve un paramètre. C’est comprendre ce qu’il contrôle, mesurer les conséquences de sa modification, tester le résultat et documenter le changement</a:t>
            </a:r>
          </a:p>
        </p:txBody>
      </p:sp>
    </p:spTree>
    <p:extLst>
      <p:ext uri="{BB962C8B-B14F-4D97-AF65-F5344CB8AC3E}">
        <p14:creationId xmlns:p14="http://schemas.microsoft.com/office/powerpoint/2010/main" val="3277410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5068D51-43FE-29D5-518C-AA9C02ED42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B78814-1035-49FB-7FA7-253CC5DE256B}"/>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C0A908D3-1FCE-F3F6-B917-B3313450E7F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89A7D487-7452-EF86-1887-6A1BF4A97374}"/>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Les paramètres </a:t>
            </a:r>
            <a:br>
              <a:rPr lang="fr-FR" sz="2400" dirty="0"/>
            </a:br>
            <a:r>
              <a:rPr lang="fr-FR" sz="2400" dirty="0"/>
              <a:t>de base </a:t>
            </a:r>
          </a:p>
        </p:txBody>
      </p:sp>
      <p:sp>
        <p:nvSpPr>
          <p:cNvPr id="6" name="ZoneTexte 5">
            <a:extLst>
              <a:ext uri="{FF2B5EF4-FFF2-40B4-BE49-F238E27FC236}">
                <a16:creationId xmlns:a16="http://schemas.microsoft.com/office/drawing/2014/main" id="{8FE84F24-FB52-976F-927A-6FA585BD3478}"/>
              </a:ext>
            </a:extLst>
          </p:cNvPr>
          <p:cNvSpPr txBox="1"/>
          <p:nvPr/>
        </p:nvSpPr>
        <p:spPr>
          <a:xfrm>
            <a:off x="502920" y="544009"/>
            <a:ext cx="7913292" cy="4031873"/>
          </a:xfrm>
          <a:prstGeom prst="rect">
            <a:avLst/>
          </a:prstGeom>
          <a:noFill/>
        </p:spPr>
        <p:txBody>
          <a:bodyPr wrap="square">
            <a:spAutoFit/>
          </a:bodyPr>
          <a:lstStyle/>
          <a:p>
            <a:pPr>
              <a:buNone/>
            </a:pPr>
            <a:r>
              <a:rPr lang="fr-FR" sz="1600" dirty="0">
                <a:solidFill>
                  <a:srgbClr val="141991"/>
                </a:solidFill>
              </a:rPr>
              <a:t>Dans le cadre du catalogue Koha mutualisé, les paramètres de base sont communs à l’ensemble des structures participantes. </a:t>
            </a:r>
          </a:p>
          <a:p>
            <a:pPr>
              <a:buNone/>
            </a:pPr>
            <a:r>
              <a:rPr lang="fr-FR" sz="1600" dirty="0">
                <a:solidFill>
                  <a:srgbClr val="141991"/>
                </a:solidFill>
              </a:rPr>
              <a:t>Leur création et leur modification seront donc assurées par le responsable du SIGB, afin de garantir la cohérence du catalogue et d’éviter la multiplication de paramètres locaux non harmonisés.</a:t>
            </a:r>
          </a:p>
          <a:p>
            <a:pPr>
              <a:buNone/>
            </a:pPr>
            <a:endParaRPr lang="fr-FR" sz="1600" dirty="0">
              <a:solidFill>
                <a:srgbClr val="141991"/>
              </a:solidFill>
            </a:endParaRPr>
          </a:p>
          <a:p>
            <a:pPr>
              <a:buNone/>
            </a:pPr>
            <a:r>
              <a:rPr lang="fr-FR" sz="1600" dirty="0">
                <a:solidFill>
                  <a:srgbClr val="141991"/>
                </a:solidFill>
              </a:rPr>
              <a:t>Cela concerne notamment la </a:t>
            </a:r>
            <a:r>
              <a:rPr lang="fr-FR" sz="1600" b="1" dirty="0">
                <a:solidFill>
                  <a:srgbClr val="141991"/>
                </a:solidFill>
              </a:rPr>
              <a:t>définition des bibliothèques </a:t>
            </a:r>
            <a:r>
              <a:rPr lang="fr-FR" sz="1600" dirty="0">
                <a:solidFill>
                  <a:srgbClr val="141991"/>
                </a:solidFill>
              </a:rPr>
              <a:t>et </a:t>
            </a:r>
            <a:r>
              <a:rPr lang="fr-FR" sz="1600" b="1" dirty="0">
                <a:solidFill>
                  <a:srgbClr val="141991"/>
                </a:solidFill>
              </a:rPr>
              <a:t>groupes de bibliothèques</a:t>
            </a:r>
            <a:r>
              <a:rPr lang="fr-FR" sz="1600" dirty="0">
                <a:solidFill>
                  <a:srgbClr val="141991"/>
                </a:solidFill>
              </a:rPr>
              <a:t>, des </a:t>
            </a:r>
            <a:r>
              <a:rPr lang="fr-FR" sz="1600" b="1" dirty="0">
                <a:solidFill>
                  <a:srgbClr val="141991"/>
                </a:solidFill>
              </a:rPr>
              <a:t>types de document </a:t>
            </a:r>
            <a:r>
              <a:rPr lang="fr-FR" sz="1600" dirty="0">
                <a:solidFill>
                  <a:srgbClr val="141991"/>
                </a:solidFill>
              </a:rPr>
              <a:t>et des </a:t>
            </a:r>
            <a:r>
              <a:rPr lang="fr-FR" sz="1600" b="1" dirty="0">
                <a:solidFill>
                  <a:srgbClr val="141991"/>
                </a:solidFill>
              </a:rPr>
              <a:t>valeurs autorisées </a:t>
            </a:r>
            <a:r>
              <a:rPr lang="fr-FR" sz="1600" dirty="0">
                <a:solidFill>
                  <a:srgbClr val="141991"/>
                </a:solidFill>
              </a:rPr>
              <a:t>communes.</a:t>
            </a:r>
          </a:p>
          <a:p>
            <a:pPr>
              <a:buNone/>
            </a:pPr>
            <a:endParaRPr lang="fr-FR" sz="1600" dirty="0">
              <a:solidFill>
                <a:srgbClr val="141991"/>
              </a:solidFill>
            </a:endParaRPr>
          </a:p>
          <a:p>
            <a:pPr>
              <a:buNone/>
            </a:pPr>
            <a:r>
              <a:rPr lang="fr-FR" sz="1600" dirty="0">
                <a:solidFill>
                  <a:srgbClr val="141991"/>
                </a:solidFill>
              </a:rPr>
              <a:t>L’administrateur fonctionnel d’une DRAC pourra consulter et utiliser ces paramètres, identifier un besoin d’évolution et le transmettre au responsable du SIGB. La modification sera réalisée au niveau central après vérification de son impact sur le catalogue mutualisé.</a:t>
            </a:r>
          </a:p>
          <a:p>
            <a:pPr>
              <a:buNone/>
            </a:pPr>
            <a:endParaRPr lang="fr-FR" sz="1600" dirty="0">
              <a:solidFill>
                <a:srgbClr val="141991"/>
              </a:solidFill>
            </a:endParaRPr>
          </a:p>
          <a:p>
            <a:pPr>
              <a:buNone/>
            </a:pPr>
            <a:r>
              <a:rPr lang="fr-FR" sz="1600" b="1" dirty="0">
                <a:solidFill>
                  <a:srgbClr val="141991"/>
                </a:solidFill>
              </a:rPr>
              <a:t>À retenir : </a:t>
            </a:r>
            <a:r>
              <a:rPr lang="fr-FR" sz="1600" dirty="0">
                <a:solidFill>
                  <a:srgbClr val="141991"/>
                </a:solidFill>
              </a:rPr>
              <a:t>dans un SIGB mutualisé, un paramètre de base n’appartient pas à une seule DRAC. Toute création ou modification susceptible d’avoir un impact collectif est administrée au niveau central par le responsable du SIGB.</a:t>
            </a:r>
            <a:endParaRPr lang="fr-FR" sz="1600" dirty="0">
              <a:solidFill>
                <a:srgbClr val="C00000"/>
              </a:solidFill>
            </a:endParaRPr>
          </a:p>
        </p:txBody>
      </p:sp>
    </p:spTree>
    <p:extLst>
      <p:ext uri="{BB962C8B-B14F-4D97-AF65-F5344CB8AC3E}">
        <p14:creationId xmlns:p14="http://schemas.microsoft.com/office/powerpoint/2010/main" val="1997750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2BD19E-C891-64F9-4644-18DEF4CF548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E6D3E5-103F-0F2B-CDF0-B0504DACAD3E}"/>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63279E6E-A7C5-903F-B2C7-2FBF898A851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3BECBBE-C7BA-A448-885D-D693D7359267}"/>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Grilles des notices bibliographiques MARC</a:t>
            </a:r>
          </a:p>
        </p:txBody>
      </p:sp>
      <p:sp>
        <p:nvSpPr>
          <p:cNvPr id="6" name="ZoneTexte 5">
            <a:extLst>
              <a:ext uri="{FF2B5EF4-FFF2-40B4-BE49-F238E27FC236}">
                <a16:creationId xmlns:a16="http://schemas.microsoft.com/office/drawing/2014/main" id="{0E0D8EA6-0A73-F534-B77B-7178B34ECB08}"/>
              </a:ext>
            </a:extLst>
          </p:cNvPr>
          <p:cNvSpPr txBox="1"/>
          <p:nvPr/>
        </p:nvSpPr>
        <p:spPr>
          <a:xfrm>
            <a:off x="502920" y="544009"/>
            <a:ext cx="7913292" cy="3785652"/>
          </a:xfrm>
          <a:prstGeom prst="rect">
            <a:avLst/>
          </a:prstGeom>
          <a:noFill/>
        </p:spPr>
        <p:txBody>
          <a:bodyPr wrap="square">
            <a:spAutoFit/>
          </a:bodyPr>
          <a:lstStyle/>
          <a:p>
            <a:pPr>
              <a:buNone/>
            </a:pPr>
            <a:r>
              <a:rPr lang="fr-FR" sz="1600" dirty="0">
                <a:solidFill>
                  <a:srgbClr val="141991"/>
                </a:solidFill>
              </a:rPr>
              <a:t>Dans le cadre du catalogue Koha mutualisé, les grilles de notices bibliographiques MARC définissent la structure utilisée pour le catalogage : champs, sous-champs, répétabilité et liens avec les autorités. </a:t>
            </a:r>
          </a:p>
          <a:p>
            <a:pPr>
              <a:buNone/>
            </a:pPr>
            <a:r>
              <a:rPr lang="fr-FR" sz="1600" dirty="0">
                <a:solidFill>
                  <a:srgbClr val="141991"/>
                </a:solidFill>
              </a:rPr>
              <a:t>Elles déterminent également l’interface de saisie proposée aux catalogueurs.</a:t>
            </a:r>
          </a:p>
          <a:p>
            <a:pPr>
              <a:buNone/>
            </a:pPr>
            <a:endParaRPr lang="fr-FR" sz="1600" dirty="0">
              <a:solidFill>
                <a:srgbClr val="141991"/>
              </a:solidFill>
            </a:endParaRPr>
          </a:p>
          <a:p>
            <a:pPr>
              <a:buNone/>
            </a:pPr>
            <a:r>
              <a:rPr lang="fr-FR" sz="1600" dirty="0">
                <a:solidFill>
                  <a:srgbClr val="141991"/>
                </a:solidFill>
              </a:rPr>
              <a:t>Afin de garantir des pratiques de catalogage homogènes entre les DRAC, la création et la modification de ces grilles seront assurées par le responsable du SIGB.</a:t>
            </a:r>
          </a:p>
          <a:p>
            <a:pPr>
              <a:buNone/>
            </a:pPr>
            <a:endParaRPr lang="fr-FR" sz="1600" dirty="0">
              <a:solidFill>
                <a:srgbClr val="141991"/>
              </a:solidFill>
            </a:endParaRPr>
          </a:p>
          <a:p>
            <a:pPr>
              <a:buNone/>
            </a:pPr>
            <a:r>
              <a:rPr lang="fr-FR" sz="1600" dirty="0">
                <a:solidFill>
                  <a:srgbClr val="141991"/>
                </a:solidFill>
              </a:rPr>
              <a:t>L’administrateur fonctionnel d’une DRAC pourra signaler un besoin d’évolution ou proposer une modification, mais celle-ci devra être étudiée au niveau central avant son intégration dans les grilles communes.</a:t>
            </a:r>
          </a:p>
          <a:p>
            <a:pPr>
              <a:buNone/>
            </a:pPr>
            <a:endParaRPr lang="fr-FR" sz="1600" dirty="0">
              <a:solidFill>
                <a:srgbClr val="141991"/>
              </a:solidFill>
            </a:endParaRPr>
          </a:p>
          <a:p>
            <a:pPr>
              <a:buNone/>
            </a:pPr>
            <a:r>
              <a:rPr lang="fr-FR" sz="1600" b="1" dirty="0">
                <a:solidFill>
                  <a:srgbClr val="141991"/>
                </a:solidFill>
              </a:rPr>
              <a:t>À retenir : </a:t>
            </a:r>
            <a:r>
              <a:rPr lang="fr-FR" sz="1600" dirty="0">
                <a:solidFill>
                  <a:srgbClr val="141991"/>
                </a:solidFill>
              </a:rPr>
              <a:t>les grilles MARC constituent un élément structurant du référentiel documentaire commun. Leur administration centralisée garantit la cohérence des notices produites dans le catalogue mutualisé.</a:t>
            </a:r>
            <a:endParaRPr lang="fr-FR" sz="1600" dirty="0">
              <a:solidFill>
                <a:srgbClr val="C00000"/>
              </a:solidFill>
            </a:endParaRPr>
          </a:p>
        </p:txBody>
      </p:sp>
    </p:spTree>
    <p:extLst>
      <p:ext uri="{BB962C8B-B14F-4D97-AF65-F5344CB8AC3E}">
        <p14:creationId xmlns:p14="http://schemas.microsoft.com/office/powerpoint/2010/main" val="2411973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CA41E8-77E8-0E36-2558-9570F31F447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D8DA3E-1E9C-89CE-5C8B-95E35268B047}"/>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A11736C-78A3-820E-0851-014844A8EC5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E41ECFBC-BC83-E315-745E-488C913B045F}"/>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Bibliothèques</a:t>
            </a:r>
          </a:p>
        </p:txBody>
      </p:sp>
      <p:sp>
        <p:nvSpPr>
          <p:cNvPr id="6" name="ZoneTexte 5">
            <a:extLst>
              <a:ext uri="{FF2B5EF4-FFF2-40B4-BE49-F238E27FC236}">
                <a16:creationId xmlns:a16="http://schemas.microsoft.com/office/drawing/2014/main" id="{BB8AE6BC-D2DA-9926-925A-E9233E78613F}"/>
              </a:ext>
            </a:extLst>
          </p:cNvPr>
          <p:cNvSpPr txBox="1"/>
          <p:nvPr/>
        </p:nvSpPr>
        <p:spPr>
          <a:xfrm>
            <a:off x="502920" y="544009"/>
            <a:ext cx="7913292" cy="1815882"/>
          </a:xfrm>
          <a:prstGeom prst="rect">
            <a:avLst/>
          </a:prstGeom>
          <a:noFill/>
        </p:spPr>
        <p:txBody>
          <a:bodyPr wrap="square">
            <a:spAutoFit/>
          </a:bodyPr>
          <a:lstStyle/>
          <a:p>
            <a:pPr>
              <a:buNone/>
            </a:pPr>
            <a:r>
              <a:rPr lang="fr-FR" sz="1600" dirty="0">
                <a:solidFill>
                  <a:srgbClr val="141991"/>
                </a:solidFill>
              </a:rPr>
              <a:t>Dans Koha, une bibliothèque représente un établissement, un site ou une unité documentaire du réseau. Elle constitue un élément structurant du SIGB : les adhérents, les exemplaires, les règles de circulation et de nombreux paramètres peuvent être rattachés à une bibliothèque.</a:t>
            </a:r>
          </a:p>
          <a:p>
            <a:pPr>
              <a:buNone/>
            </a:pPr>
            <a:endParaRPr lang="fr-FR" sz="1600" dirty="0">
              <a:solidFill>
                <a:srgbClr val="141991"/>
              </a:solidFill>
            </a:endParaRPr>
          </a:p>
          <a:p>
            <a:pPr>
              <a:buNone/>
            </a:pPr>
            <a:r>
              <a:rPr lang="fr-FR" sz="1600" b="1" dirty="0">
                <a:solidFill>
                  <a:srgbClr val="141991"/>
                </a:solidFill>
              </a:rPr>
              <a:t>À retenir </a:t>
            </a:r>
            <a:r>
              <a:rPr lang="fr-FR" sz="1600" dirty="0">
                <a:solidFill>
                  <a:srgbClr val="141991"/>
                </a:solidFill>
              </a:rPr>
              <a:t>: la bibliothèque est l’un des principaux niveaux d’organisation du Koha mutualisé. Les notices bibliographiques sont partagées, tandis que les exemplaires et les utilisateurs peuvent être rattachés aux différentes structures du réseau.</a:t>
            </a:r>
          </a:p>
        </p:txBody>
      </p:sp>
      <p:pic>
        <p:nvPicPr>
          <p:cNvPr id="4" name="Image 3">
            <a:extLst>
              <a:ext uri="{FF2B5EF4-FFF2-40B4-BE49-F238E27FC236}">
                <a16:creationId xmlns:a16="http://schemas.microsoft.com/office/drawing/2014/main" id="{28BCB9DB-2105-52E5-022F-1B30230C5C2E}"/>
              </a:ext>
            </a:extLst>
          </p:cNvPr>
          <p:cNvPicPr>
            <a:picLocks noChangeAspect="1"/>
          </p:cNvPicPr>
          <p:nvPr/>
        </p:nvPicPr>
        <p:blipFill>
          <a:blip r:embed="rId2"/>
          <a:stretch>
            <a:fillRect/>
          </a:stretch>
        </p:blipFill>
        <p:spPr>
          <a:xfrm>
            <a:off x="502920" y="3156595"/>
            <a:ext cx="9293524" cy="3398202"/>
          </a:xfrm>
          <a:prstGeom prst="rect">
            <a:avLst/>
          </a:prstGeom>
        </p:spPr>
      </p:pic>
    </p:spTree>
    <p:extLst>
      <p:ext uri="{BB962C8B-B14F-4D97-AF65-F5344CB8AC3E}">
        <p14:creationId xmlns:p14="http://schemas.microsoft.com/office/powerpoint/2010/main" val="269447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7DF4D7-E05F-C23C-9436-8F50866B2F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095E35-374D-33E2-48AE-AB50151E2347}"/>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0F71BAB-3867-1346-5038-4F5B4947A940}"/>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D3A68469-F84F-D468-E0D4-21303DB4B000}"/>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Bibliothèques</a:t>
            </a:r>
          </a:p>
        </p:txBody>
      </p:sp>
      <p:sp>
        <p:nvSpPr>
          <p:cNvPr id="6" name="ZoneTexte 5">
            <a:extLst>
              <a:ext uri="{FF2B5EF4-FFF2-40B4-BE49-F238E27FC236}">
                <a16:creationId xmlns:a16="http://schemas.microsoft.com/office/drawing/2014/main" id="{9C9BF9B0-1FDA-1FBD-963E-023DF050D478}"/>
              </a:ext>
            </a:extLst>
          </p:cNvPr>
          <p:cNvSpPr txBox="1"/>
          <p:nvPr/>
        </p:nvSpPr>
        <p:spPr>
          <a:xfrm>
            <a:off x="502920" y="544009"/>
            <a:ext cx="7913292" cy="2062103"/>
          </a:xfrm>
          <a:prstGeom prst="rect">
            <a:avLst/>
          </a:prstGeom>
          <a:noFill/>
        </p:spPr>
        <p:txBody>
          <a:bodyPr wrap="square">
            <a:spAutoFit/>
          </a:bodyPr>
          <a:lstStyle/>
          <a:p>
            <a:pPr>
              <a:buNone/>
            </a:pPr>
            <a:r>
              <a:rPr lang="fr-FR" sz="1600" dirty="0">
                <a:solidFill>
                  <a:srgbClr val="141991"/>
                </a:solidFill>
              </a:rPr>
              <a:t>Ajout d’une nouvelle bibliothèque : </a:t>
            </a:r>
            <a:br>
              <a:rPr lang="fr-FR" sz="1600" dirty="0">
                <a:solidFill>
                  <a:srgbClr val="141991"/>
                </a:solidFill>
              </a:rPr>
            </a:br>
            <a:br>
              <a:rPr lang="fr-FR" sz="1600" dirty="0">
                <a:solidFill>
                  <a:srgbClr val="141991"/>
                </a:solidFill>
              </a:rPr>
            </a:br>
            <a:r>
              <a:rPr lang="fr-FR" sz="1600" b="1" dirty="0">
                <a:solidFill>
                  <a:srgbClr val="141991"/>
                </a:solidFill>
              </a:rPr>
              <a:t>Code de la bibliothèque </a:t>
            </a:r>
            <a:r>
              <a:rPr lang="fr-FR" sz="1600" dirty="0">
                <a:solidFill>
                  <a:srgbClr val="141991"/>
                </a:solidFill>
              </a:rPr>
              <a:t>(obligatoire) : le code ne devrait contenir ni espace ni trait d’union et devrait avoir 10 caractères ou moins. Ce code sera utilisé comme un identifiant unique dans la base de données.</a:t>
            </a:r>
          </a:p>
          <a:p>
            <a:pPr>
              <a:buNone/>
            </a:pPr>
            <a:r>
              <a:rPr lang="fr-FR" sz="1600" b="1" dirty="0">
                <a:solidFill>
                  <a:srgbClr val="141991"/>
                </a:solidFill>
              </a:rPr>
              <a:t>Nom</a:t>
            </a:r>
            <a:r>
              <a:rPr lang="fr-FR" sz="1600" dirty="0">
                <a:solidFill>
                  <a:srgbClr val="141991"/>
                </a:solidFill>
              </a:rPr>
              <a:t> (obligatoire) : le nom sera visible à l’OPAC et dans l’interface professionnelle partout où le nom de la bibliothèque s’affiche. Celui-ci devrait être un nom qui a un sens pour vos utilisateurs et votre personnel.</a:t>
            </a:r>
          </a:p>
        </p:txBody>
      </p:sp>
      <p:pic>
        <p:nvPicPr>
          <p:cNvPr id="5" name="Image 4">
            <a:extLst>
              <a:ext uri="{FF2B5EF4-FFF2-40B4-BE49-F238E27FC236}">
                <a16:creationId xmlns:a16="http://schemas.microsoft.com/office/drawing/2014/main" id="{ADDDC5A6-DA1C-14A9-AC12-041F27EE4C16}"/>
              </a:ext>
            </a:extLst>
          </p:cNvPr>
          <p:cNvPicPr>
            <a:picLocks noChangeAspect="1"/>
          </p:cNvPicPr>
          <p:nvPr/>
        </p:nvPicPr>
        <p:blipFill>
          <a:blip r:embed="rId2"/>
          <a:stretch>
            <a:fillRect/>
          </a:stretch>
        </p:blipFill>
        <p:spPr>
          <a:xfrm>
            <a:off x="960118" y="2897167"/>
            <a:ext cx="6998896" cy="3841372"/>
          </a:xfrm>
          <a:prstGeom prst="rect">
            <a:avLst/>
          </a:prstGeom>
        </p:spPr>
      </p:pic>
    </p:spTree>
    <p:extLst>
      <p:ext uri="{BB962C8B-B14F-4D97-AF65-F5344CB8AC3E}">
        <p14:creationId xmlns:p14="http://schemas.microsoft.com/office/powerpoint/2010/main" val="942689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142F439-0184-C08A-BC4D-213AADFE88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0DC446-2578-C5E5-D8B9-45689AA9733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DB2DEFEB-D070-54F2-373F-66F2883C8AE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9EFD1058-7F8A-0DBA-4504-7CA7A8BA8670}"/>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Types de document</a:t>
            </a:r>
          </a:p>
        </p:txBody>
      </p:sp>
      <p:sp>
        <p:nvSpPr>
          <p:cNvPr id="6" name="ZoneTexte 5">
            <a:extLst>
              <a:ext uri="{FF2B5EF4-FFF2-40B4-BE49-F238E27FC236}">
                <a16:creationId xmlns:a16="http://schemas.microsoft.com/office/drawing/2014/main" id="{CDE21F2C-1CE4-662A-F855-9BFEA5247528}"/>
              </a:ext>
            </a:extLst>
          </p:cNvPr>
          <p:cNvSpPr txBox="1"/>
          <p:nvPr/>
        </p:nvSpPr>
        <p:spPr>
          <a:xfrm>
            <a:off x="502920" y="544009"/>
            <a:ext cx="7913292" cy="2554545"/>
          </a:xfrm>
          <a:prstGeom prst="rect">
            <a:avLst/>
          </a:prstGeom>
          <a:noFill/>
        </p:spPr>
        <p:txBody>
          <a:bodyPr wrap="square">
            <a:spAutoFit/>
          </a:bodyPr>
          <a:lstStyle/>
          <a:p>
            <a:pPr>
              <a:buNone/>
            </a:pPr>
            <a:r>
              <a:rPr lang="fr-FR" sz="1600" dirty="0">
                <a:solidFill>
                  <a:srgbClr val="141991"/>
                </a:solidFill>
              </a:rPr>
              <a:t>Dans notre Koha, les types de documents sont principalement utilisés pour déterminer les conditions de mise à disposition des exemplaires. Ils permettent notamment de distinguer les documents disponibles au prêt de ceux qui sont exclus du prêt.</a:t>
            </a:r>
          </a:p>
          <a:p>
            <a:pPr>
              <a:buNone/>
            </a:pPr>
            <a:endParaRPr lang="fr-FR" sz="1600" dirty="0">
              <a:solidFill>
                <a:srgbClr val="141991"/>
              </a:solidFill>
            </a:endParaRPr>
          </a:p>
          <a:p>
            <a:pPr>
              <a:buNone/>
            </a:pPr>
            <a:r>
              <a:rPr lang="fr-FR" sz="1600" dirty="0">
                <a:solidFill>
                  <a:srgbClr val="141991"/>
                </a:solidFill>
              </a:rPr>
              <a:t>Dans le </a:t>
            </a:r>
            <a:r>
              <a:rPr lang="fr-FR" sz="1600" b="1" dirty="0">
                <a:solidFill>
                  <a:srgbClr val="141991"/>
                </a:solidFill>
              </a:rPr>
              <a:t>Koha mutualisé</a:t>
            </a:r>
            <a:r>
              <a:rPr lang="fr-FR" sz="1600" dirty="0">
                <a:solidFill>
                  <a:srgbClr val="141991"/>
                </a:solidFill>
              </a:rPr>
              <a:t>, les types de documents doivent être définis de manière cohérente pour l’ensemble des DRAC. Il faut donc éviter de créer plusieurs types différents pour désigner une même catégorie de ressources. La création, la modification ou la suppression des types de documents sera assurée par le responsable du SIGB. L’administrateur fonctionnel DRAC pourra identifier un besoin particulier et demander une évolution du référentiel commun.</a:t>
            </a:r>
          </a:p>
        </p:txBody>
      </p:sp>
      <p:pic>
        <p:nvPicPr>
          <p:cNvPr id="4" name="Image 3">
            <a:extLst>
              <a:ext uri="{FF2B5EF4-FFF2-40B4-BE49-F238E27FC236}">
                <a16:creationId xmlns:a16="http://schemas.microsoft.com/office/drawing/2014/main" id="{8FC0F189-B7DB-23B8-7050-E375065897D1}"/>
              </a:ext>
            </a:extLst>
          </p:cNvPr>
          <p:cNvPicPr>
            <a:picLocks noChangeAspect="1"/>
          </p:cNvPicPr>
          <p:nvPr/>
        </p:nvPicPr>
        <p:blipFill>
          <a:blip r:embed="rId2"/>
          <a:stretch>
            <a:fillRect/>
          </a:stretch>
        </p:blipFill>
        <p:spPr>
          <a:xfrm>
            <a:off x="690113" y="4004609"/>
            <a:ext cx="8482642" cy="2541576"/>
          </a:xfrm>
          <a:prstGeom prst="rect">
            <a:avLst/>
          </a:prstGeom>
        </p:spPr>
      </p:pic>
    </p:spTree>
    <p:extLst>
      <p:ext uri="{BB962C8B-B14F-4D97-AF65-F5344CB8AC3E}">
        <p14:creationId xmlns:p14="http://schemas.microsoft.com/office/powerpoint/2010/main" val="3910488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677173-39A2-8571-6E12-FED7F90AE47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29E446-9E56-3FC6-5AAA-AAFF49D8CF2A}"/>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173DCE49-A55A-FF17-41C1-702B141AB4E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0696F4C9-50EB-1484-7BDA-9342B9E1D5C3}"/>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Valeurs autorisées</a:t>
            </a:r>
          </a:p>
        </p:txBody>
      </p:sp>
      <p:sp>
        <p:nvSpPr>
          <p:cNvPr id="6" name="ZoneTexte 5">
            <a:extLst>
              <a:ext uri="{FF2B5EF4-FFF2-40B4-BE49-F238E27FC236}">
                <a16:creationId xmlns:a16="http://schemas.microsoft.com/office/drawing/2014/main" id="{94C4DF7D-63A7-EA25-3840-DA0A399F8365}"/>
              </a:ext>
            </a:extLst>
          </p:cNvPr>
          <p:cNvSpPr txBox="1"/>
          <p:nvPr/>
        </p:nvSpPr>
        <p:spPr>
          <a:xfrm>
            <a:off x="502920" y="544009"/>
            <a:ext cx="7913292" cy="1077218"/>
          </a:xfrm>
          <a:prstGeom prst="rect">
            <a:avLst/>
          </a:prstGeom>
          <a:noFill/>
        </p:spPr>
        <p:txBody>
          <a:bodyPr wrap="square">
            <a:spAutoFit/>
          </a:bodyPr>
          <a:lstStyle/>
          <a:p>
            <a:pPr>
              <a:buNone/>
            </a:pPr>
            <a:r>
              <a:rPr lang="fr-FR" sz="1600" dirty="0">
                <a:solidFill>
                  <a:srgbClr val="141991"/>
                </a:solidFill>
              </a:rPr>
              <a:t>Dans Koha, les valeurs autorisées permettent de proposer aux utilisateurs une liste prédéfinie de valeurs plutôt qu’une saisie libre. Elles sont notamment utilisées dans certains champs ou sous-champs des notices et des exemplaires. Le support de référence cite par exemple les langues, les pays et les codes internes</a:t>
            </a:r>
          </a:p>
        </p:txBody>
      </p:sp>
      <p:pic>
        <p:nvPicPr>
          <p:cNvPr id="4" name="Image 3">
            <a:extLst>
              <a:ext uri="{FF2B5EF4-FFF2-40B4-BE49-F238E27FC236}">
                <a16:creationId xmlns:a16="http://schemas.microsoft.com/office/drawing/2014/main" id="{655BBD3B-83DC-1B53-A945-9A1B922FD2BA}"/>
              </a:ext>
            </a:extLst>
          </p:cNvPr>
          <p:cNvPicPr>
            <a:picLocks noChangeAspect="1"/>
          </p:cNvPicPr>
          <p:nvPr/>
        </p:nvPicPr>
        <p:blipFill>
          <a:blip r:embed="rId2"/>
          <a:stretch>
            <a:fillRect/>
          </a:stretch>
        </p:blipFill>
        <p:spPr>
          <a:xfrm>
            <a:off x="284322" y="2193005"/>
            <a:ext cx="8281148" cy="4120986"/>
          </a:xfrm>
          <a:prstGeom prst="rect">
            <a:avLst/>
          </a:prstGeom>
        </p:spPr>
      </p:pic>
    </p:spTree>
    <p:extLst>
      <p:ext uri="{BB962C8B-B14F-4D97-AF65-F5344CB8AC3E}">
        <p14:creationId xmlns:p14="http://schemas.microsoft.com/office/powerpoint/2010/main" val="1946290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1946F1-D059-9694-A39C-63D7153A631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F94E5F9-2A2D-2BD0-4EC1-1F63586B334A}"/>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6F73419E-B68D-55BC-EF52-20FF37DD728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0C98360F-5C75-841B-41BD-D89F751B3131}"/>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Rapports </a:t>
            </a:r>
          </a:p>
        </p:txBody>
      </p:sp>
      <p:sp>
        <p:nvSpPr>
          <p:cNvPr id="6" name="ZoneTexte 5">
            <a:extLst>
              <a:ext uri="{FF2B5EF4-FFF2-40B4-BE49-F238E27FC236}">
                <a16:creationId xmlns:a16="http://schemas.microsoft.com/office/drawing/2014/main" id="{BE37063C-E683-2AC0-7D8D-BA29C625B3F7}"/>
              </a:ext>
            </a:extLst>
          </p:cNvPr>
          <p:cNvSpPr txBox="1"/>
          <p:nvPr/>
        </p:nvSpPr>
        <p:spPr>
          <a:xfrm>
            <a:off x="502920" y="544009"/>
            <a:ext cx="7913292" cy="1323439"/>
          </a:xfrm>
          <a:prstGeom prst="rect">
            <a:avLst/>
          </a:prstGeom>
          <a:noFill/>
        </p:spPr>
        <p:txBody>
          <a:bodyPr wrap="square">
            <a:spAutoFit/>
          </a:bodyPr>
          <a:lstStyle/>
          <a:p>
            <a:pPr>
              <a:buNone/>
            </a:pPr>
            <a:r>
              <a:rPr lang="fr-FR" sz="1600" dirty="0">
                <a:solidFill>
                  <a:srgbClr val="141991"/>
                </a:solidFill>
              </a:rPr>
              <a:t>La fonctionnalité Rapports permet d’interroger les données enregistrées dans Koha afin de produire des listes, des contrôles et des statistiques. Les rapports peuvent notamment porter sur les collections, les exemplaires, les adhérents, les prêts ou encore la qualité des données bibliographiques. Le support de référence distingue les rapports assistés et les rapports construits à partir de requêtes SQL.</a:t>
            </a:r>
          </a:p>
        </p:txBody>
      </p:sp>
      <p:pic>
        <p:nvPicPr>
          <p:cNvPr id="5" name="Image 4">
            <a:extLst>
              <a:ext uri="{FF2B5EF4-FFF2-40B4-BE49-F238E27FC236}">
                <a16:creationId xmlns:a16="http://schemas.microsoft.com/office/drawing/2014/main" id="{37878C00-DB16-6C57-50D0-BC2DFAC3177F}"/>
              </a:ext>
            </a:extLst>
          </p:cNvPr>
          <p:cNvPicPr>
            <a:picLocks noChangeAspect="1"/>
          </p:cNvPicPr>
          <p:nvPr/>
        </p:nvPicPr>
        <p:blipFill>
          <a:blip r:embed="rId2"/>
          <a:stretch>
            <a:fillRect/>
          </a:stretch>
        </p:blipFill>
        <p:spPr>
          <a:xfrm>
            <a:off x="526319" y="3295291"/>
            <a:ext cx="8931000" cy="3390524"/>
          </a:xfrm>
          <a:prstGeom prst="rect">
            <a:avLst/>
          </a:prstGeom>
        </p:spPr>
      </p:pic>
    </p:spTree>
    <p:extLst>
      <p:ext uri="{BB962C8B-B14F-4D97-AF65-F5344CB8AC3E}">
        <p14:creationId xmlns:p14="http://schemas.microsoft.com/office/powerpoint/2010/main" val="1096362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81DE221-14F5-36D2-0CC6-88B17CC118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228543B-A812-FC32-BFD6-0121E21234D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588FE8D-3E2E-9917-B932-8B7991AB857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66BAD630-CC87-FC76-DF66-8D0C15AB23DA}"/>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Créer un nouveau rapport avec l’Assistant de rapports guidés</a:t>
            </a:r>
          </a:p>
          <a:p>
            <a:pPr>
              <a:defRPr sz="1600" b="1">
                <a:solidFill>
                  <a:srgbClr val="FFFFFF"/>
                </a:solidFill>
              </a:defRPr>
            </a:pPr>
            <a:br>
              <a:rPr lang="fr-FR" sz="2400" dirty="0"/>
            </a:br>
            <a:endParaRPr lang="fr-FR" sz="2400" dirty="0"/>
          </a:p>
        </p:txBody>
      </p:sp>
      <p:pic>
        <p:nvPicPr>
          <p:cNvPr id="4" name="Image 3">
            <a:extLst>
              <a:ext uri="{FF2B5EF4-FFF2-40B4-BE49-F238E27FC236}">
                <a16:creationId xmlns:a16="http://schemas.microsoft.com/office/drawing/2014/main" id="{77110A8E-7F08-A2B4-E67C-C6C5B2AFC1CB}"/>
              </a:ext>
            </a:extLst>
          </p:cNvPr>
          <p:cNvPicPr>
            <a:picLocks noChangeAspect="1"/>
          </p:cNvPicPr>
          <p:nvPr/>
        </p:nvPicPr>
        <p:blipFill>
          <a:blip r:embed="rId2"/>
          <a:stretch>
            <a:fillRect/>
          </a:stretch>
        </p:blipFill>
        <p:spPr>
          <a:xfrm>
            <a:off x="436477" y="258553"/>
            <a:ext cx="7809780" cy="1717134"/>
          </a:xfrm>
          <a:prstGeom prst="rect">
            <a:avLst/>
          </a:prstGeom>
        </p:spPr>
      </p:pic>
      <p:pic>
        <p:nvPicPr>
          <p:cNvPr id="10" name="Image 9">
            <a:extLst>
              <a:ext uri="{FF2B5EF4-FFF2-40B4-BE49-F238E27FC236}">
                <a16:creationId xmlns:a16="http://schemas.microsoft.com/office/drawing/2014/main" id="{1195CDFA-2DCC-D82B-86B8-E36A75B9299D}"/>
              </a:ext>
            </a:extLst>
          </p:cNvPr>
          <p:cNvPicPr>
            <a:picLocks noChangeAspect="1"/>
          </p:cNvPicPr>
          <p:nvPr/>
        </p:nvPicPr>
        <p:blipFill>
          <a:blip r:embed="rId3"/>
          <a:srcRect t="20395"/>
          <a:stretch>
            <a:fillRect/>
          </a:stretch>
        </p:blipFill>
        <p:spPr>
          <a:xfrm>
            <a:off x="436477" y="2148574"/>
            <a:ext cx="5825706" cy="1280426"/>
          </a:xfrm>
          <a:prstGeom prst="rect">
            <a:avLst/>
          </a:prstGeom>
        </p:spPr>
      </p:pic>
      <p:pic>
        <p:nvPicPr>
          <p:cNvPr id="12" name="Image 11">
            <a:extLst>
              <a:ext uri="{FF2B5EF4-FFF2-40B4-BE49-F238E27FC236}">
                <a16:creationId xmlns:a16="http://schemas.microsoft.com/office/drawing/2014/main" id="{781F7841-33F7-64DC-C402-316971F7E418}"/>
              </a:ext>
            </a:extLst>
          </p:cNvPr>
          <p:cNvPicPr>
            <a:picLocks noChangeAspect="1"/>
          </p:cNvPicPr>
          <p:nvPr/>
        </p:nvPicPr>
        <p:blipFill>
          <a:blip r:embed="rId4"/>
          <a:stretch>
            <a:fillRect/>
          </a:stretch>
        </p:blipFill>
        <p:spPr>
          <a:xfrm>
            <a:off x="445100" y="3601887"/>
            <a:ext cx="7006532" cy="3126826"/>
          </a:xfrm>
          <a:prstGeom prst="rect">
            <a:avLst/>
          </a:prstGeom>
        </p:spPr>
      </p:pic>
    </p:spTree>
    <p:extLst>
      <p:ext uri="{BB962C8B-B14F-4D97-AF65-F5344CB8AC3E}">
        <p14:creationId xmlns:p14="http://schemas.microsoft.com/office/powerpoint/2010/main" val="2147135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C6C3FD-7CCA-4EBD-8A06-17B45D74D6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5CB4A0-B862-74CA-1266-CF3DEE6E9E6E}"/>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F1EE0B8-CBC1-2467-1438-CBAA605514AB}"/>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AE6FBAB4-4819-EFD0-F7A8-1BE5FC5D6D92}"/>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Créer un nouveau rapport avec l’Assistant de rapports guidés</a:t>
            </a:r>
          </a:p>
          <a:p>
            <a:pPr>
              <a:defRPr sz="1600" b="1">
                <a:solidFill>
                  <a:srgbClr val="FFFFFF"/>
                </a:solidFill>
              </a:defRPr>
            </a:pPr>
            <a:br>
              <a:rPr lang="fr-FR" sz="2400" dirty="0"/>
            </a:br>
            <a:endParaRPr lang="fr-FR" sz="2400" dirty="0"/>
          </a:p>
        </p:txBody>
      </p:sp>
      <p:pic>
        <p:nvPicPr>
          <p:cNvPr id="5" name="Image 4">
            <a:extLst>
              <a:ext uri="{FF2B5EF4-FFF2-40B4-BE49-F238E27FC236}">
                <a16:creationId xmlns:a16="http://schemas.microsoft.com/office/drawing/2014/main" id="{197C3172-BF16-CCFF-4E4B-328AF03E541B}"/>
              </a:ext>
            </a:extLst>
          </p:cNvPr>
          <p:cNvPicPr>
            <a:picLocks noChangeAspect="1"/>
          </p:cNvPicPr>
          <p:nvPr/>
        </p:nvPicPr>
        <p:blipFill>
          <a:blip r:embed="rId2"/>
          <a:stretch>
            <a:fillRect/>
          </a:stretch>
        </p:blipFill>
        <p:spPr>
          <a:xfrm>
            <a:off x="422696" y="201587"/>
            <a:ext cx="7568240" cy="4004924"/>
          </a:xfrm>
          <a:prstGeom prst="rect">
            <a:avLst/>
          </a:prstGeom>
        </p:spPr>
      </p:pic>
      <p:pic>
        <p:nvPicPr>
          <p:cNvPr id="8" name="Image 7">
            <a:extLst>
              <a:ext uri="{FF2B5EF4-FFF2-40B4-BE49-F238E27FC236}">
                <a16:creationId xmlns:a16="http://schemas.microsoft.com/office/drawing/2014/main" id="{E8DA7DBC-5D71-F49F-CECF-490AD5F729B7}"/>
              </a:ext>
            </a:extLst>
          </p:cNvPr>
          <p:cNvPicPr>
            <a:picLocks noChangeAspect="1"/>
          </p:cNvPicPr>
          <p:nvPr/>
        </p:nvPicPr>
        <p:blipFill>
          <a:blip r:embed="rId3"/>
          <a:stretch>
            <a:fillRect/>
          </a:stretch>
        </p:blipFill>
        <p:spPr>
          <a:xfrm>
            <a:off x="422696" y="4743650"/>
            <a:ext cx="3462064" cy="1577312"/>
          </a:xfrm>
          <a:prstGeom prst="rect">
            <a:avLst/>
          </a:prstGeom>
        </p:spPr>
      </p:pic>
      <p:pic>
        <p:nvPicPr>
          <p:cNvPr id="13" name="Image 12">
            <a:extLst>
              <a:ext uri="{FF2B5EF4-FFF2-40B4-BE49-F238E27FC236}">
                <a16:creationId xmlns:a16="http://schemas.microsoft.com/office/drawing/2014/main" id="{28628D30-1D17-1553-D3F3-DDEECD3199A0}"/>
              </a:ext>
            </a:extLst>
          </p:cNvPr>
          <p:cNvPicPr>
            <a:picLocks noChangeAspect="1"/>
          </p:cNvPicPr>
          <p:nvPr/>
        </p:nvPicPr>
        <p:blipFill>
          <a:blip r:embed="rId4"/>
          <a:stretch>
            <a:fillRect/>
          </a:stretch>
        </p:blipFill>
        <p:spPr>
          <a:xfrm>
            <a:off x="4531887" y="4678211"/>
            <a:ext cx="3128225" cy="1607560"/>
          </a:xfrm>
          <a:prstGeom prst="rect">
            <a:avLst/>
          </a:prstGeom>
        </p:spPr>
      </p:pic>
    </p:spTree>
    <p:extLst>
      <p:ext uri="{BB962C8B-B14F-4D97-AF65-F5344CB8AC3E}">
        <p14:creationId xmlns:p14="http://schemas.microsoft.com/office/powerpoint/2010/main" val="3387721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F2CE06-E169-33EB-9C20-C047476DCC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76EDA0-0DA6-89B7-35AA-5D84826F3291}"/>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EB098BD-B6F8-C9ED-5FAE-E4C3558C9BC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797211A-772A-1945-E414-7D5F8F14AA04}"/>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Créer un nouveau rapport avec l’Assistant de rapports guidés</a:t>
            </a:r>
          </a:p>
          <a:p>
            <a:pPr>
              <a:defRPr sz="1600" b="1">
                <a:solidFill>
                  <a:srgbClr val="FFFFFF"/>
                </a:solidFill>
              </a:defRPr>
            </a:pPr>
            <a:br>
              <a:rPr lang="fr-FR" sz="2400" dirty="0"/>
            </a:br>
            <a:endParaRPr lang="fr-FR" sz="2400" dirty="0"/>
          </a:p>
        </p:txBody>
      </p:sp>
      <p:pic>
        <p:nvPicPr>
          <p:cNvPr id="4" name="Image 3">
            <a:extLst>
              <a:ext uri="{FF2B5EF4-FFF2-40B4-BE49-F238E27FC236}">
                <a16:creationId xmlns:a16="http://schemas.microsoft.com/office/drawing/2014/main" id="{74B0CDD4-86A5-8AD0-A778-50E62BD89EC4}"/>
              </a:ext>
            </a:extLst>
          </p:cNvPr>
          <p:cNvPicPr>
            <a:picLocks noChangeAspect="1"/>
          </p:cNvPicPr>
          <p:nvPr/>
        </p:nvPicPr>
        <p:blipFill>
          <a:blip r:embed="rId2"/>
          <a:stretch>
            <a:fillRect/>
          </a:stretch>
        </p:blipFill>
        <p:spPr>
          <a:xfrm>
            <a:off x="1043797" y="1021864"/>
            <a:ext cx="7016150" cy="4814272"/>
          </a:xfrm>
          <a:prstGeom prst="rect">
            <a:avLst/>
          </a:prstGeom>
        </p:spPr>
      </p:pic>
    </p:spTree>
    <p:extLst>
      <p:ext uri="{BB962C8B-B14F-4D97-AF65-F5344CB8AC3E}">
        <p14:creationId xmlns:p14="http://schemas.microsoft.com/office/powerpoint/2010/main" val="2746904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A80D979-DBCF-7D7C-CAEB-AC3A94DCEB3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6FC814-60F5-4356-21D9-ADDE3769559D}"/>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550E15BD-7329-CBA6-279A-2754EB92DA1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8029E1BD-5BB3-2926-0359-DA5BA7A454EB}"/>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Créer un nouveau rapport à partir de SQL avec une IA</a:t>
            </a:r>
            <a:br>
              <a:rPr lang="fr-FR" sz="2400" dirty="0"/>
            </a:br>
            <a:endParaRPr lang="fr-FR" sz="2400" dirty="0"/>
          </a:p>
        </p:txBody>
      </p:sp>
      <p:sp>
        <p:nvSpPr>
          <p:cNvPr id="8" name="ZoneTexte 7">
            <a:extLst>
              <a:ext uri="{FF2B5EF4-FFF2-40B4-BE49-F238E27FC236}">
                <a16:creationId xmlns:a16="http://schemas.microsoft.com/office/drawing/2014/main" id="{6A9BFB85-02CA-63B2-6061-C62697C7658D}"/>
              </a:ext>
            </a:extLst>
          </p:cNvPr>
          <p:cNvSpPr txBox="1"/>
          <p:nvPr/>
        </p:nvSpPr>
        <p:spPr>
          <a:xfrm>
            <a:off x="502920" y="544009"/>
            <a:ext cx="7913292" cy="3293209"/>
          </a:xfrm>
          <a:prstGeom prst="rect">
            <a:avLst/>
          </a:prstGeom>
          <a:noFill/>
        </p:spPr>
        <p:txBody>
          <a:bodyPr wrap="square">
            <a:spAutoFit/>
          </a:bodyPr>
          <a:lstStyle/>
          <a:p>
            <a:pPr>
              <a:buNone/>
            </a:pPr>
            <a:r>
              <a:rPr lang="fr-FR" sz="1600" dirty="0">
                <a:solidFill>
                  <a:srgbClr val="141991"/>
                </a:solidFill>
              </a:rPr>
              <a:t>La fonction « Créer à partir de SQL » permet de construire directement un rapport en interrogeant les données enregistrées dans Koha. </a:t>
            </a:r>
          </a:p>
          <a:p>
            <a:pPr>
              <a:buNone/>
            </a:pPr>
            <a:r>
              <a:rPr lang="fr-FR" sz="1600" dirty="0">
                <a:solidFill>
                  <a:srgbClr val="141991"/>
                </a:solidFill>
              </a:rPr>
              <a:t>Elle offre davantage de possibilités que l’assistant de création de rapports et permet de répondre à des besoins précis de contrôle, d’extraction ou de suivi des données. </a:t>
            </a:r>
          </a:p>
          <a:p>
            <a:pPr>
              <a:buNone/>
            </a:pPr>
            <a:endParaRPr lang="fr-FR" sz="1600" dirty="0">
              <a:solidFill>
                <a:srgbClr val="141991"/>
              </a:solidFill>
            </a:endParaRPr>
          </a:p>
          <a:p>
            <a:pPr>
              <a:buNone/>
            </a:pPr>
            <a:r>
              <a:rPr lang="fr-FR" sz="1600" dirty="0">
                <a:solidFill>
                  <a:srgbClr val="141991"/>
                </a:solidFill>
              </a:rPr>
              <a:t>Les rapports SQL font partie des outils de suivi et de supervision prévus dans Koha. </a:t>
            </a:r>
            <a:br>
              <a:rPr lang="fr-FR" sz="1600" dirty="0">
                <a:solidFill>
                  <a:srgbClr val="141991"/>
                </a:solidFill>
              </a:rPr>
            </a:br>
            <a:r>
              <a:rPr lang="fr-FR" sz="1600" dirty="0">
                <a:solidFill>
                  <a:srgbClr val="141991"/>
                </a:solidFill>
              </a:rPr>
              <a:t>La création d’un rapport consiste à lui attribuer un nom explicite, éventuellement à le classer dans un groupe, puis à saisir la requête SQL correspondant au besoin. </a:t>
            </a:r>
            <a:br>
              <a:rPr lang="fr-FR" sz="1600" dirty="0">
                <a:solidFill>
                  <a:srgbClr val="141991"/>
                </a:solidFill>
              </a:rPr>
            </a:br>
            <a:r>
              <a:rPr lang="fr-FR" sz="1600" dirty="0">
                <a:solidFill>
                  <a:srgbClr val="141991"/>
                </a:solidFill>
              </a:rPr>
              <a:t>Une fois enregistré, le rapport peut être exécuté à nouveau sans avoir à réécrire la requête.</a:t>
            </a:r>
            <a:br>
              <a:rPr lang="fr-FR" sz="1600" dirty="0">
                <a:solidFill>
                  <a:srgbClr val="141991"/>
                </a:solidFill>
              </a:rPr>
            </a:br>
            <a:r>
              <a:rPr lang="fr-FR" sz="1600" dirty="0">
                <a:solidFill>
                  <a:srgbClr val="141991"/>
                </a:solidFill>
              </a:rPr>
              <a:t>Les rapports peuvent également comporter des paramètres à renseigner au moment de leur exécution. Dans notre catalogue mutualisé, cela permet par exemple de proposer à l’utilisateur de sélectionner sa bibliothèque ou son site de rattachement avant d’afficher les résultats.</a:t>
            </a:r>
          </a:p>
        </p:txBody>
      </p:sp>
      <p:pic>
        <p:nvPicPr>
          <p:cNvPr id="11" name="Image 10">
            <a:extLst>
              <a:ext uri="{FF2B5EF4-FFF2-40B4-BE49-F238E27FC236}">
                <a16:creationId xmlns:a16="http://schemas.microsoft.com/office/drawing/2014/main" id="{D88683EA-01A3-4709-6F2B-BB9AA4366F9E}"/>
              </a:ext>
            </a:extLst>
          </p:cNvPr>
          <p:cNvPicPr>
            <a:picLocks noChangeAspect="1"/>
          </p:cNvPicPr>
          <p:nvPr/>
        </p:nvPicPr>
        <p:blipFill>
          <a:blip r:embed="rId2"/>
          <a:stretch>
            <a:fillRect/>
          </a:stretch>
        </p:blipFill>
        <p:spPr>
          <a:xfrm>
            <a:off x="1909024" y="4350457"/>
            <a:ext cx="5101084" cy="1314354"/>
          </a:xfrm>
          <a:prstGeom prst="rect">
            <a:avLst/>
          </a:prstGeom>
        </p:spPr>
      </p:pic>
    </p:spTree>
    <p:extLst>
      <p:ext uri="{BB962C8B-B14F-4D97-AF65-F5344CB8AC3E}">
        <p14:creationId xmlns:p14="http://schemas.microsoft.com/office/powerpoint/2010/main" val="4047234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2F0CA3-2E10-A7D9-96A8-5DD4BB9123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F2E9EB-3DD7-4FE8-0614-83833A8801FB}"/>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E3D9E2D2-42F1-BBFD-FE4C-6AC4CAAE32C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2BC907C-78B3-8375-91E2-885454A12D6E}"/>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Créer un nouveau rapport à partir de SQL avec une IA</a:t>
            </a:r>
            <a:br>
              <a:rPr lang="fr-FR" sz="2400" dirty="0"/>
            </a:br>
            <a:endParaRPr lang="fr-FR" sz="2400" dirty="0"/>
          </a:p>
        </p:txBody>
      </p:sp>
      <p:sp>
        <p:nvSpPr>
          <p:cNvPr id="8" name="ZoneTexte 7">
            <a:extLst>
              <a:ext uri="{FF2B5EF4-FFF2-40B4-BE49-F238E27FC236}">
                <a16:creationId xmlns:a16="http://schemas.microsoft.com/office/drawing/2014/main" id="{8B1BD8B8-68CE-2A65-199C-6EEB428B43C3}"/>
              </a:ext>
            </a:extLst>
          </p:cNvPr>
          <p:cNvSpPr txBox="1"/>
          <p:nvPr/>
        </p:nvSpPr>
        <p:spPr>
          <a:xfrm>
            <a:off x="502920" y="544009"/>
            <a:ext cx="7913292" cy="1569660"/>
          </a:xfrm>
          <a:prstGeom prst="rect">
            <a:avLst/>
          </a:prstGeom>
          <a:noFill/>
        </p:spPr>
        <p:txBody>
          <a:bodyPr wrap="square">
            <a:spAutoFit/>
          </a:bodyPr>
          <a:lstStyle/>
          <a:p>
            <a:pPr>
              <a:buNone/>
            </a:pPr>
            <a:r>
              <a:rPr lang="fr-FR" sz="1600" b="1" dirty="0">
                <a:solidFill>
                  <a:srgbClr val="141991"/>
                </a:solidFill>
              </a:rPr>
              <a:t>Exemple de demande :</a:t>
            </a:r>
          </a:p>
          <a:p>
            <a:pPr>
              <a:buNone/>
            </a:pPr>
            <a:endParaRPr lang="fr-FR" sz="1600" dirty="0">
              <a:solidFill>
                <a:srgbClr val="141991"/>
              </a:solidFill>
            </a:endParaRPr>
          </a:p>
          <a:p>
            <a:pPr>
              <a:buNone/>
            </a:pPr>
            <a:r>
              <a:rPr lang="fr-FR" sz="1600" dirty="0">
                <a:solidFill>
                  <a:srgbClr val="141991"/>
                </a:solidFill>
              </a:rPr>
              <a:t>«Crée un rapport SQL Koha permettant de trouver toutes les notices comportant un champ UNIMARC 606. Affiche le numéro de notice, le titre et le site de rattachement. Comme notre Koha est mutualisé entre plusieurs DRAC, ajoute un paramètre permettant à l'utilisateur de sélectionner sa bibliothèque avant de lancer le rapport.»</a:t>
            </a:r>
          </a:p>
        </p:txBody>
      </p:sp>
      <p:sp>
        <p:nvSpPr>
          <p:cNvPr id="4" name="ZoneTexte 3">
            <a:extLst>
              <a:ext uri="{FF2B5EF4-FFF2-40B4-BE49-F238E27FC236}">
                <a16:creationId xmlns:a16="http://schemas.microsoft.com/office/drawing/2014/main" id="{E04389E6-E8B1-AD81-99A0-5884B9F9A94C}"/>
              </a:ext>
            </a:extLst>
          </p:cNvPr>
          <p:cNvSpPr txBox="1"/>
          <p:nvPr/>
        </p:nvSpPr>
        <p:spPr>
          <a:xfrm>
            <a:off x="502920" y="2250433"/>
            <a:ext cx="6137694" cy="4339650"/>
          </a:xfrm>
          <a:prstGeom prst="rect">
            <a:avLst/>
          </a:prstGeom>
          <a:noFill/>
        </p:spPr>
        <p:txBody>
          <a:bodyPr wrap="square">
            <a:spAutoFit/>
          </a:bodyPr>
          <a:lstStyle/>
          <a:p>
            <a:r>
              <a:rPr lang="fr-FR" sz="1200" dirty="0"/>
              <a:t>SELECT DISTINCT</a:t>
            </a:r>
          </a:p>
          <a:p>
            <a:r>
              <a:rPr lang="fr-FR" sz="1200" dirty="0"/>
              <a:t>    </a:t>
            </a:r>
            <a:r>
              <a:rPr lang="fr-FR" sz="1200" dirty="0" err="1"/>
              <a:t>b.biblionumber</a:t>
            </a:r>
            <a:r>
              <a:rPr lang="fr-FR" sz="1200" dirty="0"/>
              <a:t> AS "Numéro de notice",</a:t>
            </a:r>
          </a:p>
          <a:p>
            <a:r>
              <a:rPr lang="fr-FR" sz="1200" dirty="0"/>
              <a:t>    </a:t>
            </a:r>
            <a:r>
              <a:rPr lang="fr-FR" sz="1200" dirty="0" err="1"/>
              <a:t>b.title</a:t>
            </a:r>
            <a:r>
              <a:rPr lang="fr-FR" sz="1200" dirty="0"/>
              <a:t> AS "Titre",</a:t>
            </a:r>
          </a:p>
          <a:p>
            <a:r>
              <a:rPr lang="fr-FR" sz="1200" dirty="0"/>
              <a:t>    </a:t>
            </a:r>
            <a:r>
              <a:rPr lang="fr-FR" sz="1200" dirty="0" err="1"/>
              <a:t>br.branchname</a:t>
            </a:r>
            <a:r>
              <a:rPr lang="fr-FR" sz="1200" dirty="0"/>
              <a:t> AS "Site de rattachement"</a:t>
            </a:r>
          </a:p>
          <a:p>
            <a:endParaRPr lang="fr-FR" sz="1200" dirty="0"/>
          </a:p>
          <a:p>
            <a:r>
              <a:rPr lang="fr-FR" sz="1200" dirty="0"/>
              <a:t>FROM biblio b</a:t>
            </a:r>
          </a:p>
          <a:p>
            <a:endParaRPr lang="fr-FR" sz="1200" dirty="0"/>
          </a:p>
          <a:p>
            <a:r>
              <a:rPr lang="fr-FR" sz="1200" dirty="0"/>
              <a:t>JOIN </a:t>
            </a:r>
            <a:r>
              <a:rPr lang="fr-FR" sz="1200" dirty="0" err="1"/>
              <a:t>biblio_metadata</a:t>
            </a:r>
            <a:r>
              <a:rPr lang="fr-FR" sz="1200" dirty="0"/>
              <a:t> </a:t>
            </a:r>
            <a:r>
              <a:rPr lang="fr-FR" sz="1200" dirty="0" err="1"/>
              <a:t>bm</a:t>
            </a:r>
            <a:endParaRPr lang="fr-FR" sz="1200" dirty="0"/>
          </a:p>
          <a:p>
            <a:r>
              <a:rPr lang="fr-FR" sz="1200" dirty="0"/>
              <a:t>    ON </a:t>
            </a:r>
            <a:r>
              <a:rPr lang="fr-FR" sz="1200" dirty="0" err="1"/>
              <a:t>bm.biblionumber</a:t>
            </a:r>
            <a:r>
              <a:rPr lang="fr-FR" sz="1200" dirty="0"/>
              <a:t> = </a:t>
            </a:r>
            <a:r>
              <a:rPr lang="fr-FR" sz="1200" dirty="0" err="1"/>
              <a:t>b.biblionumber</a:t>
            </a:r>
            <a:endParaRPr lang="fr-FR" sz="1200" dirty="0"/>
          </a:p>
          <a:p>
            <a:endParaRPr lang="fr-FR" sz="1200" dirty="0"/>
          </a:p>
          <a:p>
            <a:r>
              <a:rPr lang="fr-FR" sz="1200" dirty="0"/>
              <a:t>JOIN items i</a:t>
            </a:r>
          </a:p>
          <a:p>
            <a:r>
              <a:rPr lang="fr-FR" sz="1200" dirty="0"/>
              <a:t>    ON </a:t>
            </a:r>
            <a:r>
              <a:rPr lang="fr-FR" sz="1200" dirty="0" err="1"/>
              <a:t>i.biblionumber</a:t>
            </a:r>
            <a:r>
              <a:rPr lang="fr-FR" sz="1200" dirty="0"/>
              <a:t> = </a:t>
            </a:r>
            <a:r>
              <a:rPr lang="fr-FR" sz="1200" dirty="0" err="1"/>
              <a:t>b.biblionumber</a:t>
            </a:r>
            <a:endParaRPr lang="fr-FR" sz="1200" dirty="0"/>
          </a:p>
          <a:p>
            <a:endParaRPr lang="fr-FR" sz="1200" dirty="0"/>
          </a:p>
          <a:p>
            <a:r>
              <a:rPr lang="fr-FR" sz="1200" dirty="0"/>
              <a:t>JOIN branches </a:t>
            </a:r>
            <a:r>
              <a:rPr lang="fr-FR" sz="1200" dirty="0" err="1"/>
              <a:t>br</a:t>
            </a:r>
            <a:endParaRPr lang="fr-FR" sz="1200" dirty="0"/>
          </a:p>
          <a:p>
            <a:r>
              <a:rPr lang="fr-FR" sz="1200" dirty="0"/>
              <a:t>    ON </a:t>
            </a:r>
            <a:r>
              <a:rPr lang="fr-FR" sz="1200" dirty="0" err="1"/>
              <a:t>br.branchcode</a:t>
            </a:r>
            <a:r>
              <a:rPr lang="fr-FR" sz="1200" dirty="0"/>
              <a:t> = </a:t>
            </a:r>
            <a:r>
              <a:rPr lang="fr-FR" sz="1200" dirty="0" err="1"/>
              <a:t>i.homebranch</a:t>
            </a:r>
            <a:endParaRPr lang="fr-FR" sz="1200" dirty="0"/>
          </a:p>
          <a:p>
            <a:endParaRPr lang="fr-FR" sz="1200" dirty="0"/>
          </a:p>
          <a:p>
            <a:r>
              <a:rPr lang="fr-FR" sz="1200" dirty="0"/>
              <a:t>WHERE</a:t>
            </a:r>
          </a:p>
          <a:p>
            <a:r>
              <a:rPr lang="fr-FR" sz="1200" dirty="0"/>
              <a:t>    </a:t>
            </a:r>
            <a:r>
              <a:rPr lang="fr-FR" sz="1200" dirty="0" err="1"/>
              <a:t>bm.metadata</a:t>
            </a:r>
            <a:r>
              <a:rPr lang="fr-FR" sz="1200" dirty="0"/>
              <a:t> REGEXP '&lt;</a:t>
            </a:r>
            <a:r>
              <a:rPr lang="fr-FR" sz="1200" dirty="0" err="1"/>
              <a:t>datafield</a:t>
            </a:r>
            <a:r>
              <a:rPr lang="fr-FR" sz="1200" dirty="0"/>
              <a:t>[^&gt;]*tag="606"'</a:t>
            </a:r>
          </a:p>
          <a:p>
            <a:endParaRPr lang="fr-FR" sz="1200" dirty="0"/>
          </a:p>
          <a:p>
            <a:r>
              <a:rPr lang="fr-FR" sz="1200" dirty="0"/>
              <a:t>    AND </a:t>
            </a:r>
            <a:r>
              <a:rPr lang="fr-FR" sz="1200" dirty="0" err="1"/>
              <a:t>i.homebranch</a:t>
            </a:r>
            <a:r>
              <a:rPr lang="fr-FR" sz="1200" dirty="0"/>
              <a:t> = &lt;&lt;</a:t>
            </a:r>
            <a:r>
              <a:rPr lang="fr-FR" sz="1200" dirty="0" err="1"/>
              <a:t>Bibliothèque|branches</a:t>
            </a:r>
            <a:r>
              <a:rPr lang="fr-FR" sz="1200" dirty="0"/>
              <a:t>&gt;&gt;</a:t>
            </a:r>
          </a:p>
          <a:p>
            <a:endParaRPr lang="fr-FR" sz="1200" dirty="0"/>
          </a:p>
          <a:p>
            <a:r>
              <a:rPr lang="fr-FR" sz="1200" dirty="0"/>
              <a:t>ORDER BY</a:t>
            </a:r>
          </a:p>
          <a:p>
            <a:r>
              <a:rPr lang="fr-FR" sz="1200" dirty="0"/>
              <a:t>    </a:t>
            </a:r>
            <a:r>
              <a:rPr lang="fr-FR" sz="1200" dirty="0" err="1"/>
              <a:t>b.title</a:t>
            </a:r>
            <a:r>
              <a:rPr lang="fr-FR" sz="1200" dirty="0"/>
              <a:t>;</a:t>
            </a:r>
          </a:p>
        </p:txBody>
      </p:sp>
      <p:pic>
        <p:nvPicPr>
          <p:cNvPr id="6" name="Image 5">
            <a:extLst>
              <a:ext uri="{FF2B5EF4-FFF2-40B4-BE49-F238E27FC236}">
                <a16:creationId xmlns:a16="http://schemas.microsoft.com/office/drawing/2014/main" id="{FF132AFF-F3C2-D9F5-0B1D-2F4E4BE69A56}"/>
              </a:ext>
            </a:extLst>
          </p:cNvPr>
          <p:cNvPicPr>
            <a:picLocks noChangeAspect="1"/>
          </p:cNvPicPr>
          <p:nvPr/>
        </p:nvPicPr>
        <p:blipFill>
          <a:blip r:embed="rId2"/>
          <a:stretch>
            <a:fillRect/>
          </a:stretch>
        </p:blipFill>
        <p:spPr>
          <a:xfrm>
            <a:off x="4459566" y="3813073"/>
            <a:ext cx="5450022" cy="2630662"/>
          </a:xfrm>
          <a:prstGeom prst="rect">
            <a:avLst/>
          </a:prstGeom>
        </p:spPr>
      </p:pic>
    </p:spTree>
    <p:extLst>
      <p:ext uri="{BB962C8B-B14F-4D97-AF65-F5344CB8AC3E}">
        <p14:creationId xmlns:p14="http://schemas.microsoft.com/office/powerpoint/2010/main" val="2117302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259929-1DFC-969C-799B-F762FF173E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C0AD8B-7C8F-BBED-35E9-B59EB03A252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800AF78-B29C-F4FC-07AC-629D3087196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E930E823-4712-7AEA-1A92-91629B889267}"/>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Créer un nouveau rapport à partir de SQL avec une IA</a:t>
            </a:r>
            <a:br>
              <a:rPr lang="fr-FR" sz="2400" dirty="0"/>
            </a:br>
            <a:endParaRPr lang="fr-FR" sz="2400" dirty="0"/>
          </a:p>
        </p:txBody>
      </p:sp>
      <p:sp>
        <p:nvSpPr>
          <p:cNvPr id="8" name="ZoneTexte 7">
            <a:extLst>
              <a:ext uri="{FF2B5EF4-FFF2-40B4-BE49-F238E27FC236}">
                <a16:creationId xmlns:a16="http://schemas.microsoft.com/office/drawing/2014/main" id="{AAA6FC69-961F-48D3-CC64-EA116B70CDDB}"/>
              </a:ext>
            </a:extLst>
          </p:cNvPr>
          <p:cNvSpPr txBox="1"/>
          <p:nvPr/>
        </p:nvSpPr>
        <p:spPr>
          <a:xfrm>
            <a:off x="502920" y="544009"/>
            <a:ext cx="7913292" cy="338554"/>
          </a:xfrm>
          <a:prstGeom prst="rect">
            <a:avLst/>
          </a:prstGeom>
          <a:noFill/>
        </p:spPr>
        <p:txBody>
          <a:bodyPr wrap="square">
            <a:spAutoFit/>
          </a:bodyPr>
          <a:lstStyle/>
          <a:p>
            <a:pPr>
              <a:buNone/>
            </a:pPr>
            <a:r>
              <a:rPr lang="fr-FR" sz="1600" b="1" dirty="0">
                <a:solidFill>
                  <a:srgbClr val="141991"/>
                </a:solidFill>
              </a:rPr>
              <a:t>Exemple de demande :</a:t>
            </a:r>
          </a:p>
        </p:txBody>
      </p:sp>
      <p:pic>
        <p:nvPicPr>
          <p:cNvPr id="5" name="Image 4">
            <a:extLst>
              <a:ext uri="{FF2B5EF4-FFF2-40B4-BE49-F238E27FC236}">
                <a16:creationId xmlns:a16="http://schemas.microsoft.com/office/drawing/2014/main" id="{329A14C0-8AD6-516C-41F2-43D75789FD54}"/>
              </a:ext>
            </a:extLst>
          </p:cNvPr>
          <p:cNvPicPr>
            <a:picLocks noChangeAspect="1"/>
          </p:cNvPicPr>
          <p:nvPr/>
        </p:nvPicPr>
        <p:blipFill>
          <a:blip r:embed="rId2"/>
          <a:stretch>
            <a:fillRect/>
          </a:stretch>
        </p:blipFill>
        <p:spPr>
          <a:xfrm>
            <a:off x="1699404" y="914400"/>
            <a:ext cx="6153510" cy="5674636"/>
          </a:xfrm>
          <a:prstGeom prst="rect">
            <a:avLst/>
          </a:prstGeom>
        </p:spPr>
      </p:pic>
    </p:spTree>
    <p:extLst>
      <p:ext uri="{BB962C8B-B14F-4D97-AF65-F5344CB8AC3E}">
        <p14:creationId xmlns:p14="http://schemas.microsoft.com/office/powerpoint/2010/main" val="3374052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C318940-5F52-66DA-9070-49A5A13998D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B90795-9EA0-1844-190C-B861F159441D}"/>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7B980A5-88A9-212C-B84D-603634D1875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3731F7A7-5C43-0F84-276A-71F9188EFC13}"/>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Assistant statistiques</a:t>
            </a:r>
          </a:p>
        </p:txBody>
      </p:sp>
      <p:sp>
        <p:nvSpPr>
          <p:cNvPr id="8" name="ZoneTexte 7">
            <a:extLst>
              <a:ext uri="{FF2B5EF4-FFF2-40B4-BE49-F238E27FC236}">
                <a16:creationId xmlns:a16="http://schemas.microsoft.com/office/drawing/2014/main" id="{F7F93441-F8A8-4E8B-1A91-26E87C529381}"/>
              </a:ext>
            </a:extLst>
          </p:cNvPr>
          <p:cNvSpPr txBox="1"/>
          <p:nvPr/>
        </p:nvSpPr>
        <p:spPr>
          <a:xfrm>
            <a:off x="502920" y="544009"/>
            <a:ext cx="7913292" cy="5509200"/>
          </a:xfrm>
          <a:prstGeom prst="rect">
            <a:avLst/>
          </a:prstGeom>
          <a:noFill/>
        </p:spPr>
        <p:txBody>
          <a:bodyPr wrap="square">
            <a:spAutoFit/>
          </a:bodyPr>
          <a:lstStyle/>
          <a:p>
            <a:pPr>
              <a:buNone/>
            </a:pPr>
            <a:r>
              <a:rPr lang="fr-FR" sz="1600" dirty="0">
                <a:solidFill>
                  <a:srgbClr val="141991"/>
                </a:solidFill>
              </a:rPr>
              <a:t>L’Assistant statistiques permet de produire des statistiques à partir des données enregistrées dans Koha sans avoir à écrire directement une requête SQL. </a:t>
            </a:r>
          </a:p>
          <a:p>
            <a:pPr>
              <a:buNone/>
            </a:pPr>
            <a:r>
              <a:rPr lang="fr-FR" sz="1600" dirty="0">
                <a:solidFill>
                  <a:srgbClr val="141991"/>
                </a:solidFill>
              </a:rPr>
              <a:t>Il propose différents formulaires permettant de sélectionner les données à analyser, les critères de regroupement et la période concernée.</a:t>
            </a:r>
          </a:p>
          <a:p>
            <a:pPr>
              <a:buNone/>
            </a:pPr>
            <a:endParaRPr lang="fr-FR" sz="1600" dirty="0">
              <a:solidFill>
                <a:srgbClr val="141991"/>
              </a:solidFill>
            </a:endParaRPr>
          </a:p>
          <a:p>
            <a:pPr>
              <a:buNone/>
            </a:pPr>
            <a:r>
              <a:rPr lang="fr-FR" sz="1600" dirty="0">
                <a:solidFill>
                  <a:srgbClr val="141991"/>
                </a:solidFill>
              </a:rPr>
              <a:t>Selon les modules disponibles dans Koha, il permet notamment d’exploiter des données concernant la circulation, les adhérents, les collections, les acquisitions ou le catalogue. L’utilisateur choisit les critères qui constitueront les lignes et les colonnes du tableau statistique, puis Koha calcule automatiquement les résultats.</a:t>
            </a:r>
          </a:p>
          <a:p>
            <a:pPr>
              <a:buNone/>
            </a:pPr>
            <a:endParaRPr lang="fr-FR" sz="1600" dirty="0">
              <a:solidFill>
                <a:srgbClr val="141991"/>
              </a:solidFill>
            </a:endParaRPr>
          </a:p>
          <a:p>
            <a:pPr>
              <a:buNone/>
            </a:pPr>
            <a:r>
              <a:rPr lang="fr-FR" sz="1600" dirty="0">
                <a:solidFill>
                  <a:srgbClr val="141991"/>
                </a:solidFill>
              </a:rPr>
              <a:t>L’Assistant statistiques est particulièrement adapté aux besoins courants de pilotage : connaître le nombre de prêts sur une période, analyser l’activité par bibliothèque, observer la répartition des collections ou comparer différentes catégories de données.</a:t>
            </a:r>
          </a:p>
          <a:p>
            <a:pPr>
              <a:buNone/>
            </a:pPr>
            <a:br>
              <a:rPr lang="fr-FR" sz="1600" dirty="0">
                <a:solidFill>
                  <a:srgbClr val="141991"/>
                </a:solidFill>
              </a:rPr>
            </a:br>
            <a:r>
              <a:rPr lang="fr-FR" sz="1600" dirty="0">
                <a:solidFill>
                  <a:srgbClr val="141991"/>
                </a:solidFill>
              </a:rPr>
              <a:t>Il complète les rapports SQL : l’Assistant statistiques est plus simple à utiliser pour des analyses courantes, tandis qu’un rapport SQL permet de construire des interrogations plus précises ou des contrôles personnalisés. Le support de référence distingue d’ailleurs les rapports « SQL ou assistés » parmi les outils de suivi de Koha. </a:t>
            </a:r>
          </a:p>
          <a:p>
            <a:pPr>
              <a:buNone/>
            </a:pPr>
            <a:endParaRPr lang="fr-FR" sz="1600" dirty="0">
              <a:solidFill>
                <a:srgbClr val="141991"/>
              </a:solidFill>
            </a:endParaRPr>
          </a:p>
          <a:p>
            <a:pPr>
              <a:buNone/>
            </a:pPr>
            <a:r>
              <a:rPr lang="fr-FR" sz="1600" b="1" dirty="0">
                <a:solidFill>
                  <a:srgbClr val="141991"/>
                </a:solidFill>
              </a:rPr>
              <a:t>À retenir </a:t>
            </a:r>
            <a:r>
              <a:rPr lang="fr-FR" sz="1600" dirty="0">
                <a:solidFill>
                  <a:srgbClr val="141991"/>
                </a:solidFill>
              </a:rPr>
              <a:t>: Assistant statistiques = analyser les données sans écrire de SQL. Pour une interrogation plus complexe, un contrôle qualité ou une extraction très spécifique, on privilégiera la création d’un rapport SQL.</a:t>
            </a:r>
          </a:p>
        </p:txBody>
      </p:sp>
    </p:spTree>
    <p:extLst>
      <p:ext uri="{BB962C8B-B14F-4D97-AF65-F5344CB8AC3E}">
        <p14:creationId xmlns:p14="http://schemas.microsoft.com/office/powerpoint/2010/main" val="585796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27D85C-D6DD-D70E-8621-BD2B55EEB5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9F8179F-F0F5-3F4F-DF51-FDC4A3EB86C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2A99791A-67DC-F1B5-ED77-B0714DC4649B}"/>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95B34420-9701-7E34-1306-C8A085A9F4E5}"/>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Assistant statistiques</a:t>
            </a:r>
          </a:p>
        </p:txBody>
      </p:sp>
      <p:sp>
        <p:nvSpPr>
          <p:cNvPr id="8" name="ZoneTexte 7">
            <a:extLst>
              <a:ext uri="{FF2B5EF4-FFF2-40B4-BE49-F238E27FC236}">
                <a16:creationId xmlns:a16="http://schemas.microsoft.com/office/drawing/2014/main" id="{3F6FBF7B-851C-86D0-329C-13DAB8E00C2C}"/>
              </a:ext>
            </a:extLst>
          </p:cNvPr>
          <p:cNvSpPr txBox="1"/>
          <p:nvPr/>
        </p:nvSpPr>
        <p:spPr>
          <a:xfrm>
            <a:off x="502920" y="544009"/>
            <a:ext cx="7913292" cy="338554"/>
          </a:xfrm>
          <a:prstGeom prst="rect">
            <a:avLst/>
          </a:prstGeom>
          <a:noFill/>
        </p:spPr>
        <p:txBody>
          <a:bodyPr wrap="square">
            <a:spAutoFit/>
          </a:bodyPr>
          <a:lstStyle/>
          <a:p>
            <a:pPr>
              <a:buNone/>
            </a:pPr>
            <a:r>
              <a:rPr lang="fr-FR" sz="1600" dirty="0">
                <a:solidFill>
                  <a:srgbClr val="141991"/>
                </a:solidFill>
              </a:rPr>
              <a:t>L’Assistant statistiques</a:t>
            </a:r>
          </a:p>
        </p:txBody>
      </p:sp>
      <p:pic>
        <p:nvPicPr>
          <p:cNvPr id="4" name="Image 3">
            <a:extLst>
              <a:ext uri="{FF2B5EF4-FFF2-40B4-BE49-F238E27FC236}">
                <a16:creationId xmlns:a16="http://schemas.microsoft.com/office/drawing/2014/main" id="{10AAFE59-E69F-C975-EF16-48EC386C6024}"/>
              </a:ext>
            </a:extLst>
          </p:cNvPr>
          <p:cNvPicPr>
            <a:picLocks noChangeAspect="1"/>
          </p:cNvPicPr>
          <p:nvPr/>
        </p:nvPicPr>
        <p:blipFill>
          <a:blip r:embed="rId2"/>
          <a:stretch>
            <a:fillRect/>
          </a:stretch>
        </p:blipFill>
        <p:spPr>
          <a:xfrm>
            <a:off x="6096000" y="333635"/>
            <a:ext cx="2229161" cy="1428949"/>
          </a:xfrm>
          <a:prstGeom prst="rect">
            <a:avLst/>
          </a:prstGeom>
        </p:spPr>
      </p:pic>
      <p:pic>
        <p:nvPicPr>
          <p:cNvPr id="11" name="Image 10">
            <a:extLst>
              <a:ext uri="{FF2B5EF4-FFF2-40B4-BE49-F238E27FC236}">
                <a16:creationId xmlns:a16="http://schemas.microsoft.com/office/drawing/2014/main" id="{04CDC177-0C75-5412-7F4B-5AB588D2299A}"/>
              </a:ext>
            </a:extLst>
          </p:cNvPr>
          <p:cNvPicPr>
            <a:picLocks noChangeAspect="1"/>
          </p:cNvPicPr>
          <p:nvPr/>
        </p:nvPicPr>
        <p:blipFill>
          <a:blip r:embed="rId3"/>
          <a:stretch>
            <a:fillRect/>
          </a:stretch>
        </p:blipFill>
        <p:spPr>
          <a:xfrm>
            <a:off x="595224" y="2280018"/>
            <a:ext cx="7430218" cy="3574674"/>
          </a:xfrm>
          <a:prstGeom prst="rect">
            <a:avLst/>
          </a:prstGeom>
        </p:spPr>
      </p:pic>
    </p:spTree>
    <p:extLst>
      <p:ext uri="{BB962C8B-B14F-4D97-AF65-F5344CB8AC3E}">
        <p14:creationId xmlns:p14="http://schemas.microsoft.com/office/powerpoint/2010/main" val="2120916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8129A1-9374-C379-AE39-3B11EA8B53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0D2C19-65F7-1637-BCE1-F12C550047C9}"/>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F050695A-0079-D7E2-2209-018B452237D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64187329-5A23-D634-AAF2-DFBDDD403BB1}"/>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Assistant statistiques</a:t>
            </a:r>
          </a:p>
        </p:txBody>
      </p:sp>
      <p:sp>
        <p:nvSpPr>
          <p:cNvPr id="8" name="ZoneTexte 7">
            <a:extLst>
              <a:ext uri="{FF2B5EF4-FFF2-40B4-BE49-F238E27FC236}">
                <a16:creationId xmlns:a16="http://schemas.microsoft.com/office/drawing/2014/main" id="{640F939A-46AB-B314-C0CF-71D452050F00}"/>
              </a:ext>
            </a:extLst>
          </p:cNvPr>
          <p:cNvSpPr txBox="1"/>
          <p:nvPr/>
        </p:nvSpPr>
        <p:spPr>
          <a:xfrm>
            <a:off x="502920" y="544009"/>
            <a:ext cx="7913292" cy="338554"/>
          </a:xfrm>
          <a:prstGeom prst="rect">
            <a:avLst/>
          </a:prstGeom>
          <a:noFill/>
        </p:spPr>
        <p:txBody>
          <a:bodyPr wrap="square">
            <a:spAutoFit/>
          </a:bodyPr>
          <a:lstStyle/>
          <a:p>
            <a:pPr>
              <a:buNone/>
            </a:pPr>
            <a:r>
              <a:rPr lang="fr-FR" sz="1600" dirty="0">
                <a:solidFill>
                  <a:srgbClr val="141991"/>
                </a:solidFill>
              </a:rPr>
              <a:t>L’Assistant statistiques</a:t>
            </a:r>
          </a:p>
        </p:txBody>
      </p:sp>
      <p:pic>
        <p:nvPicPr>
          <p:cNvPr id="5" name="Image 4">
            <a:extLst>
              <a:ext uri="{FF2B5EF4-FFF2-40B4-BE49-F238E27FC236}">
                <a16:creationId xmlns:a16="http://schemas.microsoft.com/office/drawing/2014/main" id="{31E303A5-26EF-AA71-A66D-52CAD53E94EA}"/>
              </a:ext>
            </a:extLst>
          </p:cNvPr>
          <p:cNvPicPr>
            <a:picLocks noChangeAspect="1"/>
          </p:cNvPicPr>
          <p:nvPr/>
        </p:nvPicPr>
        <p:blipFill>
          <a:blip r:embed="rId2"/>
          <a:stretch>
            <a:fillRect/>
          </a:stretch>
        </p:blipFill>
        <p:spPr>
          <a:xfrm>
            <a:off x="592836" y="1230143"/>
            <a:ext cx="7620000" cy="47255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Image 9">
            <a:extLst>
              <a:ext uri="{FF2B5EF4-FFF2-40B4-BE49-F238E27FC236}">
                <a16:creationId xmlns:a16="http://schemas.microsoft.com/office/drawing/2014/main" id="{D83BFB66-6E64-222D-656E-C20B42F47FB4}"/>
              </a:ext>
            </a:extLst>
          </p:cNvPr>
          <p:cNvPicPr>
            <a:picLocks noChangeAspect="1"/>
          </p:cNvPicPr>
          <p:nvPr/>
        </p:nvPicPr>
        <p:blipFill>
          <a:blip r:embed="rId3"/>
          <a:stretch>
            <a:fillRect/>
          </a:stretch>
        </p:blipFill>
        <p:spPr>
          <a:xfrm>
            <a:off x="6792639" y="4281768"/>
            <a:ext cx="3057952" cy="24006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57861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E2D993E-4B5D-9D75-CED4-D15565AEBB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C4C204-6959-6692-C9F7-87224A6EA250}"/>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2EBF7375-A48B-B16D-D39A-1C43B96DFC8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A457A5F7-5592-0CCF-D4B8-6A2BB61F6656}"/>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Dédoublonnage </a:t>
            </a:r>
            <a:br>
              <a:rPr lang="fr-FR" sz="2400" dirty="0"/>
            </a:br>
            <a:r>
              <a:rPr lang="fr-FR" sz="2400" dirty="0"/>
              <a:t>des notices</a:t>
            </a:r>
          </a:p>
        </p:txBody>
      </p:sp>
      <p:sp>
        <p:nvSpPr>
          <p:cNvPr id="8" name="ZoneTexte 7">
            <a:extLst>
              <a:ext uri="{FF2B5EF4-FFF2-40B4-BE49-F238E27FC236}">
                <a16:creationId xmlns:a16="http://schemas.microsoft.com/office/drawing/2014/main" id="{E06A9760-1F6C-029C-4FB5-F8A40D591AF4}"/>
              </a:ext>
            </a:extLst>
          </p:cNvPr>
          <p:cNvSpPr txBox="1"/>
          <p:nvPr/>
        </p:nvSpPr>
        <p:spPr>
          <a:xfrm>
            <a:off x="502920" y="544009"/>
            <a:ext cx="7913292" cy="5509200"/>
          </a:xfrm>
          <a:prstGeom prst="rect">
            <a:avLst/>
          </a:prstGeom>
          <a:noFill/>
        </p:spPr>
        <p:txBody>
          <a:bodyPr wrap="square">
            <a:spAutoFit/>
          </a:bodyPr>
          <a:lstStyle/>
          <a:p>
            <a:pPr>
              <a:buNone/>
            </a:pPr>
            <a:r>
              <a:rPr lang="fr-FR" sz="1600" dirty="0">
                <a:solidFill>
                  <a:srgbClr val="141991"/>
                </a:solidFill>
              </a:rPr>
              <a:t>Le dédoublonnage consiste à identifier les notices bibliographiques qui décrivent un même document afin d’éviter la présence de plusieurs notices pour une même ressource dans le catalogue.</a:t>
            </a:r>
          </a:p>
          <a:p>
            <a:pPr>
              <a:buNone/>
            </a:pPr>
            <a:r>
              <a:rPr lang="fr-FR" sz="1600" dirty="0">
                <a:solidFill>
                  <a:srgbClr val="141991"/>
                </a:solidFill>
              </a:rPr>
              <a:t>Dans un catalogue mutualisé, ce contrôle est particulièrement important : plusieurs DRAC peuvent posséder le même document, mais celui-ci doit autant que possible être décrit par une notice bibliographique commune à laquelle sont rattachés les exemplaires des différentes structures.</a:t>
            </a:r>
          </a:p>
          <a:p>
            <a:pPr>
              <a:buNone/>
            </a:pPr>
            <a:endParaRPr lang="fr-FR" sz="1600" dirty="0">
              <a:solidFill>
                <a:srgbClr val="141991"/>
              </a:solidFill>
            </a:endParaRPr>
          </a:p>
          <a:p>
            <a:pPr>
              <a:buNone/>
            </a:pPr>
            <a:r>
              <a:rPr lang="fr-FR" sz="1600" dirty="0">
                <a:solidFill>
                  <a:srgbClr val="141991"/>
                </a:solidFill>
              </a:rPr>
              <a:t>Avant de créer une nouvelle notice, le catalogueur doit donc rechercher systématiquement si le document est déjà présent dans Koha. L’identification peut notamment s’appuyer sur le titre, l’auteur et les identifiants disponibles, comme l’ISBN ou l’EAN.</a:t>
            </a:r>
          </a:p>
          <a:p>
            <a:pPr>
              <a:buNone/>
            </a:pPr>
            <a:r>
              <a:rPr lang="fr-FR" sz="1600" dirty="0">
                <a:solidFill>
                  <a:srgbClr val="141991"/>
                </a:solidFill>
              </a:rPr>
              <a:t>Lorsqu’un doublon est détecté, il ne faut pas supprimer immédiatement l’une des notices. Il convient d’abord de comparer les notices, vérifier les exemplaires qui leur sont rattachés et déterminer quelle notice doit être conservée. La fusion ou la suppression doit être réalisée selon les procédures définies pour le catalogue mutualisé.</a:t>
            </a:r>
          </a:p>
          <a:p>
            <a:pPr>
              <a:buNone/>
            </a:pPr>
            <a:endParaRPr lang="fr-FR" sz="1600" dirty="0">
              <a:solidFill>
                <a:srgbClr val="141991"/>
              </a:solidFill>
            </a:endParaRPr>
          </a:p>
          <a:p>
            <a:pPr>
              <a:buNone/>
            </a:pPr>
            <a:r>
              <a:rPr lang="fr-FR" sz="1600" dirty="0">
                <a:solidFill>
                  <a:srgbClr val="141991"/>
                </a:solidFill>
              </a:rPr>
              <a:t>Le contrôle des doublons fait partie des opérations de qualité des données prévues dans le suivi et la supervision de Koha.</a:t>
            </a:r>
          </a:p>
          <a:p>
            <a:pPr>
              <a:buNone/>
            </a:pPr>
            <a:endParaRPr lang="fr-FR" sz="1600" dirty="0">
              <a:solidFill>
                <a:srgbClr val="141991"/>
              </a:solidFill>
            </a:endParaRPr>
          </a:p>
          <a:p>
            <a:pPr>
              <a:buNone/>
            </a:pPr>
            <a:r>
              <a:rPr lang="fr-FR" sz="1600" b="1" dirty="0">
                <a:solidFill>
                  <a:srgbClr val="141991"/>
                </a:solidFill>
              </a:rPr>
              <a:t>À retenir </a:t>
            </a:r>
            <a:r>
              <a:rPr lang="fr-FR" sz="1600" dirty="0">
                <a:solidFill>
                  <a:srgbClr val="141991"/>
                </a:solidFill>
              </a:rPr>
              <a:t>: plusieurs DRAC peuvent posséder le même document, mais cela ne signifie pas qu’il faut plusieurs notices. Dans le catalogue mutualisé, on privilégie une notice bibliographique commune et plusieurs exemplaires rattachés à cette notice.</a:t>
            </a:r>
          </a:p>
        </p:txBody>
      </p:sp>
    </p:spTree>
    <p:extLst>
      <p:ext uri="{BB962C8B-B14F-4D97-AF65-F5344CB8AC3E}">
        <p14:creationId xmlns:p14="http://schemas.microsoft.com/office/powerpoint/2010/main" val="3025349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9B31AF-0186-6870-61A3-55EB4E76E1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E9FCD5-6EB9-6FA8-C850-B08A1B92D26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B040C56E-54A9-A2DB-FA32-E3CEAF3D5DF4}"/>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51373161-2A79-E1E9-8390-252A1E02C359}"/>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Dédoublonnage </a:t>
            </a:r>
            <a:br>
              <a:rPr lang="fr-FR" sz="2400" dirty="0"/>
            </a:br>
            <a:r>
              <a:rPr lang="fr-FR" sz="2400" dirty="0"/>
              <a:t>des notices</a:t>
            </a:r>
          </a:p>
        </p:txBody>
      </p:sp>
      <p:sp>
        <p:nvSpPr>
          <p:cNvPr id="8" name="ZoneTexte 7">
            <a:extLst>
              <a:ext uri="{FF2B5EF4-FFF2-40B4-BE49-F238E27FC236}">
                <a16:creationId xmlns:a16="http://schemas.microsoft.com/office/drawing/2014/main" id="{1AE62F57-9275-7D27-3493-93946B9F697C}"/>
              </a:ext>
            </a:extLst>
          </p:cNvPr>
          <p:cNvSpPr txBox="1"/>
          <p:nvPr/>
        </p:nvSpPr>
        <p:spPr>
          <a:xfrm>
            <a:off x="502920" y="544009"/>
            <a:ext cx="7913292" cy="1077218"/>
          </a:xfrm>
          <a:prstGeom prst="rect">
            <a:avLst/>
          </a:prstGeom>
          <a:noFill/>
        </p:spPr>
        <p:txBody>
          <a:bodyPr wrap="square">
            <a:spAutoFit/>
          </a:bodyPr>
          <a:lstStyle/>
          <a:p>
            <a:pPr>
              <a:buNone/>
            </a:pPr>
            <a:r>
              <a:rPr lang="fr-FR" sz="1600" dirty="0">
                <a:solidFill>
                  <a:srgbClr val="141991"/>
                </a:solidFill>
              </a:rPr>
              <a:t>Pour fusionner des notices bibliographiques :</a:t>
            </a:r>
          </a:p>
          <a:p>
            <a:pPr>
              <a:buNone/>
            </a:pPr>
            <a:r>
              <a:rPr lang="fr-FR" sz="1600" dirty="0">
                <a:solidFill>
                  <a:srgbClr val="141991"/>
                </a:solidFill>
              </a:rPr>
              <a:t>Effectuez une recherche dans le catalogue afin de trouver les notices qui doivent être fusionnées.</a:t>
            </a:r>
          </a:p>
          <a:p>
            <a:pPr>
              <a:buNone/>
            </a:pPr>
            <a:r>
              <a:rPr lang="fr-FR" sz="1600" dirty="0">
                <a:solidFill>
                  <a:srgbClr val="141991"/>
                </a:solidFill>
              </a:rPr>
              <a:t>Cochez les cases situées à côté des notices en doublon afin de les sélectionner.</a:t>
            </a:r>
          </a:p>
        </p:txBody>
      </p:sp>
      <p:pic>
        <p:nvPicPr>
          <p:cNvPr id="4" name="Image 3">
            <a:extLst>
              <a:ext uri="{FF2B5EF4-FFF2-40B4-BE49-F238E27FC236}">
                <a16:creationId xmlns:a16="http://schemas.microsoft.com/office/drawing/2014/main" id="{EC3883FC-C933-3A15-E7AF-B3AD1C4D1A4E}"/>
              </a:ext>
            </a:extLst>
          </p:cNvPr>
          <p:cNvPicPr>
            <a:picLocks noChangeAspect="1"/>
          </p:cNvPicPr>
          <p:nvPr/>
        </p:nvPicPr>
        <p:blipFill>
          <a:blip r:embed="rId2"/>
          <a:stretch>
            <a:fillRect/>
          </a:stretch>
        </p:blipFill>
        <p:spPr>
          <a:xfrm>
            <a:off x="389460" y="3635277"/>
            <a:ext cx="10198608" cy="1947306"/>
          </a:xfrm>
          <a:prstGeom prst="rect">
            <a:avLst/>
          </a:prstGeom>
        </p:spPr>
      </p:pic>
      <p:pic>
        <p:nvPicPr>
          <p:cNvPr id="6" name="Image 5">
            <a:extLst>
              <a:ext uri="{FF2B5EF4-FFF2-40B4-BE49-F238E27FC236}">
                <a16:creationId xmlns:a16="http://schemas.microsoft.com/office/drawing/2014/main" id="{E99B7C36-F9AF-67CF-3A33-D0E421D4424B}"/>
              </a:ext>
            </a:extLst>
          </p:cNvPr>
          <p:cNvPicPr>
            <a:picLocks noChangeAspect="1"/>
          </p:cNvPicPr>
          <p:nvPr/>
        </p:nvPicPr>
        <p:blipFill>
          <a:blip r:embed="rId3"/>
          <a:stretch>
            <a:fillRect/>
          </a:stretch>
        </p:blipFill>
        <p:spPr>
          <a:xfrm>
            <a:off x="6409346" y="2033780"/>
            <a:ext cx="2172003" cy="1562318"/>
          </a:xfrm>
          <a:prstGeom prst="rect">
            <a:avLst/>
          </a:prstGeom>
        </p:spPr>
      </p:pic>
    </p:spTree>
    <p:extLst>
      <p:ext uri="{BB962C8B-B14F-4D97-AF65-F5344CB8AC3E}">
        <p14:creationId xmlns:p14="http://schemas.microsoft.com/office/powerpoint/2010/main" val="3935118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635285-6E34-6DD7-CF45-A0897B04F0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7FA191E-4372-F176-FD8C-555F0E66CF5F}"/>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102EBE2-67B8-352B-FDF3-E961B99BE4B3}"/>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6111878B-CC6A-743E-F875-4B55AF8004EF}"/>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Dédoublonnage </a:t>
            </a:r>
            <a:br>
              <a:rPr lang="fr-FR" sz="2400" dirty="0"/>
            </a:br>
            <a:r>
              <a:rPr lang="fr-FR" sz="2400" dirty="0"/>
              <a:t>des notices</a:t>
            </a:r>
          </a:p>
        </p:txBody>
      </p:sp>
      <p:sp>
        <p:nvSpPr>
          <p:cNvPr id="8" name="ZoneTexte 7">
            <a:extLst>
              <a:ext uri="{FF2B5EF4-FFF2-40B4-BE49-F238E27FC236}">
                <a16:creationId xmlns:a16="http://schemas.microsoft.com/office/drawing/2014/main" id="{2CB04B61-5265-460C-C32E-5E03F43BCC00}"/>
              </a:ext>
            </a:extLst>
          </p:cNvPr>
          <p:cNvSpPr txBox="1"/>
          <p:nvPr/>
        </p:nvSpPr>
        <p:spPr>
          <a:xfrm>
            <a:off x="502920" y="544009"/>
            <a:ext cx="7913292" cy="338554"/>
          </a:xfrm>
          <a:prstGeom prst="rect">
            <a:avLst/>
          </a:prstGeom>
          <a:noFill/>
        </p:spPr>
        <p:txBody>
          <a:bodyPr wrap="square">
            <a:spAutoFit/>
          </a:bodyPr>
          <a:lstStyle/>
          <a:p>
            <a:pPr>
              <a:buNone/>
            </a:pPr>
            <a:r>
              <a:rPr lang="fr-FR" sz="1600" dirty="0">
                <a:solidFill>
                  <a:srgbClr val="141991"/>
                </a:solidFill>
              </a:rPr>
              <a:t>Choisir la notice de référence à conserver</a:t>
            </a:r>
          </a:p>
        </p:txBody>
      </p:sp>
      <p:pic>
        <p:nvPicPr>
          <p:cNvPr id="11" name="Image 10">
            <a:extLst>
              <a:ext uri="{FF2B5EF4-FFF2-40B4-BE49-F238E27FC236}">
                <a16:creationId xmlns:a16="http://schemas.microsoft.com/office/drawing/2014/main" id="{C5E449A3-4137-4A99-FD4E-C0BAB080CC62}"/>
              </a:ext>
            </a:extLst>
          </p:cNvPr>
          <p:cNvPicPr>
            <a:picLocks noChangeAspect="1"/>
          </p:cNvPicPr>
          <p:nvPr/>
        </p:nvPicPr>
        <p:blipFill>
          <a:blip r:embed="rId2"/>
          <a:stretch>
            <a:fillRect/>
          </a:stretch>
        </p:blipFill>
        <p:spPr>
          <a:xfrm>
            <a:off x="502921" y="1217373"/>
            <a:ext cx="4647050" cy="2255291"/>
          </a:xfrm>
          <a:prstGeom prst="rect">
            <a:avLst/>
          </a:prstGeom>
        </p:spPr>
      </p:pic>
      <p:pic>
        <p:nvPicPr>
          <p:cNvPr id="13" name="Image 12">
            <a:extLst>
              <a:ext uri="{FF2B5EF4-FFF2-40B4-BE49-F238E27FC236}">
                <a16:creationId xmlns:a16="http://schemas.microsoft.com/office/drawing/2014/main" id="{0866A8A5-0463-754B-87DC-E622A126500C}"/>
              </a:ext>
            </a:extLst>
          </p:cNvPr>
          <p:cNvPicPr>
            <a:picLocks noChangeAspect="1"/>
          </p:cNvPicPr>
          <p:nvPr/>
        </p:nvPicPr>
        <p:blipFill>
          <a:blip r:embed="rId3"/>
          <a:stretch>
            <a:fillRect/>
          </a:stretch>
        </p:blipFill>
        <p:spPr>
          <a:xfrm>
            <a:off x="1759789" y="3362999"/>
            <a:ext cx="7619998" cy="3265714"/>
          </a:xfrm>
          <a:prstGeom prst="rect">
            <a:avLst/>
          </a:prstGeom>
        </p:spPr>
      </p:pic>
    </p:spTree>
    <p:extLst>
      <p:ext uri="{BB962C8B-B14F-4D97-AF65-F5344CB8AC3E}">
        <p14:creationId xmlns:p14="http://schemas.microsoft.com/office/powerpoint/2010/main" val="779884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39E60D-4A85-6910-221A-4283DF3792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4EFAB0B-E2ED-2A3B-F7A2-C82CD5262758}"/>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1FE4DD06-CCBA-3FE5-2334-1AC9CF450533}"/>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0B660EC-BACB-B233-099F-EF65BFDB9D28}"/>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Dédoublonnage </a:t>
            </a:r>
            <a:br>
              <a:rPr lang="fr-FR" sz="2400" dirty="0"/>
            </a:br>
            <a:r>
              <a:rPr lang="fr-FR" sz="2400" dirty="0"/>
              <a:t>des notices</a:t>
            </a:r>
          </a:p>
        </p:txBody>
      </p:sp>
      <p:sp>
        <p:nvSpPr>
          <p:cNvPr id="8" name="ZoneTexte 7">
            <a:extLst>
              <a:ext uri="{FF2B5EF4-FFF2-40B4-BE49-F238E27FC236}">
                <a16:creationId xmlns:a16="http://schemas.microsoft.com/office/drawing/2014/main" id="{50A6D52B-07FB-6704-A34B-21E211B144CF}"/>
              </a:ext>
            </a:extLst>
          </p:cNvPr>
          <p:cNvSpPr txBox="1"/>
          <p:nvPr/>
        </p:nvSpPr>
        <p:spPr>
          <a:xfrm>
            <a:off x="502920" y="544009"/>
            <a:ext cx="7913292" cy="338554"/>
          </a:xfrm>
          <a:prstGeom prst="rect">
            <a:avLst/>
          </a:prstGeom>
          <a:noFill/>
        </p:spPr>
        <p:txBody>
          <a:bodyPr wrap="square">
            <a:spAutoFit/>
          </a:bodyPr>
          <a:lstStyle/>
          <a:p>
            <a:pPr>
              <a:buNone/>
            </a:pPr>
            <a:r>
              <a:rPr lang="fr-FR" sz="1600" dirty="0">
                <a:solidFill>
                  <a:srgbClr val="141991"/>
                </a:solidFill>
              </a:rPr>
              <a:t>Fusionner</a:t>
            </a:r>
          </a:p>
        </p:txBody>
      </p:sp>
      <p:pic>
        <p:nvPicPr>
          <p:cNvPr id="4" name="Image 3">
            <a:extLst>
              <a:ext uri="{FF2B5EF4-FFF2-40B4-BE49-F238E27FC236}">
                <a16:creationId xmlns:a16="http://schemas.microsoft.com/office/drawing/2014/main" id="{A92B5092-C4D0-50A4-473F-FBA9727200AC}"/>
              </a:ext>
            </a:extLst>
          </p:cNvPr>
          <p:cNvPicPr>
            <a:picLocks noChangeAspect="1"/>
          </p:cNvPicPr>
          <p:nvPr/>
        </p:nvPicPr>
        <p:blipFill>
          <a:blip r:embed="rId2"/>
          <a:stretch>
            <a:fillRect/>
          </a:stretch>
        </p:blipFill>
        <p:spPr>
          <a:xfrm>
            <a:off x="502920" y="1179705"/>
            <a:ext cx="3810532" cy="1962424"/>
          </a:xfrm>
          <a:prstGeom prst="rect">
            <a:avLst/>
          </a:prstGeom>
        </p:spPr>
      </p:pic>
      <p:pic>
        <p:nvPicPr>
          <p:cNvPr id="6" name="Image 5">
            <a:extLst>
              <a:ext uri="{FF2B5EF4-FFF2-40B4-BE49-F238E27FC236}">
                <a16:creationId xmlns:a16="http://schemas.microsoft.com/office/drawing/2014/main" id="{3003BD7B-4C0F-8CA8-34CD-F350FB2C0C04}"/>
              </a:ext>
            </a:extLst>
          </p:cNvPr>
          <p:cNvPicPr>
            <a:picLocks noChangeAspect="1"/>
          </p:cNvPicPr>
          <p:nvPr/>
        </p:nvPicPr>
        <p:blipFill>
          <a:blip r:embed="rId3"/>
          <a:stretch>
            <a:fillRect/>
          </a:stretch>
        </p:blipFill>
        <p:spPr>
          <a:xfrm>
            <a:off x="1699405" y="3519866"/>
            <a:ext cx="8327364" cy="3037292"/>
          </a:xfrm>
          <a:prstGeom prst="rect">
            <a:avLst/>
          </a:prstGeom>
        </p:spPr>
      </p:pic>
    </p:spTree>
    <p:extLst>
      <p:ext uri="{BB962C8B-B14F-4D97-AF65-F5344CB8AC3E}">
        <p14:creationId xmlns:p14="http://schemas.microsoft.com/office/powerpoint/2010/main" val="3194114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06AEA7-3535-DA58-0970-89F4FD57AF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F27092-A3FB-D964-998A-85378B48DFC0}"/>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DE7A8F1-4901-F9FD-8200-24A08FE5D21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EA234B6-3D9A-C987-CDD9-BBED299359C2}"/>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Modification de notices par lot</a:t>
            </a:r>
          </a:p>
        </p:txBody>
      </p:sp>
      <p:sp>
        <p:nvSpPr>
          <p:cNvPr id="8" name="ZoneTexte 7">
            <a:extLst>
              <a:ext uri="{FF2B5EF4-FFF2-40B4-BE49-F238E27FC236}">
                <a16:creationId xmlns:a16="http://schemas.microsoft.com/office/drawing/2014/main" id="{14DCBD40-8B44-67C4-5B77-5B101B9778BC}"/>
              </a:ext>
            </a:extLst>
          </p:cNvPr>
          <p:cNvSpPr txBox="1"/>
          <p:nvPr/>
        </p:nvSpPr>
        <p:spPr>
          <a:xfrm>
            <a:off x="502920" y="544009"/>
            <a:ext cx="7913292" cy="2431435"/>
          </a:xfrm>
          <a:prstGeom prst="rect">
            <a:avLst/>
          </a:prstGeom>
          <a:noFill/>
        </p:spPr>
        <p:txBody>
          <a:bodyPr wrap="square">
            <a:spAutoFit/>
          </a:bodyPr>
          <a:lstStyle/>
          <a:p>
            <a:pPr>
              <a:buNone/>
            </a:pPr>
            <a:r>
              <a:rPr lang="fr-FR" sz="1600" dirty="0">
                <a:solidFill>
                  <a:srgbClr val="141991"/>
                </a:solidFill>
              </a:rPr>
              <a:t>La fonctionnalité Modification de notices par lot permet d’appliquer une même modification à plusieurs notices bibliographiques simultanément, sans avoir à ouvrir et corriger chaque notice individuellement. Elle fait partie des outils de traitements par lot de Koha.</a:t>
            </a:r>
          </a:p>
          <a:p>
            <a:pPr>
              <a:buNone/>
            </a:pPr>
            <a:endParaRPr lang="fr-FR" sz="1600" dirty="0">
              <a:solidFill>
                <a:srgbClr val="141991"/>
              </a:solidFill>
            </a:endParaRPr>
          </a:p>
          <a:p>
            <a:pPr>
              <a:buNone/>
            </a:pPr>
            <a:r>
              <a:rPr lang="fr-FR" sz="1200" dirty="0">
                <a:solidFill>
                  <a:srgbClr val="141991"/>
                </a:solidFill>
              </a:rPr>
              <a:t>Elle peut être utilisée, par exemple, pour ajouter, supprimer ou modifier une information MARC sur un ensemble de notices préalablement identifié. Les notices concernées doivent donc être sélectionnées avec précision, puis la règle de modification à appliquer doit être définie avant le lancement du traitement.</a:t>
            </a:r>
          </a:p>
          <a:p>
            <a:pPr>
              <a:buNone/>
            </a:pPr>
            <a:endParaRPr lang="fr-FR" sz="1200" dirty="0">
              <a:solidFill>
                <a:srgbClr val="141991"/>
              </a:solidFill>
            </a:endParaRPr>
          </a:p>
          <a:p>
            <a:pPr>
              <a:buNone/>
            </a:pPr>
            <a:r>
              <a:rPr lang="fr-FR" sz="1200" dirty="0">
                <a:solidFill>
                  <a:srgbClr val="141991"/>
                </a:solidFill>
              </a:rPr>
              <a:t>Cette fonctionnalité est particulièrement efficace pour les opérations de normalisation et de correction de données, mais elle nécessite une grande vigilance : une erreur dans la sélection ou dans la règle appliquée peut être répercutée sur un grand nombre de notices.</a:t>
            </a:r>
            <a:endParaRPr lang="fr-FR" sz="1600" dirty="0">
              <a:solidFill>
                <a:srgbClr val="141991"/>
              </a:solidFill>
            </a:endParaRPr>
          </a:p>
        </p:txBody>
      </p:sp>
      <p:pic>
        <p:nvPicPr>
          <p:cNvPr id="5" name="Image 4">
            <a:extLst>
              <a:ext uri="{FF2B5EF4-FFF2-40B4-BE49-F238E27FC236}">
                <a16:creationId xmlns:a16="http://schemas.microsoft.com/office/drawing/2014/main" id="{A19B7BE7-6061-7FE8-35DD-3BDCFE9D096C}"/>
              </a:ext>
            </a:extLst>
          </p:cNvPr>
          <p:cNvPicPr>
            <a:picLocks noChangeAspect="1"/>
          </p:cNvPicPr>
          <p:nvPr/>
        </p:nvPicPr>
        <p:blipFill>
          <a:blip r:embed="rId2"/>
          <a:stretch>
            <a:fillRect/>
          </a:stretch>
        </p:blipFill>
        <p:spPr>
          <a:xfrm>
            <a:off x="1041453" y="2975444"/>
            <a:ext cx="6836226" cy="3654634"/>
          </a:xfrm>
          <a:prstGeom prst="rect">
            <a:avLst/>
          </a:prstGeom>
        </p:spPr>
      </p:pic>
    </p:spTree>
    <p:extLst>
      <p:ext uri="{BB962C8B-B14F-4D97-AF65-F5344CB8AC3E}">
        <p14:creationId xmlns:p14="http://schemas.microsoft.com/office/powerpoint/2010/main" val="1645014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30320D-2D5F-3E4E-A74F-F63B0CDF787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653063-3E51-E33F-A578-36E373D416F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54F1E3DA-AD48-5FE6-E8B5-145D28856365}"/>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0FB2F8E3-E961-D369-8D24-F0CFBC774D21}"/>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Modification de notices par lot</a:t>
            </a:r>
          </a:p>
          <a:p>
            <a:pPr>
              <a:defRPr sz="1600" b="1">
                <a:solidFill>
                  <a:srgbClr val="FFFFFF"/>
                </a:solidFill>
              </a:defRPr>
            </a:pPr>
            <a:endParaRPr lang="fr-FR" sz="2400" dirty="0"/>
          </a:p>
          <a:p>
            <a:pPr>
              <a:defRPr sz="1600" b="1">
                <a:solidFill>
                  <a:srgbClr val="FFFFFF"/>
                </a:solidFill>
              </a:defRPr>
            </a:pPr>
            <a:r>
              <a:rPr lang="fr-FR" sz="2400" dirty="0"/>
              <a:t>Sélectionner les notices à traiter</a:t>
            </a:r>
          </a:p>
        </p:txBody>
      </p:sp>
      <p:sp>
        <p:nvSpPr>
          <p:cNvPr id="8" name="ZoneTexte 7">
            <a:extLst>
              <a:ext uri="{FF2B5EF4-FFF2-40B4-BE49-F238E27FC236}">
                <a16:creationId xmlns:a16="http://schemas.microsoft.com/office/drawing/2014/main" id="{5C31502B-DD44-5BA3-845C-6A64DE7A65D9}"/>
              </a:ext>
            </a:extLst>
          </p:cNvPr>
          <p:cNvSpPr txBox="1"/>
          <p:nvPr/>
        </p:nvSpPr>
        <p:spPr>
          <a:xfrm>
            <a:off x="502920" y="544009"/>
            <a:ext cx="7913292" cy="5262979"/>
          </a:xfrm>
          <a:prstGeom prst="rect">
            <a:avLst/>
          </a:prstGeom>
          <a:noFill/>
        </p:spPr>
        <p:txBody>
          <a:bodyPr wrap="square">
            <a:spAutoFit/>
          </a:bodyPr>
          <a:lstStyle/>
          <a:p>
            <a:pPr>
              <a:buNone/>
            </a:pPr>
            <a:r>
              <a:rPr lang="fr-FR" sz="1600" dirty="0">
                <a:solidFill>
                  <a:srgbClr val="141991"/>
                </a:solidFill>
              </a:rPr>
              <a:t>Avant d’appliquer un modèle de modification MARC, Koha doit connaître précisément l’ensemble des notices sur lesquelles le traitement sera effectué. </a:t>
            </a:r>
          </a:p>
          <a:p>
            <a:pPr>
              <a:buNone/>
            </a:pPr>
            <a:endParaRPr lang="fr-FR" sz="1600" dirty="0">
              <a:solidFill>
                <a:srgbClr val="141991"/>
              </a:solidFill>
            </a:endParaRPr>
          </a:p>
          <a:p>
            <a:pPr>
              <a:buNone/>
            </a:pPr>
            <a:r>
              <a:rPr lang="fr-FR" sz="1600" dirty="0">
                <a:solidFill>
                  <a:srgbClr val="141991"/>
                </a:solidFill>
              </a:rPr>
              <a:t>Plusieurs méthodes permettent de constituer ce lot.</a:t>
            </a:r>
          </a:p>
          <a:p>
            <a:pPr>
              <a:buNone/>
            </a:pPr>
            <a:endParaRPr lang="fr-FR" sz="1600" dirty="0">
              <a:solidFill>
                <a:srgbClr val="141991"/>
              </a:solidFill>
            </a:endParaRPr>
          </a:p>
          <a:p>
            <a:pPr marL="285750" indent="-285750">
              <a:buFont typeface="Wingdings" panose="05000000000000000000" pitchFamily="2" charset="2"/>
              <a:buChar char="§"/>
            </a:pPr>
            <a:r>
              <a:rPr lang="fr-FR" sz="1600" dirty="0">
                <a:solidFill>
                  <a:srgbClr val="141991"/>
                </a:solidFill>
              </a:rPr>
              <a:t>Télécharger un fichier permet de fournir à Koha un fichier contenant les identifiants des notices à modifier. Cette méthode est particulièrement adaptée lorsqu’une sélection a été préparée ou extraite préalablement.</a:t>
            </a:r>
          </a:p>
          <a:p>
            <a:pPr marL="285750" indent="-285750">
              <a:buFont typeface="Wingdings" panose="05000000000000000000" pitchFamily="2" charset="2"/>
              <a:buChar char="§"/>
            </a:pPr>
            <a:r>
              <a:rPr lang="fr-FR" sz="1600" dirty="0">
                <a:solidFill>
                  <a:srgbClr val="141991"/>
                </a:solidFill>
              </a:rPr>
              <a:t>Sélectionner une liste de notices permet d’utiliser directement une liste déjà constituée dans Koha. Cette solution est pratique lorsque les notices ont été repérées et regroupées en amont à partir du catalogue.</a:t>
            </a:r>
          </a:p>
          <a:p>
            <a:pPr marL="285750" indent="-285750">
              <a:buFont typeface="Wingdings" panose="05000000000000000000" pitchFamily="2" charset="2"/>
              <a:buChar char="§"/>
            </a:pPr>
            <a:r>
              <a:rPr lang="fr-FR" sz="1600" dirty="0">
                <a:solidFill>
                  <a:srgbClr val="141991"/>
                </a:solidFill>
              </a:rPr>
              <a:t>Entrer une liste de numéros de notices permet de saisir ou de copier directement les numéros des notices bibliographiques concernées. Cette méthode convient particulièrement à un ensemble limité et précisément identifié.</a:t>
            </a:r>
          </a:p>
          <a:p>
            <a:pPr marL="285750" indent="-285750">
              <a:buFont typeface="Wingdings" panose="05000000000000000000" pitchFamily="2" charset="2"/>
              <a:buChar char="§"/>
            </a:pPr>
            <a:endParaRPr lang="fr-FR" sz="1600" dirty="0">
              <a:solidFill>
                <a:srgbClr val="141991"/>
              </a:solidFill>
            </a:endParaRPr>
          </a:p>
          <a:p>
            <a:pPr>
              <a:buNone/>
            </a:pPr>
            <a:r>
              <a:rPr lang="fr-FR" sz="1600" dirty="0">
                <a:solidFill>
                  <a:srgbClr val="141991"/>
                </a:solidFill>
              </a:rPr>
              <a:t>Une fois le lot constitué, Koha permet d’appliquer le modèle de transformation MARC choisi à l’ensemble des notices sélectionnées.</a:t>
            </a:r>
          </a:p>
          <a:p>
            <a:pPr>
              <a:buNone/>
            </a:pPr>
            <a:endParaRPr lang="fr-FR" sz="1600" dirty="0">
              <a:solidFill>
                <a:srgbClr val="141991"/>
              </a:solidFill>
            </a:endParaRPr>
          </a:p>
          <a:p>
            <a:pPr>
              <a:buNone/>
            </a:pPr>
            <a:r>
              <a:rPr lang="fr-FR" sz="1600" b="1" dirty="0">
                <a:solidFill>
                  <a:srgbClr val="141991"/>
                </a:solidFill>
              </a:rPr>
              <a:t>À retenir</a:t>
            </a:r>
            <a:r>
              <a:rPr lang="fr-FR" sz="1600" dirty="0">
                <a:solidFill>
                  <a:srgbClr val="141991"/>
                </a:solidFill>
              </a:rPr>
              <a:t> : quelle que soit la méthode utilisée, la première étape consiste toujours à contrôler précisément la sélection des notices. Une erreur de sélection peut entraîner l'application de la modification MARC à des notices qui ne devaient pas être concernées.</a:t>
            </a:r>
          </a:p>
        </p:txBody>
      </p:sp>
    </p:spTree>
    <p:extLst>
      <p:ext uri="{BB962C8B-B14F-4D97-AF65-F5344CB8AC3E}">
        <p14:creationId xmlns:p14="http://schemas.microsoft.com/office/powerpoint/2010/main" val="4229457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3F36E8-CF20-20CE-EF1C-284B2465B4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5F3427-F908-4034-130A-EC4DE53E4066}"/>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E6FF5D6C-0C09-D294-3366-E0D37D50195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11242CA1-2941-8ADA-92A8-63A9A8812FE3}"/>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Modification de notices par lot</a:t>
            </a:r>
            <a:br>
              <a:rPr lang="fr-FR" sz="2400" dirty="0"/>
            </a:br>
            <a:br>
              <a:rPr lang="fr-FR" sz="2400" dirty="0"/>
            </a:br>
            <a:r>
              <a:rPr lang="fr-FR" sz="2400" dirty="0"/>
              <a:t>Modèles de transformation MARC</a:t>
            </a:r>
          </a:p>
        </p:txBody>
      </p:sp>
      <p:sp>
        <p:nvSpPr>
          <p:cNvPr id="8" name="ZoneTexte 7">
            <a:extLst>
              <a:ext uri="{FF2B5EF4-FFF2-40B4-BE49-F238E27FC236}">
                <a16:creationId xmlns:a16="http://schemas.microsoft.com/office/drawing/2014/main" id="{599757F7-2AFA-DD12-8679-40F41AE3C25D}"/>
              </a:ext>
            </a:extLst>
          </p:cNvPr>
          <p:cNvSpPr txBox="1"/>
          <p:nvPr/>
        </p:nvSpPr>
        <p:spPr>
          <a:xfrm>
            <a:off x="502920" y="544009"/>
            <a:ext cx="7913292" cy="1323439"/>
          </a:xfrm>
          <a:prstGeom prst="rect">
            <a:avLst/>
          </a:prstGeom>
          <a:noFill/>
        </p:spPr>
        <p:txBody>
          <a:bodyPr wrap="square">
            <a:spAutoFit/>
          </a:bodyPr>
          <a:lstStyle/>
          <a:p>
            <a:pPr>
              <a:buNone/>
            </a:pPr>
            <a:r>
              <a:rPr lang="fr-FR" sz="1600" dirty="0">
                <a:solidFill>
                  <a:srgbClr val="141991"/>
                </a:solidFill>
              </a:rPr>
              <a:t>Cet outil permet de modifier par lot des notices bibliographiques et des notices d’autorité à l’aide de modèles de modification MARC.</a:t>
            </a:r>
          </a:p>
          <a:p>
            <a:pPr>
              <a:buNone/>
            </a:pPr>
            <a:endParaRPr lang="fr-FR" sz="1600" dirty="0">
              <a:solidFill>
                <a:srgbClr val="141991"/>
              </a:solidFill>
            </a:endParaRPr>
          </a:p>
          <a:p>
            <a:pPr>
              <a:buNone/>
            </a:pPr>
            <a:r>
              <a:rPr lang="fr-FR" sz="1600" dirty="0">
                <a:solidFill>
                  <a:srgbClr val="141991"/>
                </a:solidFill>
              </a:rPr>
              <a:t>Avant d’utiliser cet outil, il est nécessaire d’avoir créé au moins un modèle de modification MARC</a:t>
            </a:r>
          </a:p>
        </p:txBody>
      </p:sp>
      <p:pic>
        <p:nvPicPr>
          <p:cNvPr id="4" name="Image 3">
            <a:extLst>
              <a:ext uri="{FF2B5EF4-FFF2-40B4-BE49-F238E27FC236}">
                <a16:creationId xmlns:a16="http://schemas.microsoft.com/office/drawing/2014/main" id="{DBB45535-9CD1-C980-A6BD-DA92345AC49C}"/>
              </a:ext>
            </a:extLst>
          </p:cNvPr>
          <p:cNvPicPr>
            <a:picLocks noChangeAspect="1"/>
          </p:cNvPicPr>
          <p:nvPr/>
        </p:nvPicPr>
        <p:blipFill>
          <a:blip r:embed="rId2"/>
          <a:stretch>
            <a:fillRect/>
          </a:stretch>
        </p:blipFill>
        <p:spPr>
          <a:xfrm>
            <a:off x="2082747" y="2585920"/>
            <a:ext cx="4753638" cy="1686160"/>
          </a:xfrm>
          <a:prstGeom prst="rect">
            <a:avLst/>
          </a:prstGeom>
        </p:spPr>
      </p:pic>
      <p:pic>
        <p:nvPicPr>
          <p:cNvPr id="10" name="Image 9">
            <a:extLst>
              <a:ext uri="{FF2B5EF4-FFF2-40B4-BE49-F238E27FC236}">
                <a16:creationId xmlns:a16="http://schemas.microsoft.com/office/drawing/2014/main" id="{662C116F-E950-5FBF-E30D-BA75F16FDD3C}"/>
              </a:ext>
            </a:extLst>
          </p:cNvPr>
          <p:cNvPicPr>
            <a:picLocks noChangeAspect="1"/>
          </p:cNvPicPr>
          <p:nvPr/>
        </p:nvPicPr>
        <p:blipFill>
          <a:blip r:embed="rId3"/>
          <a:stretch>
            <a:fillRect/>
          </a:stretch>
        </p:blipFill>
        <p:spPr>
          <a:xfrm>
            <a:off x="2211352" y="4694515"/>
            <a:ext cx="4496427" cy="1619476"/>
          </a:xfrm>
          <a:prstGeom prst="rect">
            <a:avLst/>
          </a:prstGeom>
        </p:spPr>
      </p:pic>
    </p:spTree>
    <p:extLst>
      <p:ext uri="{BB962C8B-B14F-4D97-AF65-F5344CB8AC3E}">
        <p14:creationId xmlns:p14="http://schemas.microsoft.com/office/powerpoint/2010/main" val="1669269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57FAD52-7E2F-F3D6-2C09-9DAEA99AAF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B06965-B6EC-2013-5ACD-728259D0DC91}"/>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D79D233-D699-7A01-E9B9-059364391A4C}"/>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BC524C56-6CBE-F3B2-32DC-B48491E0BC52}"/>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Modification de notices par lot</a:t>
            </a:r>
            <a:br>
              <a:rPr lang="fr-FR" sz="2400" dirty="0"/>
            </a:br>
            <a:br>
              <a:rPr lang="fr-FR" sz="2400" dirty="0"/>
            </a:br>
            <a:r>
              <a:rPr lang="fr-FR" sz="2400" dirty="0"/>
              <a:t>Modèles de transformation MARC</a:t>
            </a:r>
          </a:p>
        </p:txBody>
      </p:sp>
      <p:sp>
        <p:nvSpPr>
          <p:cNvPr id="8" name="ZoneTexte 7">
            <a:extLst>
              <a:ext uri="{FF2B5EF4-FFF2-40B4-BE49-F238E27FC236}">
                <a16:creationId xmlns:a16="http://schemas.microsoft.com/office/drawing/2014/main" id="{0A0CDD19-40A6-278B-E1A1-8F789C4768D0}"/>
              </a:ext>
            </a:extLst>
          </p:cNvPr>
          <p:cNvSpPr txBox="1"/>
          <p:nvPr/>
        </p:nvSpPr>
        <p:spPr>
          <a:xfrm>
            <a:off x="502920" y="544009"/>
            <a:ext cx="7913292" cy="584775"/>
          </a:xfrm>
          <a:prstGeom prst="rect">
            <a:avLst/>
          </a:prstGeom>
          <a:noFill/>
        </p:spPr>
        <p:txBody>
          <a:bodyPr wrap="square">
            <a:spAutoFit/>
          </a:bodyPr>
          <a:lstStyle/>
          <a:p>
            <a:pPr>
              <a:buNone/>
            </a:pPr>
            <a:r>
              <a:rPr lang="fr-FR" sz="1600" dirty="0">
                <a:solidFill>
                  <a:srgbClr val="141991"/>
                </a:solidFill>
              </a:rPr>
              <a:t>Dans cet exemple, on va ajouter la mention « Provient de la DRAC Normandie » dans le champ 300$a dans les notices sélectionnées </a:t>
            </a:r>
          </a:p>
        </p:txBody>
      </p:sp>
      <p:pic>
        <p:nvPicPr>
          <p:cNvPr id="5" name="Image 4">
            <a:extLst>
              <a:ext uri="{FF2B5EF4-FFF2-40B4-BE49-F238E27FC236}">
                <a16:creationId xmlns:a16="http://schemas.microsoft.com/office/drawing/2014/main" id="{579C68F3-A27D-EE9F-A23C-F01FC1685E86}"/>
              </a:ext>
            </a:extLst>
          </p:cNvPr>
          <p:cNvPicPr>
            <a:picLocks noChangeAspect="1"/>
          </p:cNvPicPr>
          <p:nvPr/>
        </p:nvPicPr>
        <p:blipFill>
          <a:blip r:embed="rId2"/>
          <a:stretch>
            <a:fillRect/>
          </a:stretch>
        </p:blipFill>
        <p:spPr>
          <a:xfrm>
            <a:off x="502920" y="1627155"/>
            <a:ext cx="5492618" cy="4686836"/>
          </a:xfrm>
          <a:prstGeom prst="rect">
            <a:avLst/>
          </a:prstGeom>
        </p:spPr>
      </p:pic>
      <p:sp>
        <p:nvSpPr>
          <p:cNvPr id="6" name="ZoneTexte 5">
            <a:extLst>
              <a:ext uri="{FF2B5EF4-FFF2-40B4-BE49-F238E27FC236}">
                <a16:creationId xmlns:a16="http://schemas.microsoft.com/office/drawing/2014/main" id="{9E4C34CA-7808-C635-8981-5DB057E0DE57}"/>
              </a:ext>
            </a:extLst>
          </p:cNvPr>
          <p:cNvSpPr txBox="1"/>
          <p:nvPr/>
        </p:nvSpPr>
        <p:spPr>
          <a:xfrm>
            <a:off x="6196464" y="2260842"/>
            <a:ext cx="2219748" cy="954107"/>
          </a:xfrm>
          <a:prstGeom prst="rect">
            <a:avLst/>
          </a:prstGeom>
          <a:noFill/>
        </p:spPr>
        <p:txBody>
          <a:bodyPr wrap="square">
            <a:spAutoFit/>
          </a:bodyPr>
          <a:lstStyle/>
          <a:p>
            <a:pPr>
              <a:buNone/>
            </a:pPr>
            <a:r>
              <a:rPr lang="fr-FR" sz="1400" dirty="0">
                <a:solidFill>
                  <a:srgbClr val="141991"/>
                </a:solidFill>
              </a:rPr>
              <a:t>Télécharger lot de notices depuis un rapport SQL. Dans Excel, récupérer les numéros de notices</a:t>
            </a:r>
          </a:p>
        </p:txBody>
      </p:sp>
    </p:spTree>
    <p:extLst>
      <p:ext uri="{BB962C8B-B14F-4D97-AF65-F5344CB8AC3E}">
        <p14:creationId xmlns:p14="http://schemas.microsoft.com/office/powerpoint/2010/main" val="2854139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81F58A-39DA-E1DB-6E61-1D393A41B7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9FED17-1627-E308-783C-26D0CC4D104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D2F0FC28-1CA1-D0CB-CD5F-39C0E482E4C0}"/>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47F93A8F-C1CB-84B9-5E1B-CB5965E79CE4}"/>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Modification de notices par lot</a:t>
            </a:r>
            <a:br>
              <a:rPr lang="fr-FR" sz="2400" dirty="0"/>
            </a:br>
            <a:br>
              <a:rPr lang="fr-FR" sz="2400" dirty="0"/>
            </a:br>
            <a:r>
              <a:rPr lang="fr-FR" sz="2400" dirty="0"/>
              <a:t>Modèles de transformation MARC</a:t>
            </a:r>
          </a:p>
        </p:txBody>
      </p:sp>
      <p:sp>
        <p:nvSpPr>
          <p:cNvPr id="8" name="ZoneTexte 7">
            <a:extLst>
              <a:ext uri="{FF2B5EF4-FFF2-40B4-BE49-F238E27FC236}">
                <a16:creationId xmlns:a16="http://schemas.microsoft.com/office/drawing/2014/main" id="{77A5197C-9C22-2385-9C98-EBFE31113C0E}"/>
              </a:ext>
            </a:extLst>
          </p:cNvPr>
          <p:cNvSpPr txBox="1"/>
          <p:nvPr/>
        </p:nvSpPr>
        <p:spPr>
          <a:xfrm>
            <a:off x="502920" y="544009"/>
            <a:ext cx="7913292" cy="584775"/>
          </a:xfrm>
          <a:prstGeom prst="rect">
            <a:avLst/>
          </a:prstGeom>
          <a:noFill/>
        </p:spPr>
        <p:txBody>
          <a:bodyPr wrap="square">
            <a:spAutoFit/>
          </a:bodyPr>
          <a:lstStyle/>
          <a:p>
            <a:pPr>
              <a:buNone/>
            </a:pPr>
            <a:r>
              <a:rPr lang="fr-FR" sz="1600" dirty="0">
                <a:solidFill>
                  <a:srgbClr val="141991"/>
                </a:solidFill>
              </a:rPr>
              <a:t>Dans cet exemple, on va ajouter la mention « Provient de la DRAC Normandie » dans le champ 300$a dans les notices sélectionnées </a:t>
            </a:r>
          </a:p>
        </p:txBody>
      </p:sp>
      <p:pic>
        <p:nvPicPr>
          <p:cNvPr id="4" name="Image 3">
            <a:extLst>
              <a:ext uri="{FF2B5EF4-FFF2-40B4-BE49-F238E27FC236}">
                <a16:creationId xmlns:a16="http://schemas.microsoft.com/office/drawing/2014/main" id="{4A096453-C18A-AB1D-0B8C-1DE58767680B}"/>
              </a:ext>
            </a:extLst>
          </p:cNvPr>
          <p:cNvPicPr>
            <a:picLocks noChangeAspect="1"/>
          </p:cNvPicPr>
          <p:nvPr/>
        </p:nvPicPr>
        <p:blipFill>
          <a:blip r:embed="rId2"/>
          <a:stretch>
            <a:fillRect/>
          </a:stretch>
        </p:blipFill>
        <p:spPr>
          <a:xfrm>
            <a:off x="1106298" y="1299536"/>
            <a:ext cx="6706536" cy="2019582"/>
          </a:xfrm>
          <a:prstGeom prst="rect">
            <a:avLst/>
          </a:prstGeom>
        </p:spPr>
      </p:pic>
      <p:pic>
        <p:nvPicPr>
          <p:cNvPr id="11" name="Image 10">
            <a:extLst>
              <a:ext uri="{FF2B5EF4-FFF2-40B4-BE49-F238E27FC236}">
                <a16:creationId xmlns:a16="http://schemas.microsoft.com/office/drawing/2014/main" id="{B9DB65C2-0727-91DB-76C6-C4007CA8D295}"/>
              </a:ext>
            </a:extLst>
          </p:cNvPr>
          <p:cNvPicPr>
            <a:picLocks noChangeAspect="1"/>
          </p:cNvPicPr>
          <p:nvPr/>
        </p:nvPicPr>
        <p:blipFill>
          <a:blip r:embed="rId3"/>
          <a:stretch>
            <a:fillRect/>
          </a:stretch>
        </p:blipFill>
        <p:spPr>
          <a:xfrm>
            <a:off x="1106298" y="3228610"/>
            <a:ext cx="6334248" cy="3509418"/>
          </a:xfrm>
          <a:prstGeom prst="rect">
            <a:avLst/>
          </a:prstGeom>
        </p:spPr>
      </p:pic>
    </p:spTree>
    <p:extLst>
      <p:ext uri="{BB962C8B-B14F-4D97-AF65-F5344CB8AC3E}">
        <p14:creationId xmlns:p14="http://schemas.microsoft.com/office/powerpoint/2010/main" val="3285756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C428DD-71FE-DE8F-FE25-5B02297338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473FBF-76C5-CE80-D823-02244B93F16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B59B2E02-2BA0-ED04-DA3A-925B732BCAD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ZoneTexte 7">
            <a:extLst>
              <a:ext uri="{FF2B5EF4-FFF2-40B4-BE49-F238E27FC236}">
                <a16:creationId xmlns:a16="http://schemas.microsoft.com/office/drawing/2014/main" id="{8E42DF53-34E3-5731-A425-646684E1F7EB}"/>
              </a:ext>
            </a:extLst>
          </p:cNvPr>
          <p:cNvSpPr txBox="1"/>
          <p:nvPr/>
        </p:nvSpPr>
        <p:spPr>
          <a:xfrm>
            <a:off x="502920" y="544009"/>
            <a:ext cx="7913292" cy="584775"/>
          </a:xfrm>
          <a:prstGeom prst="rect">
            <a:avLst/>
          </a:prstGeom>
          <a:noFill/>
        </p:spPr>
        <p:txBody>
          <a:bodyPr wrap="square">
            <a:spAutoFit/>
          </a:bodyPr>
          <a:lstStyle/>
          <a:p>
            <a:pPr>
              <a:buNone/>
            </a:pPr>
            <a:r>
              <a:rPr lang="fr-FR" sz="1600" dirty="0">
                <a:solidFill>
                  <a:srgbClr val="141991"/>
                </a:solidFill>
              </a:rPr>
              <a:t>Dans cet exemple, on va ajouter la mention « Provient de la DRAC Normandie » dans le champ 300$a dans les notices sélectionnées </a:t>
            </a:r>
          </a:p>
        </p:txBody>
      </p:sp>
      <p:pic>
        <p:nvPicPr>
          <p:cNvPr id="5" name="Image 4">
            <a:extLst>
              <a:ext uri="{FF2B5EF4-FFF2-40B4-BE49-F238E27FC236}">
                <a16:creationId xmlns:a16="http://schemas.microsoft.com/office/drawing/2014/main" id="{28318A72-3979-8D1F-AA93-64663ED5CBF4}"/>
              </a:ext>
            </a:extLst>
          </p:cNvPr>
          <p:cNvPicPr>
            <a:picLocks noChangeAspect="1"/>
          </p:cNvPicPr>
          <p:nvPr/>
        </p:nvPicPr>
        <p:blipFill>
          <a:blip r:embed="rId2"/>
          <a:stretch>
            <a:fillRect/>
          </a:stretch>
        </p:blipFill>
        <p:spPr>
          <a:xfrm>
            <a:off x="389460" y="1234167"/>
            <a:ext cx="11067294" cy="3946850"/>
          </a:xfrm>
          <a:prstGeom prst="rect">
            <a:avLst/>
          </a:prstGeom>
        </p:spPr>
      </p:pic>
      <p:pic>
        <p:nvPicPr>
          <p:cNvPr id="10" name="Image 9">
            <a:extLst>
              <a:ext uri="{FF2B5EF4-FFF2-40B4-BE49-F238E27FC236}">
                <a16:creationId xmlns:a16="http://schemas.microsoft.com/office/drawing/2014/main" id="{97FF1B54-1BCE-1A66-D594-048022EF82D0}"/>
              </a:ext>
            </a:extLst>
          </p:cNvPr>
          <p:cNvPicPr>
            <a:picLocks noChangeAspect="1"/>
          </p:cNvPicPr>
          <p:nvPr/>
        </p:nvPicPr>
        <p:blipFill>
          <a:blip r:embed="rId3"/>
          <a:stretch>
            <a:fillRect/>
          </a:stretch>
        </p:blipFill>
        <p:spPr>
          <a:xfrm>
            <a:off x="389460" y="5781252"/>
            <a:ext cx="3343742" cy="485843"/>
          </a:xfrm>
          <a:prstGeom prst="rect">
            <a:avLst/>
          </a:prstGeom>
        </p:spPr>
      </p:pic>
      <p:cxnSp>
        <p:nvCxnSpPr>
          <p:cNvPr id="13" name="Connecteur droit avec flèche 12">
            <a:extLst>
              <a:ext uri="{FF2B5EF4-FFF2-40B4-BE49-F238E27FC236}">
                <a16:creationId xmlns:a16="http://schemas.microsoft.com/office/drawing/2014/main" id="{674312EC-2A21-47FF-86B9-7A90EC413FCC}"/>
              </a:ext>
            </a:extLst>
          </p:cNvPr>
          <p:cNvCxnSpPr/>
          <p:nvPr/>
        </p:nvCxnSpPr>
        <p:spPr>
          <a:xfrm>
            <a:off x="746450" y="5181017"/>
            <a:ext cx="0" cy="5598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8403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2BEA1C-F093-DCEA-8671-7A9A7EA925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5A92C3-5EE8-685D-21C7-74C57C0E661E}"/>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BD2B1870-8604-A754-9A2D-DB4CA398FD0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A3CDEB2A-7EC5-AA74-F1DE-70789FB18BBD}"/>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Imports de données </a:t>
            </a:r>
          </a:p>
        </p:txBody>
      </p:sp>
      <p:sp>
        <p:nvSpPr>
          <p:cNvPr id="8" name="ZoneTexte 7">
            <a:extLst>
              <a:ext uri="{FF2B5EF4-FFF2-40B4-BE49-F238E27FC236}">
                <a16:creationId xmlns:a16="http://schemas.microsoft.com/office/drawing/2014/main" id="{67B714FE-34A9-43F4-A3ED-77A0AECE8C64}"/>
              </a:ext>
            </a:extLst>
          </p:cNvPr>
          <p:cNvSpPr txBox="1"/>
          <p:nvPr/>
        </p:nvSpPr>
        <p:spPr>
          <a:xfrm>
            <a:off x="502920" y="544009"/>
            <a:ext cx="7913292" cy="3785652"/>
          </a:xfrm>
          <a:prstGeom prst="rect">
            <a:avLst/>
          </a:prstGeom>
          <a:noFill/>
        </p:spPr>
        <p:txBody>
          <a:bodyPr wrap="square">
            <a:spAutoFit/>
          </a:bodyPr>
          <a:lstStyle/>
          <a:p>
            <a:pPr>
              <a:buNone/>
            </a:pPr>
            <a:r>
              <a:rPr lang="fr-FR" sz="1600" dirty="0">
                <a:solidFill>
                  <a:srgbClr val="141991"/>
                </a:solidFill>
              </a:rPr>
              <a:t>La fonctionnalité Imports de données permet d’intégrer dans Koha des notices bibliographiques provenant d’une source extérieure. Il peut s’agir, par exemple, de notices récupérées auprès d’un autre catalogue, issues d’une ancienne base documentaire ou préparées dans le cadre d’une opération de migration.</a:t>
            </a:r>
            <a:br>
              <a:rPr lang="fr-FR" sz="1600" dirty="0">
                <a:solidFill>
                  <a:srgbClr val="141991"/>
                </a:solidFill>
              </a:rPr>
            </a:br>
            <a:br>
              <a:rPr lang="fr-FR" sz="1600" dirty="0">
                <a:solidFill>
                  <a:srgbClr val="141991"/>
                </a:solidFill>
              </a:rPr>
            </a:br>
            <a:r>
              <a:rPr lang="fr-FR" sz="1600" b="1" dirty="0">
                <a:solidFill>
                  <a:srgbClr val="141991"/>
                </a:solidFill>
              </a:rPr>
              <a:t>Tester avant d’intervenir en production</a:t>
            </a:r>
            <a:br>
              <a:rPr lang="fr-FR" sz="1600" dirty="0">
                <a:solidFill>
                  <a:srgbClr val="141991"/>
                </a:solidFill>
              </a:rPr>
            </a:br>
            <a:r>
              <a:rPr lang="fr-FR" sz="1600" dirty="0">
                <a:solidFill>
                  <a:srgbClr val="141991"/>
                </a:solidFill>
              </a:rPr>
              <a:t>Toute opération d’import ou de modification en masse doit être testée au préalable dans la base de test. Cette étape permet de vérifier le résultat, de détecter d’éventuelles anomalies et de sécuriser l’opération avant son application au catalogue réel.</a:t>
            </a:r>
          </a:p>
          <a:p>
            <a:pPr>
              <a:buNone/>
            </a:pPr>
            <a:endParaRPr lang="fr-FR" sz="1600" dirty="0">
              <a:solidFill>
                <a:srgbClr val="141991"/>
              </a:solidFill>
            </a:endParaRPr>
          </a:p>
          <a:p>
            <a:pPr>
              <a:buNone/>
            </a:pPr>
            <a:r>
              <a:rPr lang="fr-FR" sz="1600" dirty="0">
                <a:solidFill>
                  <a:srgbClr val="141991"/>
                </a:solidFill>
              </a:rPr>
              <a:t>Pour un traitement en base de production, le niveau de validation dépendra notamment de la volumétrie concernée : plus le nombre de notices ou d’exemplaires impactés est important, plus le risque doit être évalué. Au-delà du périmètre autorisé à l’administrateur DRAC, l’accord du responsable SIGB devra être demandé avant toute intervention.</a:t>
            </a:r>
            <a:br>
              <a:rPr lang="fr-FR" sz="1600" dirty="0">
                <a:solidFill>
                  <a:srgbClr val="141991"/>
                </a:solidFill>
              </a:rPr>
            </a:br>
            <a:endParaRPr lang="fr-FR" sz="1600" dirty="0">
              <a:solidFill>
                <a:srgbClr val="141991"/>
              </a:solidFill>
            </a:endParaRPr>
          </a:p>
        </p:txBody>
      </p:sp>
      <p:pic>
        <p:nvPicPr>
          <p:cNvPr id="5" name="Image 4">
            <a:extLst>
              <a:ext uri="{FF2B5EF4-FFF2-40B4-BE49-F238E27FC236}">
                <a16:creationId xmlns:a16="http://schemas.microsoft.com/office/drawing/2014/main" id="{218C91BE-5B78-93F2-65A9-9ABAFF801530}"/>
              </a:ext>
            </a:extLst>
          </p:cNvPr>
          <p:cNvPicPr>
            <a:picLocks noChangeAspect="1"/>
          </p:cNvPicPr>
          <p:nvPr/>
        </p:nvPicPr>
        <p:blipFill>
          <a:blip r:embed="rId2"/>
          <a:stretch>
            <a:fillRect/>
          </a:stretch>
        </p:blipFill>
        <p:spPr>
          <a:xfrm>
            <a:off x="502920" y="4456805"/>
            <a:ext cx="2867425" cy="1676634"/>
          </a:xfrm>
          <a:prstGeom prst="rect">
            <a:avLst/>
          </a:prstGeom>
        </p:spPr>
      </p:pic>
      <p:pic>
        <p:nvPicPr>
          <p:cNvPr id="11" name="Image 10">
            <a:extLst>
              <a:ext uri="{FF2B5EF4-FFF2-40B4-BE49-F238E27FC236}">
                <a16:creationId xmlns:a16="http://schemas.microsoft.com/office/drawing/2014/main" id="{DC09B438-D7B9-A719-F0B2-8D4001FA6AB4}"/>
              </a:ext>
            </a:extLst>
          </p:cNvPr>
          <p:cNvPicPr>
            <a:picLocks noChangeAspect="1"/>
          </p:cNvPicPr>
          <p:nvPr/>
        </p:nvPicPr>
        <p:blipFill>
          <a:blip r:embed="rId3"/>
          <a:stretch>
            <a:fillRect/>
          </a:stretch>
        </p:blipFill>
        <p:spPr>
          <a:xfrm>
            <a:off x="3465928" y="4456805"/>
            <a:ext cx="7222941" cy="1676634"/>
          </a:xfrm>
          <a:prstGeom prst="rect">
            <a:avLst/>
          </a:prstGeom>
        </p:spPr>
      </p:pic>
    </p:spTree>
    <p:extLst>
      <p:ext uri="{BB962C8B-B14F-4D97-AF65-F5344CB8AC3E}">
        <p14:creationId xmlns:p14="http://schemas.microsoft.com/office/powerpoint/2010/main" val="1858011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3E5FE98-C380-2D35-0C74-D6C16D971C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DF4EEA-AC43-E043-4F09-5AB4FA3CE73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53FCDF2D-2057-42B7-69CB-A0F121DDA7F4}"/>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174B26CE-16C5-370A-BD3F-6CBAB5EA435B}"/>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Imports de données </a:t>
            </a:r>
          </a:p>
        </p:txBody>
      </p:sp>
      <p:sp>
        <p:nvSpPr>
          <p:cNvPr id="8" name="ZoneTexte 7">
            <a:extLst>
              <a:ext uri="{FF2B5EF4-FFF2-40B4-BE49-F238E27FC236}">
                <a16:creationId xmlns:a16="http://schemas.microsoft.com/office/drawing/2014/main" id="{59AF5400-ED35-5528-5166-6DEB97D799C6}"/>
              </a:ext>
            </a:extLst>
          </p:cNvPr>
          <p:cNvSpPr txBox="1"/>
          <p:nvPr/>
        </p:nvSpPr>
        <p:spPr>
          <a:xfrm>
            <a:off x="502920" y="544009"/>
            <a:ext cx="7913292" cy="584775"/>
          </a:xfrm>
          <a:prstGeom prst="rect">
            <a:avLst/>
          </a:prstGeom>
          <a:noFill/>
        </p:spPr>
        <p:txBody>
          <a:bodyPr wrap="square">
            <a:spAutoFit/>
          </a:bodyPr>
          <a:lstStyle/>
          <a:p>
            <a:pPr>
              <a:buNone/>
            </a:pPr>
            <a:r>
              <a:rPr lang="fr-FR" sz="1600" b="1" dirty="0">
                <a:solidFill>
                  <a:srgbClr val="141991"/>
                </a:solidFill>
              </a:rPr>
              <a:t>Principe</a:t>
            </a:r>
            <a:r>
              <a:rPr lang="fr-FR" sz="1600" dirty="0">
                <a:solidFill>
                  <a:srgbClr val="141991"/>
                </a:solidFill>
              </a:rPr>
              <a:t> : tester → contrôler → demander l’autorisation si nécessaire → intervenir en production → vérifier le résultat</a:t>
            </a:r>
          </a:p>
        </p:txBody>
      </p:sp>
      <p:pic>
        <p:nvPicPr>
          <p:cNvPr id="4" name="Image 3">
            <a:extLst>
              <a:ext uri="{FF2B5EF4-FFF2-40B4-BE49-F238E27FC236}">
                <a16:creationId xmlns:a16="http://schemas.microsoft.com/office/drawing/2014/main" id="{F6A7484C-1133-2DB1-3487-DFB382E78FA3}"/>
              </a:ext>
            </a:extLst>
          </p:cNvPr>
          <p:cNvPicPr>
            <a:picLocks noChangeAspect="1"/>
          </p:cNvPicPr>
          <p:nvPr/>
        </p:nvPicPr>
        <p:blipFill>
          <a:blip r:embed="rId2"/>
          <a:stretch>
            <a:fillRect/>
          </a:stretch>
        </p:blipFill>
        <p:spPr>
          <a:xfrm>
            <a:off x="502920" y="2994296"/>
            <a:ext cx="9691396" cy="3863704"/>
          </a:xfrm>
          <a:prstGeom prst="rect">
            <a:avLst/>
          </a:prstGeom>
        </p:spPr>
      </p:pic>
    </p:spTree>
    <p:extLst>
      <p:ext uri="{BB962C8B-B14F-4D97-AF65-F5344CB8AC3E}">
        <p14:creationId xmlns:p14="http://schemas.microsoft.com/office/powerpoint/2010/main" val="328889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985D5E-65FD-1041-9A64-528FDE2985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C1803D-18F5-042F-68F6-3C15495388C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5C5D629-9F6F-7936-8657-19180576E3DF}"/>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2A842912-649D-DC3E-F14C-133D46849284}"/>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Diagnostic de premier niveau</a:t>
            </a:r>
          </a:p>
        </p:txBody>
      </p:sp>
      <p:sp>
        <p:nvSpPr>
          <p:cNvPr id="8" name="ZoneTexte 7">
            <a:extLst>
              <a:ext uri="{FF2B5EF4-FFF2-40B4-BE49-F238E27FC236}">
                <a16:creationId xmlns:a16="http://schemas.microsoft.com/office/drawing/2014/main" id="{ABD8F9D9-D0E2-85B1-B5F1-F4A3DDD4FF19}"/>
              </a:ext>
            </a:extLst>
          </p:cNvPr>
          <p:cNvSpPr txBox="1"/>
          <p:nvPr/>
        </p:nvSpPr>
        <p:spPr>
          <a:xfrm>
            <a:off x="502920" y="544009"/>
            <a:ext cx="7913292" cy="5355312"/>
          </a:xfrm>
          <a:prstGeom prst="rect">
            <a:avLst/>
          </a:prstGeom>
          <a:noFill/>
        </p:spPr>
        <p:txBody>
          <a:bodyPr wrap="square">
            <a:spAutoFit/>
          </a:bodyPr>
          <a:lstStyle/>
          <a:p>
            <a:pPr>
              <a:buNone/>
            </a:pPr>
            <a:r>
              <a:rPr lang="fr-FR" sz="1600" dirty="0">
                <a:solidFill>
                  <a:srgbClr val="141991"/>
                </a:solidFill>
              </a:rPr>
              <a:t>L’administrateur fonctionnel constitue le premier niveau d’assistance pour les utilisateurs de sa structure. Face à un problème dans Koha, son rôle est d’abord de qualifier l’anomalie : comprendre ce qui se passe, vérifier les éléments accessibles et déterminer si le problème peut être résolu localement ou doit être transmis au responsable SIGB. Cette fonction d’accompagnement des utilisateurs fait partie du rôle de l’administrateur fonctionnel.</a:t>
            </a:r>
          </a:p>
          <a:p>
            <a:pPr>
              <a:buNone/>
            </a:pPr>
            <a:endParaRPr lang="fr-FR" sz="1600" dirty="0">
              <a:solidFill>
                <a:srgbClr val="141991"/>
              </a:solidFill>
            </a:endParaRPr>
          </a:p>
          <a:p>
            <a:pPr>
              <a:buNone/>
            </a:pPr>
            <a:r>
              <a:rPr lang="fr-FR" sz="1400" dirty="0">
                <a:solidFill>
                  <a:srgbClr val="141991"/>
                </a:solidFill>
              </a:rPr>
              <a:t>Lors du diagnostic, quatre origines principales peuvent être recherchées : les données (notice, exemplaire, adhérent…), les droits de l’utilisateur, le paramétrage de Koha, ou un problème nécessitant l’intervention du responsable SIGB</a:t>
            </a:r>
          </a:p>
          <a:p>
            <a:pPr>
              <a:buNone/>
            </a:pPr>
            <a:endParaRPr lang="fr-FR" sz="1400" dirty="0">
              <a:solidFill>
                <a:srgbClr val="141991"/>
              </a:solidFill>
            </a:endParaRPr>
          </a:p>
          <a:p>
            <a:pPr>
              <a:buNone/>
            </a:pPr>
            <a:r>
              <a:rPr lang="fr-FR" sz="1400" dirty="0">
                <a:solidFill>
                  <a:srgbClr val="141991"/>
                </a:solidFill>
              </a:rPr>
              <a:t>Quelques réflexes permettent d'orienter rapidement le diagnostic : si un utilisateur ne peut plus cataloguer, vérifier son compte et ses permissions ; si un document ne peut pas être prêté, contrôler l’exemplaire, l’adhérent et les règles de circulation ; si une valeur n’apparaît plus, vérifier les valeurs autorisées ; si un exemplaire est rattaché au mauvais site, contrôler ses informations de bibliothèque et de localisation ; si une notice ne s’affiche pas comme prévu, commencer par examiner ses données bibliographiques.</a:t>
            </a:r>
            <a:br>
              <a:rPr lang="fr-FR" sz="1400" dirty="0">
                <a:solidFill>
                  <a:srgbClr val="141991"/>
                </a:solidFill>
              </a:rPr>
            </a:br>
            <a:r>
              <a:rPr lang="fr-FR" sz="1400" dirty="0">
                <a:solidFill>
                  <a:srgbClr val="141991"/>
                </a:solidFill>
              </a:rPr>
              <a:t>L’objectif n’est pas nécessairement de résoudre seul tous les problèmes, mais de transmettre au responsable SIGB une anomalie déjà qualifiée : utilisateur concerné, notice ou exemplaire, action effectuée, résultat obtenu et résultat attendu.</a:t>
            </a:r>
          </a:p>
          <a:p>
            <a:pPr>
              <a:buNone/>
            </a:pPr>
            <a:endParaRPr lang="fr-FR" sz="1600" dirty="0">
              <a:solidFill>
                <a:srgbClr val="141991"/>
              </a:solidFill>
            </a:endParaRPr>
          </a:p>
          <a:p>
            <a:pPr>
              <a:buNone/>
            </a:pPr>
            <a:r>
              <a:rPr lang="fr-FR" sz="1600" b="1" dirty="0">
                <a:solidFill>
                  <a:srgbClr val="141991"/>
                </a:solidFill>
              </a:rPr>
              <a:t>À retenir</a:t>
            </a:r>
            <a:r>
              <a:rPr lang="fr-FR" sz="1600" dirty="0">
                <a:solidFill>
                  <a:srgbClr val="141991"/>
                </a:solidFill>
              </a:rPr>
              <a:t> : Observer → reproduire → contrôler les données → vérifier les droits et le paramétrage → corriger si cela relève de son périmètre → transmettre au responsable SIGB si nécessaire.</a:t>
            </a:r>
          </a:p>
        </p:txBody>
      </p:sp>
    </p:spTree>
    <p:extLst>
      <p:ext uri="{BB962C8B-B14F-4D97-AF65-F5344CB8AC3E}">
        <p14:creationId xmlns:p14="http://schemas.microsoft.com/office/powerpoint/2010/main" val="4116180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5645F9-5817-C98D-E1D3-BF745098A93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FAE7ED-C7D9-3008-FA90-0A7032BB800F}"/>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69CF67EE-FBFF-BA55-AA69-0FC0907F2C4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2C6D91A-8CE5-57A9-9373-D3F7A3732709}"/>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Préférences système</a:t>
            </a:r>
          </a:p>
        </p:txBody>
      </p:sp>
      <p:sp>
        <p:nvSpPr>
          <p:cNvPr id="8" name="ZoneTexte 7">
            <a:extLst>
              <a:ext uri="{FF2B5EF4-FFF2-40B4-BE49-F238E27FC236}">
                <a16:creationId xmlns:a16="http://schemas.microsoft.com/office/drawing/2014/main" id="{219EB381-9688-28ED-0F02-C2FDF7AF0B51}"/>
              </a:ext>
            </a:extLst>
          </p:cNvPr>
          <p:cNvSpPr txBox="1"/>
          <p:nvPr/>
        </p:nvSpPr>
        <p:spPr>
          <a:xfrm>
            <a:off x="502920" y="544009"/>
            <a:ext cx="7913292" cy="2677656"/>
          </a:xfrm>
          <a:prstGeom prst="rect">
            <a:avLst/>
          </a:prstGeom>
          <a:noFill/>
        </p:spPr>
        <p:txBody>
          <a:bodyPr wrap="square">
            <a:spAutoFit/>
          </a:bodyPr>
          <a:lstStyle/>
          <a:p>
            <a:pPr>
              <a:buNone/>
            </a:pPr>
            <a:r>
              <a:rPr lang="fr-FR" sz="1600" dirty="0">
                <a:solidFill>
                  <a:srgbClr val="141991"/>
                </a:solidFill>
              </a:rPr>
              <a:t>Les Préférences système permettent de définir le comportement général de Koha. Elles servent à activer, désactiver ou personnaliser de nombreuses fonctionnalités du SIGB : circulation, catalogage, adhérents, recherche, interface professionnelle, OPAC, acquisitions, autorités, etc. Elles constituent ainsi le cœur du paramétrage global de Koha</a:t>
            </a:r>
          </a:p>
          <a:p>
            <a:pPr>
              <a:buNone/>
            </a:pPr>
            <a:endParaRPr lang="fr-FR" sz="1600" dirty="0">
              <a:solidFill>
                <a:srgbClr val="141991"/>
              </a:solidFill>
            </a:endParaRPr>
          </a:p>
          <a:p>
            <a:pPr>
              <a:buNone/>
            </a:pPr>
            <a:r>
              <a:rPr lang="fr-FR" sz="1400" dirty="0">
                <a:solidFill>
                  <a:srgbClr val="141991"/>
                </a:solidFill>
              </a:rPr>
              <a:t>Chaque préférence correspond à un paramètre précis. Avant toute modification, il est important de comprendre sa fonction et d'en mesurer les conséquences, car certaines préférences peuvent modifier le fonctionnement de Koha pour l'ensemble des utilisateurs.</a:t>
            </a:r>
          </a:p>
          <a:p>
            <a:pPr>
              <a:buNone/>
            </a:pPr>
            <a:endParaRPr lang="fr-FR" sz="1400" dirty="0">
              <a:solidFill>
                <a:srgbClr val="141991"/>
              </a:solidFill>
            </a:endParaRPr>
          </a:p>
          <a:p>
            <a:pPr>
              <a:buNone/>
            </a:pPr>
            <a:r>
              <a:rPr lang="fr-FR" sz="1600" dirty="0">
                <a:solidFill>
                  <a:srgbClr val="141991"/>
                </a:solidFill>
              </a:rPr>
              <a:t>Il n'est pas nécessaire de connaître toutes les préférences système par cœur. Il faut savoir les rechercher, comprendre leur effet et identifier leur portée avant toute modification.</a:t>
            </a:r>
          </a:p>
        </p:txBody>
      </p:sp>
    </p:spTree>
    <p:extLst>
      <p:ext uri="{BB962C8B-B14F-4D97-AF65-F5344CB8AC3E}">
        <p14:creationId xmlns:p14="http://schemas.microsoft.com/office/powerpoint/2010/main" val="1423116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489D89B-927D-F56C-56D4-D0CC895A59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314030-630B-324F-2220-AF1280E86E77}"/>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DF78BEE-A70B-3E5C-5722-E967C2D45184}"/>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01FEA670-42B3-0B0A-BF14-4BB2130D6AB9}"/>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Définir les permissions</a:t>
            </a:r>
          </a:p>
        </p:txBody>
      </p:sp>
      <p:sp>
        <p:nvSpPr>
          <p:cNvPr id="8" name="ZoneTexte 7">
            <a:extLst>
              <a:ext uri="{FF2B5EF4-FFF2-40B4-BE49-F238E27FC236}">
                <a16:creationId xmlns:a16="http://schemas.microsoft.com/office/drawing/2014/main" id="{77936645-C76A-24CE-29AC-8989E501F4E5}"/>
              </a:ext>
            </a:extLst>
          </p:cNvPr>
          <p:cNvSpPr txBox="1"/>
          <p:nvPr/>
        </p:nvSpPr>
        <p:spPr>
          <a:xfrm>
            <a:off x="502920" y="544009"/>
            <a:ext cx="7913292" cy="2554545"/>
          </a:xfrm>
          <a:prstGeom prst="rect">
            <a:avLst/>
          </a:prstGeom>
          <a:noFill/>
        </p:spPr>
        <p:txBody>
          <a:bodyPr wrap="square">
            <a:spAutoFit/>
          </a:bodyPr>
          <a:lstStyle/>
          <a:p>
            <a:pPr>
              <a:buNone/>
            </a:pPr>
            <a:r>
              <a:rPr lang="fr-FR" sz="1600" dirty="0">
                <a:solidFill>
                  <a:srgbClr val="141991"/>
                </a:solidFill>
              </a:rPr>
              <a:t>Dans Koha, les permissions déterminent les fonctionnalités auxquelles un agent peut accéder dans l’interface professionnelle. Après la création de son compte, il convient donc de lui attribuer uniquement les droits correspondant à ses missions : catalogage, circulation, rapports, outils ou certaines fonctions d’administration. Le support de référence recommande d’attribuer les droits selon les profils et d’appliquer le principe des droits minimum nécessaires.</a:t>
            </a:r>
          </a:p>
          <a:p>
            <a:pPr>
              <a:buNone/>
            </a:pPr>
            <a:endParaRPr lang="fr-FR" sz="1600" dirty="0">
              <a:solidFill>
                <a:srgbClr val="141991"/>
              </a:solidFill>
            </a:endParaRPr>
          </a:p>
          <a:p>
            <a:pPr>
              <a:buNone/>
            </a:pPr>
            <a:r>
              <a:rPr lang="fr-FR" sz="1600" b="1" dirty="0">
                <a:solidFill>
                  <a:srgbClr val="141991"/>
                </a:solidFill>
              </a:rPr>
              <a:t>À retenir </a:t>
            </a:r>
            <a:r>
              <a:rPr lang="fr-FR" sz="1600" dirty="0">
                <a:solidFill>
                  <a:srgbClr val="141991"/>
                </a:solidFill>
              </a:rPr>
              <a:t>: on n’attribue pas des droits « au cas où ». Chaque utilisateur doit disposer des permissions nécessaires à ses missions, et uniquement de celles-ci. Les fonctions ayant un impact sur l’ensemble du Koha mutualisé restent réservées aux profils habilités.</a:t>
            </a:r>
          </a:p>
        </p:txBody>
      </p:sp>
      <p:pic>
        <p:nvPicPr>
          <p:cNvPr id="4" name="Image 3">
            <a:extLst>
              <a:ext uri="{FF2B5EF4-FFF2-40B4-BE49-F238E27FC236}">
                <a16:creationId xmlns:a16="http://schemas.microsoft.com/office/drawing/2014/main" id="{71C15D12-8C2B-8279-C1B9-407D8D18729D}"/>
              </a:ext>
            </a:extLst>
          </p:cNvPr>
          <p:cNvPicPr>
            <a:picLocks noChangeAspect="1"/>
          </p:cNvPicPr>
          <p:nvPr/>
        </p:nvPicPr>
        <p:blipFill>
          <a:blip r:embed="rId2"/>
          <a:stretch>
            <a:fillRect/>
          </a:stretch>
        </p:blipFill>
        <p:spPr>
          <a:xfrm>
            <a:off x="502920" y="3429000"/>
            <a:ext cx="9952654" cy="2284216"/>
          </a:xfrm>
          <a:prstGeom prst="rect">
            <a:avLst/>
          </a:prstGeom>
        </p:spPr>
      </p:pic>
    </p:spTree>
    <p:extLst>
      <p:ext uri="{BB962C8B-B14F-4D97-AF65-F5344CB8AC3E}">
        <p14:creationId xmlns:p14="http://schemas.microsoft.com/office/powerpoint/2010/main" val="1419405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439B1CB-7BCB-A5BB-ADDD-1F45B77D69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BB2A883-A851-BA44-F5E5-6970B5DFF724}"/>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B08D3EDE-EC2C-6DA6-547D-82563023C25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D846E553-70CA-0D62-76C7-31C971DAD25B}"/>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Exercices</a:t>
            </a:r>
          </a:p>
        </p:txBody>
      </p:sp>
      <p:sp>
        <p:nvSpPr>
          <p:cNvPr id="8" name="ZoneTexte 7">
            <a:extLst>
              <a:ext uri="{FF2B5EF4-FFF2-40B4-BE49-F238E27FC236}">
                <a16:creationId xmlns:a16="http://schemas.microsoft.com/office/drawing/2014/main" id="{EB505050-0229-9E73-2669-65AFCA1822EE}"/>
              </a:ext>
            </a:extLst>
          </p:cNvPr>
          <p:cNvSpPr txBox="1"/>
          <p:nvPr/>
        </p:nvSpPr>
        <p:spPr>
          <a:xfrm>
            <a:off x="502920" y="544009"/>
            <a:ext cx="7913292" cy="6001643"/>
          </a:xfrm>
          <a:prstGeom prst="rect">
            <a:avLst/>
          </a:prstGeom>
          <a:noFill/>
        </p:spPr>
        <p:txBody>
          <a:bodyPr wrap="square">
            <a:spAutoFit/>
          </a:bodyPr>
          <a:lstStyle/>
          <a:p>
            <a:pPr>
              <a:buNone/>
            </a:pPr>
            <a:r>
              <a:rPr lang="fr-FR" sz="1600" b="1" dirty="0">
                <a:solidFill>
                  <a:srgbClr val="141991"/>
                </a:solidFill>
              </a:rPr>
              <a:t>1. Créer un compte professionnel	</a:t>
            </a:r>
          </a:p>
          <a:p>
            <a:pPr>
              <a:buNone/>
            </a:pPr>
            <a:endParaRPr lang="fr-FR" sz="1600" dirty="0">
              <a:solidFill>
                <a:srgbClr val="141991"/>
              </a:solidFill>
            </a:endParaRPr>
          </a:p>
          <a:p>
            <a:pPr>
              <a:buNone/>
            </a:pPr>
            <a:r>
              <a:rPr lang="fr-FR" sz="1600" dirty="0">
                <a:solidFill>
                  <a:srgbClr val="141991"/>
                </a:solidFill>
              </a:rPr>
              <a:t>Un nouvel agent rejoint une DRAC et doit cataloguer</a:t>
            </a:r>
          </a:p>
          <a:p>
            <a:pPr>
              <a:buNone/>
            </a:pPr>
            <a:endParaRPr lang="fr-FR" sz="1600" dirty="0">
              <a:solidFill>
                <a:srgbClr val="141991"/>
              </a:solidFill>
            </a:endParaRPr>
          </a:p>
          <a:p>
            <a:pPr>
              <a:buNone/>
            </a:pPr>
            <a:r>
              <a:rPr lang="fr-FR" sz="1600" dirty="0">
                <a:solidFill>
                  <a:srgbClr val="141991"/>
                </a:solidFill>
              </a:rPr>
              <a:t>Créer l’adhérent, le rattacher à la bonne bibliothèque et déterminer les permissions nécessaires sans lui attribuer de droits inutiles.</a:t>
            </a:r>
          </a:p>
          <a:p>
            <a:pPr>
              <a:buNone/>
            </a:pPr>
            <a:endParaRPr lang="fr-FR" sz="1600" dirty="0">
              <a:solidFill>
                <a:srgbClr val="141991"/>
              </a:solidFill>
            </a:endParaRPr>
          </a:p>
          <a:p>
            <a:pPr>
              <a:buNone/>
            </a:pPr>
            <a:r>
              <a:rPr lang="fr-FR" sz="1600" b="1" dirty="0">
                <a:solidFill>
                  <a:srgbClr val="141991"/>
                </a:solidFill>
              </a:rPr>
              <a:t>2. Utiliser les valeurs autorisées</a:t>
            </a:r>
            <a:r>
              <a:rPr lang="fr-FR" sz="1600" dirty="0">
                <a:solidFill>
                  <a:srgbClr val="141991"/>
                </a:solidFill>
              </a:rPr>
              <a:t>	</a:t>
            </a:r>
          </a:p>
          <a:p>
            <a:pPr>
              <a:buNone/>
            </a:pPr>
            <a:endParaRPr lang="fr-FR" sz="1600" dirty="0">
              <a:solidFill>
                <a:srgbClr val="141991"/>
              </a:solidFill>
            </a:endParaRPr>
          </a:p>
          <a:p>
            <a:pPr>
              <a:buNone/>
            </a:pPr>
            <a:r>
              <a:rPr lang="fr-FR" sz="1600" dirty="0">
                <a:solidFill>
                  <a:srgbClr val="141991"/>
                </a:solidFill>
              </a:rPr>
              <a:t>Une localisation utilisée par la DRAC n'apparaît pas dans la liste proposée lors de la création d'un exemplaire.</a:t>
            </a:r>
          </a:p>
          <a:p>
            <a:pPr>
              <a:buNone/>
            </a:pPr>
            <a:endParaRPr lang="fr-FR" sz="1600" dirty="0">
              <a:solidFill>
                <a:srgbClr val="141991"/>
              </a:solidFill>
            </a:endParaRPr>
          </a:p>
          <a:p>
            <a:pPr>
              <a:buNone/>
            </a:pPr>
            <a:r>
              <a:rPr lang="fr-FR" sz="1600" dirty="0">
                <a:solidFill>
                  <a:srgbClr val="141991"/>
                </a:solidFill>
              </a:rPr>
              <a:t>Identifier la valeur autorisée concernée puis déterminer s’il faut la modifier soi-même ou demander sa création au responsable SIGB.</a:t>
            </a:r>
          </a:p>
          <a:p>
            <a:pPr>
              <a:buNone/>
            </a:pPr>
            <a:endParaRPr lang="fr-FR" sz="1600" dirty="0">
              <a:solidFill>
                <a:srgbClr val="141991"/>
              </a:solidFill>
            </a:endParaRPr>
          </a:p>
          <a:p>
            <a:pPr>
              <a:buNone/>
            </a:pPr>
            <a:r>
              <a:rPr lang="fr-FR" sz="1600" b="1" dirty="0">
                <a:solidFill>
                  <a:srgbClr val="141991"/>
                </a:solidFill>
              </a:rPr>
              <a:t>3. Modifier des notices exemplaires par lot	</a:t>
            </a:r>
          </a:p>
          <a:p>
            <a:pPr>
              <a:buNone/>
            </a:pPr>
            <a:endParaRPr lang="fr-FR" sz="1600" dirty="0">
              <a:solidFill>
                <a:srgbClr val="141991"/>
              </a:solidFill>
            </a:endParaRPr>
          </a:p>
          <a:p>
            <a:pPr>
              <a:buNone/>
            </a:pPr>
            <a:r>
              <a:rPr lang="fr-FR" sz="1600" dirty="0">
                <a:solidFill>
                  <a:srgbClr val="141991"/>
                </a:solidFill>
              </a:rPr>
              <a:t>30 notices comportent une donnée MARC qui doit être corrigée.	</a:t>
            </a:r>
          </a:p>
          <a:p>
            <a:pPr>
              <a:buNone/>
            </a:pPr>
            <a:endParaRPr lang="fr-FR" sz="1600" dirty="0">
              <a:solidFill>
                <a:srgbClr val="141991"/>
              </a:solidFill>
            </a:endParaRPr>
          </a:p>
          <a:p>
            <a:pPr>
              <a:buNone/>
            </a:pPr>
            <a:r>
              <a:rPr lang="fr-FR" sz="1600" dirty="0">
                <a:solidFill>
                  <a:srgbClr val="141991"/>
                </a:solidFill>
              </a:rPr>
              <a:t>Constituer le lot, choisir / préparer le modèle de modification MARC, effectuer le traitement en base de test puis contrôler le résultat. Les traitements par lot et leurs précautions font partie du périmètre prévu par le support.</a:t>
            </a:r>
          </a:p>
          <a:p>
            <a:pPr>
              <a:buNone/>
            </a:pPr>
            <a:endParaRPr lang="fr-FR" sz="1600" dirty="0">
              <a:solidFill>
                <a:srgbClr val="141991"/>
              </a:solidFill>
            </a:endParaRPr>
          </a:p>
          <a:p>
            <a:pPr>
              <a:buNone/>
            </a:pPr>
            <a:r>
              <a:rPr lang="fr-FR" sz="1600" dirty="0">
                <a:solidFill>
                  <a:srgbClr val="141991"/>
                </a:solidFill>
              </a:rPr>
              <a:t>Ajouter une mention « Fond de formation » dans le champ 995$8</a:t>
            </a:r>
          </a:p>
        </p:txBody>
      </p:sp>
    </p:spTree>
    <p:extLst>
      <p:ext uri="{BB962C8B-B14F-4D97-AF65-F5344CB8AC3E}">
        <p14:creationId xmlns:p14="http://schemas.microsoft.com/office/powerpoint/2010/main" val="2144172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E39510-FD50-D301-3D43-E3BC7EA565B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76760DC-2D45-FF76-C0E4-500B087E9C6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DB25424-A1AC-D8C4-4FBF-2E27AD59D02B}"/>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A7D9620D-7A03-C31A-F14C-5E33BE9DC2B5}"/>
              </a:ext>
            </a:extLst>
          </p:cNvPr>
          <p:cNvSpPr txBox="1"/>
          <p:nvPr/>
        </p:nvSpPr>
        <p:spPr>
          <a:xfrm>
            <a:off x="8760542" y="914400"/>
            <a:ext cx="3352800" cy="1938992"/>
          </a:xfrm>
          <a:prstGeom prst="rect">
            <a:avLst/>
          </a:prstGeom>
          <a:noFill/>
        </p:spPr>
        <p:txBody>
          <a:bodyPr wrap="square">
            <a:spAutoFit/>
          </a:bodyPr>
          <a:lstStyle/>
          <a:p>
            <a:pPr>
              <a:defRPr sz="1600" b="1">
                <a:solidFill>
                  <a:srgbClr val="FFFFFF"/>
                </a:solidFill>
              </a:defRPr>
            </a:pPr>
            <a:r>
              <a:rPr lang="fr-FR" sz="3200" dirty="0"/>
              <a:t>Le module Administration : </a:t>
            </a:r>
          </a:p>
          <a:p>
            <a:pPr>
              <a:defRPr sz="1600" b="1">
                <a:solidFill>
                  <a:srgbClr val="FFFFFF"/>
                </a:solidFill>
              </a:defRPr>
            </a:pPr>
            <a:endParaRPr lang="fr-FR" sz="3200" dirty="0"/>
          </a:p>
          <a:p>
            <a:pPr>
              <a:defRPr sz="1600" b="1">
                <a:solidFill>
                  <a:srgbClr val="FFFFFF"/>
                </a:solidFill>
              </a:defRPr>
            </a:pPr>
            <a:r>
              <a:rPr lang="fr-FR" sz="2400" dirty="0"/>
              <a:t>Exercices</a:t>
            </a:r>
          </a:p>
        </p:txBody>
      </p:sp>
      <p:sp>
        <p:nvSpPr>
          <p:cNvPr id="8" name="ZoneTexte 7">
            <a:extLst>
              <a:ext uri="{FF2B5EF4-FFF2-40B4-BE49-F238E27FC236}">
                <a16:creationId xmlns:a16="http://schemas.microsoft.com/office/drawing/2014/main" id="{ADD36A90-C3F1-BDF6-53DA-4ECF48CD2635}"/>
              </a:ext>
            </a:extLst>
          </p:cNvPr>
          <p:cNvSpPr txBox="1"/>
          <p:nvPr/>
        </p:nvSpPr>
        <p:spPr>
          <a:xfrm>
            <a:off x="502920" y="544009"/>
            <a:ext cx="7913292" cy="2062103"/>
          </a:xfrm>
          <a:prstGeom prst="rect">
            <a:avLst/>
          </a:prstGeom>
          <a:noFill/>
        </p:spPr>
        <p:txBody>
          <a:bodyPr wrap="square">
            <a:spAutoFit/>
          </a:bodyPr>
          <a:lstStyle/>
          <a:p>
            <a:pPr>
              <a:buNone/>
            </a:pPr>
            <a:r>
              <a:rPr lang="fr-FR" sz="1600" b="1" dirty="0">
                <a:solidFill>
                  <a:srgbClr val="141991"/>
                </a:solidFill>
              </a:rPr>
              <a:t>4. Créer et Exécuter un rapport SQL</a:t>
            </a:r>
          </a:p>
          <a:p>
            <a:pPr>
              <a:buNone/>
            </a:pPr>
            <a:endParaRPr lang="fr-FR" sz="1600" dirty="0">
              <a:solidFill>
                <a:srgbClr val="141991"/>
              </a:solidFill>
            </a:endParaRPr>
          </a:p>
          <a:p>
            <a:pPr>
              <a:buNone/>
            </a:pPr>
            <a:r>
              <a:rPr lang="fr-FR" sz="1600" dirty="0">
                <a:solidFill>
                  <a:srgbClr val="141991"/>
                </a:solidFill>
              </a:rPr>
              <a:t>Le responsable souhaite connaître les notices d'une DRAC répondant à un critère donné : chercher toutes les notices du catalogue comportant un champ 856$u avec une colonne « site de rattachement »</a:t>
            </a:r>
          </a:p>
          <a:p>
            <a:pPr>
              <a:buNone/>
            </a:pPr>
            <a:endParaRPr lang="fr-FR" sz="1600" dirty="0">
              <a:solidFill>
                <a:srgbClr val="141991"/>
              </a:solidFill>
            </a:endParaRPr>
          </a:p>
          <a:p>
            <a:pPr>
              <a:buNone/>
            </a:pPr>
            <a:r>
              <a:rPr lang="fr-FR" sz="1600" dirty="0">
                <a:solidFill>
                  <a:srgbClr val="141991"/>
                </a:solidFill>
              </a:rPr>
              <a:t>Créer le rapport adapté, exécuter le rapport, comprendre les colonnes obtenues et exporter les résultats.</a:t>
            </a:r>
          </a:p>
        </p:txBody>
      </p:sp>
    </p:spTree>
    <p:extLst>
      <p:ext uri="{BB962C8B-B14F-4D97-AF65-F5344CB8AC3E}">
        <p14:creationId xmlns:p14="http://schemas.microsoft.com/office/powerpoint/2010/main" val="3579435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1962</TotalTime>
  <Words>3766</Words>
  <Application>Microsoft Office PowerPoint</Application>
  <PresentationFormat>Grand écran</PresentationFormat>
  <Paragraphs>303</Paragraphs>
  <Slides>39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39</vt:i4>
      </vt:variant>
    </vt:vector>
  </HeadingPairs>
  <TitlesOfParts>
    <vt:vector size="43" baseType="lpstr">
      <vt:lpstr>Arial</vt:lpstr>
      <vt:lpstr>Calibri</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THEBAULT Didier</dc:creator>
  <cp:keywords/>
  <dc:description>generated using python-pptx</dc:description>
  <cp:lastModifiedBy>THEBAULT Didier</cp:lastModifiedBy>
  <cp:revision>41</cp:revision>
  <dcterms:created xsi:type="dcterms:W3CDTF">2013-01-27T09:14:16Z</dcterms:created>
  <dcterms:modified xsi:type="dcterms:W3CDTF">2026-10-01T11:50:09Z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55150b5-9709-4135-863a-f4680a6d2cae_Enabled">
    <vt:lpwstr>true</vt:lpwstr>
  </property>
  <property fmtid="{D5CDD505-2E9C-101B-9397-08002B2CF9AE}" pid="3" name="MSIP_Label_a55150b5-9709-4135-863a-f4680a6d2cae_SetDate">
    <vt:lpwstr>2026-09-28T11:25:19Z</vt:lpwstr>
  </property>
  <property fmtid="{D5CDD505-2E9C-101B-9397-08002B2CF9AE}" pid="4" name="MSIP_Label_a55150b5-9709-4135-863a-f4680a6d2cae_Method">
    <vt:lpwstr>Privileged</vt:lpwstr>
  </property>
  <property fmtid="{D5CDD505-2E9C-101B-9397-08002B2CF9AE}" pid="5" name="MSIP_Label_a55150b5-9709-4135-863a-f4680a6d2cae_Name">
    <vt:lpwstr>Public</vt:lpwstr>
  </property>
  <property fmtid="{D5CDD505-2E9C-101B-9397-08002B2CF9AE}" pid="6" name="MSIP_Label_a55150b5-9709-4135-863a-f4680a6d2cae_SiteId">
    <vt:lpwstr>5d0b42b2-7ba0-42b9-bd88-2dd1558bd190</vt:lpwstr>
  </property>
  <property fmtid="{D5CDD505-2E9C-101B-9397-08002B2CF9AE}" pid="7" name="MSIP_Label_a55150b5-9709-4135-863a-f4680a6d2cae_ActionId">
    <vt:lpwstr>4ddd6d71-f7e8-42fe-a795-bff3aabb5efd</vt:lpwstr>
  </property>
  <property fmtid="{D5CDD505-2E9C-101B-9397-08002B2CF9AE}" pid="8" name="MSIP_Label_a55150b5-9709-4135-863a-f4680a6d2cae_ContentBits">
    <vt:lpwstr>0</vt:lpwstr>
  </property>
  <property fmtid="{D5CDD505-2E9C-101B-9397-08002B2CF9AE}" pid="9" name="MSIP_Label_a55150b5-9709-4135-863a-f4680a6d2cae_Tag">
    <vt:lpwstr>10, 0, 1, 1</vt:lpwstr>
  </property>
</Properties>
</file>