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7" r:id="rId32"/>
    <p:sldId id="288" r:id="rId33"/>
    <p:sldId id="289" r:id="rId34"/>
    <p:sldId id="290" r:id="rId35"/>
    <p:sldId id="291" r:id="rId36"/>
    <p:sldId id="292" r:id="rId37"/>
    <p:sldId id="294" r:id="rId38"/>
    <p:sldId id="295" r:id="rId39"/>
    <p:sldId id="296" r:id="rId40"/>
    <p:sldId id="297" r:id="rId41"/>
    <p:sldId id="298" r:id="rId42"/>
    <p:sldId id="299" r:id="rId43"/>
    <p:sldId id="300" r:id="rId44"/>
    <p:sldId id="305" r:id="rId45"/>
    <p:sldId id="303" r:id="rId46"/>
    <p:sldId id="304" r:id="rId4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41991"/>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6106" autoAdjust="0"/>
  </p:normalViewPr>
  <p:slideViewPr>
    <p:cSldViewPr snapToGrid="0" snapToObjects="1">
      <p:cViewPr varScale="1">
        <p:scale>
          <a:sx n="103" d="100"/>
          <a:sy n="103" d="100"/>
        </p:scale>
        <p:origin x="186"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760542" y="914400"/>
            <a:ext cx="3352800" cy="584775"/>
          </a:xfrm>
          <a:prstGeom prst="rect">
            <a:avLst/>
          </a:prstGeom>
          <a:noFill/>
        </p:spPr>
        <p:txBody>
          <a:bodyPr wrap="square">
            <a:spAutoFit/>
          </a:bodyPr>
          <a:lstStyle/>
          <a:p>
            <a:pPr>
              <a:defRPr sz="1600" b="1">
                <a:solidFill>
                  <a:srgbClr val="FFFFFF"/>
                </a:solidFill>
              </a:defRPr>
            </a:pPr>
            <a:r>
              <a:rPr sz="3200" dirty="0"/>
              <a:t>FORMATION</a:t>
            </a:r>
          </a:p>
        </p:txBody>
      </p:sp>
      <p:sp>
        <p:nvSpPr>
          <p:cNvPr id="4" name="TextBox 3"/>
          <p:cNvSpPr txBox="1"/>
          <p:nvPr/>
        </p:nvSpPr>
        <p:spPr>
          <a:xfrm>
            <a:off x="845034" y="3652098"/>
            <a:ext cx="7537409" cy="584775"/>
          </a:xfrm>
          <a:prstGeom prst="rect">
            <a:avLst/>
          </a:prstGeom>
          <a:noFill/>
        </p:spPr>
        <p:txBody>
          <a:bodyPr wrap="square">
            <a:spAutoFit/>
          </a:bodyPr>
          <a:lstStyle/>
          <a:p>
            <a:pPr algn="ctr">
              <a:defRPr sz="3200" b="1">
                <a:solidFill>
                  <a:srgbClr val="141991"/>
                </a:solidFill>
              </a:defRPr>
            </a:pPr>
            <a:r>
              <a:rPr lang="fr-FR" noProof="0" dirty="0"/>
              <a:t>Administrer le portail</a:t>
            </a:r>
          </a:p>
        </p:txBody>
      </p:sp>
      <p:pic>
        <p:nvPicPr>
          <p:cNvPr id="8" name="Image 7">
            <a:extLst>
              <a:ext uri="{FF2B5EF4-FFF2-40B4-BE49-F238E27FC236}">
                <a16:creationId xmlns:a16="http://schemas.microsoft.com/office/drawing/2014/main" id="{CF8BF2A5-8D45-619B-85B6-53F45F0895AE}"/>
              </a:ext>
            </a:extLst>
          </p:cNvPr>
          <p:cNvPicPr>
            <a:picLocks noChangeAspect="1"/>
          </p:cNvPicPr>
          <p:nvPr/>
        </p:nvPicPr>
        <p:blipFill>
          <a:blip r:embed="rId2"/>
          <a:stretch>
            <a:fillRect/>
          </a:stretch>
        </p:blipFill>
        <p:spPr>
          <a:xfrm>
            <a:off x="49161" y="5709827"/>
            <a:ext cx="1396180" cy="1062398"/>
          </a:xfrm>
          <a:prstGeom prst="rect">
            <a:avLst/>
          </a:prstGeom>
        </p:spPr>
      </p:pic>
      <p:pic>
        <p:nvPicPr>
          <p:cNvPr id="5" name="Image 4" descr="WIKI-BOKEH">
            <a:extLst>
              <a:ext uri="{FF2B5EF4-FFF2-40B4-BE49-F238E27FC236}">
                <a16:creationId xmlns:a16="http://schemas.microsoft.com/office/drawing/2014/main" id="{6175FE72-2B66-A166-F016-1EE90894FD91}"/>
              </a:ext>
            </a:extLst>
          </p:cNvPr>
          <p:cNvPicPr>
            <a:picLocks noChangeAspect="1"/>
          </p:cNvPicPr>
          <p:nvPr/>
        </p:nvPicPr>
        <p:blipFill>
          <a:blip r:embed="rId3"/>
          <a:stretch>
            <a:fillRect/>
          </a:stretch>
        </p:blipFill>
        <p:spPr>
          <a:xfrm>
            <a:off x="2798934" y="1206787"/>
            <a:ext cx="3629608" cy="186561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4" name="TextBox 3"/>
          <p:cNvSpPr txBox="1"/>
          <p:nvPr/>
        </p:nvSpPr>
        <p:spPr>
          <a:xfrm>
            <a:off x="502920" y="569914"/>
            <a:ext cx="7667897" cy="4983416"/>
          </a:xfrm>
          <a:prstGeom prst="rect">
            <a:avLst/>
          </a:prstGeom>
          <a:noFill/>
        </p:spPr>
        <p:txBody>
          <a:bodyPr wrap="square">
            <a:spAutoFit/>
          </a:bodyPr>
          <a:lstStyle/>
          <a:p>
            <a:pPr>
              <a:spcAft>
                <a:spcPts val="1100"/>
              </a:spcAft>
              <a:defRPr sz="1800">
                <a:solidFill>
                  <a:srgbClr val="23232D"/>
                </a:solidFill>
              </a:defRPr>
            </a:pPr>
            <a:r>
              <a:rPr lang="fr-FR" sz="1600" noProof="0" dirty="0">
                <a:solidFill>
                  <a:srgbClr val="002060"/>
                </a:solidFill>
              </a:rPr>
              <a:t>À l’issue de la formation, le référent BIBDOC doit être capable de comprendre l’organisation du portail Bokeh, administrer les principaux éléments de son périmètre et contribuer à l’animation éditoriale du portail. </a:t>
            </a:r>
            <a:br>
              <a:rPr lang="fr-FR" sz="1600" noProof="0" dirty="0">
                <a:solidFill>
                  <a:srgbClr val="002060"/>
                </a:solidFill>
              </a:rPr>
            </a:br>
            <a:r>
              <a:rPr lang="fr-FR" sz="1600" noProof="0" dirty="0">
                <a:solidFill>
                  <a:srgbClr val="002060"/>
                </a:solidFill>
              </a:rPr>
              <a:t>Il devra notamment pouvoir naviguer entre le portail public et l’administration, créer et organiser des contenus, rédiger et mettre en forme des articles, insérer des images, des liens et des sélections de notices, puis visualiser, faire valider et publier les contenus.</a:t>
            </a:r>
          </a:p>
          <a:p>
            <a:pPr>
              <a:spcAft>
                <a:spcPts val="1100"/>
              </a:spcAft>
              <a:defRPr sz="1800">
                <a:solidFill>
                  <a:srgbClr val="23232D"/>
                </a:solidFill>
              </a:defRPr>
            </a:pPr>
            <a:r>
              <a:rPr lang="fr-FR" sz="1600" dirty="0">
                <a:solidFill>
                  <a:srgbClr val="002060"/>
                </a:solidFill>
              </a:rPr>
              <a:t>Le référent devra également savoir valoriser les collections en utilisant les domaines, paniers et boîtes de notices, afin de construire des sélections documentaires et de les intégrer aux contenus du portail.</a:t>
            </a:r>
          </a:p>
          <a:p>
            <a:pPr>
              <a:spcAft>
                <a:spcPts val="1100"/>
              </a:spcAft>
              <a:defRPr sz="1800">
                <a:solidFill>
                  <a:srgbClr val="23232D"/>
                </a:solidFill>
              </a:defRPr>
            </a:pPr>
            <a:endParaRPr lang="fr-FR" sz="1600" noProof="0" dirty="0">
              <a:solidFill>
                <a:srgbClr val="23232D"/>
              </a:solidFill>
            </a:endParaRPr>
          </a:p>
          <a:p>
            <a:pPr>
              <a:spcAft>
                <a:spcPts val="1100"/>
              </a:spcAft>
              <a:defRPr sz="1800">
                <a:solidFill>
                  <a:srgbClr val="23232D"/>
                </a:solidFill>
              </a:defRPr>
            </a:pPr>
            <a:r>
              <a:rPr lang="fr-FR" sz="1600" noProof="0" dirty="0">
                <a:solidFill>
                  <a:srgbClr val="002060"/>
                </a:solidFill>
              </a:rPr>
              <a:t>Enfin, il devra être capable de travailler dans un environnement mutualisé, en distinguant les actions qu’il peut réaliser de manière autonome de celles qui nécessitent une validation ou l’intervention de l’administrateur du portail.</a:t>
            </a:r>
          </a:p>
          <a:p>
            <a:pPr>
              <a:spcAft>
                <a:spcPts val="1100"/>
              </a:spcAft>
              <a:defRPr sz="1800">
                <a:solidFill>
                  <a:srgbClr val="23232D"/>
                </a:solidFill>
              </a:defRPr>
            </a:pPr>
            <a:endParaRPr lang="fr-FR" sz="1600" dirty="0">
              <a:solidFill>
                <a:srgbClr val="002060"/>
              </a:solidFill>
            </a:endParaRPr>
          </a:p>
          <a:p>
            <a:pPr>
              <a:spcAft>
                <a:spcPts val="1100"/>
              </a:spcAft>
              <a:defRPr sz="1800">
                <a:solidFill>
                  <a:srgbClr val="23232D"/>
                </a:solidFill>
              </a:defRPr>
            </a:pPr>
            <a:r>
              <a:rPr lang="fr-FR" sz="1600" b="1" noProof="0" dirty="0">
                <a:solidFill>
                  <a:srgbClr val="002060"/>
                </a:solidFill>
              </a:rPr>
              <a:t>Objectif</a:t>
            </a:r>
            <a:r>
              <a:rPr lang="fr-FR" sz="1600" noProof="0" dirty="0">
                <a:solidFill>
                  <a:srgbClr val="002060"/>
                </a:solidFill>
              </a:rPr>
              <a:t> : devenir le référent local BIBDOC de sa structure, capable de contribuer, valoriser les collections, accompagner les contributeurs et participer à la qualité éditoriale du portail mutualisé.</a:t>
            </a:r>
          </a:p>
        </p:txBody>
      </p:sp>
      <p:sp>
        <p:nvSpPr>
          <p:cNvPr id="7" name="Rectangle 6">
            <a:extLst>
              <a:ext uri="{FF2B5EF4-FFF2-40B4-BE49-F238E27FC236}">
                <a16:creationId xmlns:a16="http://schemas.microsoft.com/office/drawing/2014/main" id="{C78AE17C-83AE-18DA-B5C3-211AD67EBD19}"/>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2">
            <a:extLst>
              <a:ext uri="{FF2B5EF4-FFF2-40B4-BE49-F238E27FC236}">
                <a16:creationId xmlns:a16="http://schemas.microsoft.com/office/drawing/2014/main" id="{9CE02608-8309-8BB5-182C-AC9EEDE8EDC1}"/>
              </a:ext>
            </a:extLst>
          </p:cNvPr>
          <p:cNvSpPr txBox="1"/>
          <p:nvPr/>
        </p:nvSpPr>
        <p:spPr>
          <a:xfrm>
            <a:off x="8760542" y="914400"/>
            <a:ext cx="3352800" cy="1077218"/>
          </a:xfrm>
          <a:prstGeom prst="rect">
            <a:avLst/>
          </a:prstGeom>
          <a:noFill/>
        </p:spPr>
        <p:txBody>
          <a:bodyPr wrap="square">
            <a:spAutoFit/>
          </a:bodyPr>
          <a:lstStyle/>
          <a:p>
            <a:pPr>
              <a:defRPr sz="1600" b="1">
                <a:solidFill>
                  <a:srgbClr val="FFFFFF"/>
                </a:solidFill>
              </a:defRPr>
            </a:pPr>
            <a:r>
              <a:rPr lang="fr-FR" sz="3200" dirty="0"/>
              <a:t>Objectifs </a:t>
            </a:r>
            <a:br>
              <a:rPr lang="fr-FR" sz="3200" dirty="0"/>
            </a:br>
            <a:r>
              <a:rPr lang="fr-FR" sz="3200" dirty="0"/>
              <a:t>de la formation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0FCC7B5-864D-3073-B99A-1DDE01B265A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BC9FC96-49E6-234B-4473-78D809B83078}"/>
              </a:ext>
            </a:extLst>
          </p:cNvPr>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7" name="Rectangle 6">
            <a:extLst>
              <a:ext uri="{FF2B5EF4-FFF2-40B4-BE49-F238E27FC236}">
                <a16:creationId xmlns:a16="http://schemas.microsoft.com/office/drawing/2014/main" id="{7D0C22C5-7C8C-EC4E-DA9F-5C948CBB6352}"/>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2">
            <a:extLst>
              <a:ext uri="{FF2B5EF4-FFF2-40B4-BE49-F238E27FC236}">
                <a16:creationId xmlns:a16="http://schemas.microsoft.com/office/drawing/2014/main" id="{2D843F86-25B3-331C-ABE6-15EEE57E15A9}"/>
              </a:ext>
            </a:extLst>
          </p:cNvPr>
          <p:cNvSpPr txBox="1"/>
          <p:nvPr/>
        </p:nvSpPr>
        <p:spPr>
          <a:xfrm>
            <a:off x="8760542" y="914400"/>
            <a:ext cx="3352800" cy="2308324"/>
          </a:xfrm>
          <a:prstGeom prst="rect">
            <a:avLst/>
          </a:prstGeom>
          <a:noFill/>
        </p:spPr>
        <p:txBody>
          <a:bodyPr wrap="square">
            <a:spAutoFit/>
          </a:bodyPr>
          <a:lstStyle/>
          <a:p>
            <a:pPr>
              <a:defRPr sz="1600" b="1">
                <a:solidFill>
                  <a:srgbClr val="FFFFFF"/>
                </a:solidFill>
              </a:defRPr>
            </a:pPr>
            <a:r>
              <a:rPr lang="fr-FR" sz="3200" dirty="0"/>
              <a:t>Objectifs </a:t>
            </a:r>
            <a:br>
              <a:rPr lang="fr-FR" sz="3200" dirty="0"/>
            </a:br>
            <a:r>
              <a:rPr lang="fr-FR" sz="3200" dirty="0"/>
              <a:t>de la formation</a:t>
            </a:r>
          </a:p>
          <a:p>
            <a:pPr>
              <a:defRPr sz="1600" b="1">
                <a:solidFill>
                  <a:srgbClr val="FFFFFF"/>
                </a:solidFill>
              </a:defRPr>
            </a:pPr>
            <a:endParaRPr lang="fr-FR" sz="3200" dirty="0"/>
          </a:p>
          <a:p>
            <a:pPr>
              <a:defRPr sz="1600" b="1">
                <a:solidFill>
                  <a:srgbClr val="FFFFFF"/>
                </a:solidFill>
              </a:defRPr>
            </a:pPr>
            <a:r>
              <a:rPr lang="fr-FR" sz="2400" dirty="0"/>
              <a:t>Comprendre BIBDOC </a:t>
            </a:r>
            <a:br>
              <a:rPr lang="fr-FR" sz="2400" dirty="0"/>
            </a:br>
            <a:r>
              <a:rPr lang="fr-FR" sz="2400" dirty="0"/>
              <a:t>et Bokeh</a:t>
            </a:r>
          </a:p>
        </p:txBody>
      </p:sp>
      <p:pic>
        <p:nvPicPr>
          <p:cNvPr id="5" name="Image 4">
            <a:extLst>
              <a:ext uri="{FF2B5EF4-FFF2-40B4-BE49-F238E27FC236}">
                <a16:creationId xmlns:a16="http://schemas.microsoft.com/office/drawing/2014/main" id="{3D6C8A76-A7EC-9DFF-D1B2-CCDF596063FF}"/>
              </a:ext>
            </a:extLst>
          </p:cNvPr>
          <p:cNvPicPr>
            <a:picLocks noChangeAspect="1"/>
          </p:cNvPicPr>
          <p:nvPr/>
        </p:nvPicPr>
        <p:blipFill>
          <a:blip r:embed="rId2"/>
          <a:stretch>
            <a:fillRect/>
          </a:stretch>
        </p:blipFill>
        <p:spPr>
          <a:xfrm>
            <a:off x="502920" y="700296"/>
            <a:ext cx="7937240" cy="5044856"/>
          </a:xfrm>
          <a:prstGeom prst="rect">
            <a:avLst/>
          </a:prstGeom>
        </p:spPr>
      </p:pic>
    </p:spTree>
    <p:extLst>
      <p:ext uri="{BB962C8B-B14F-4D97-AF65-F5344CB8AC3E}">
        <p14:creationId xmlns:p14="http://schemas.microsoft.com/office/powerpoint/2010/main" val="25091749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27FD85F-D1D9-C25F-D5BC-429FFC0F5CC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20500A7-8EEE-43E0-8068-453A00404683}"/>
              </a:ext>
            </a:extLst>
          </p:cNvPr>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7" name="Rectangle 6">
            <a:extLst>
              <a:ext uri="{FF2B5EF4-FFF2-40B4-BE49-F238E27FC236}">
                <a16:creationId xmlns:a16="http://schemas.microsoft.com/office/drawing/2014/main" id="{9B066191-BE82-E231-6974-95D47F8A522D}"/>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2">
            <a:extLst>
              <a:ext uri="{FF2B5EF4-FFF2-40B4-BE49-F238E27FC236}">
                <a16:creationId xmlns:a16="http://schemas.microsoft.com/office/drawing/2014/main" id="{C1E27C68-0FBC-99C8-8726-8F92949A6E8D}"/>
              </a:ext>
            </a:extLst>
          </p:cNvPr>
          <p:cNvSpPr txBox="1"/>
          <p:nvPr/>
        </p:nvSpPr>
        <p:spPr>
          <a:xfrm>
            <a:off x="8760542" y="914400"/>
            <a:ext cx="3352800" cy="3046988"/>
          </a:xfrm>
          <a:prstGeom prst="rect">
            <a:avLst/>
          </a:prstGeom>
          <a:noFill/>
        </p:spPr>
        <p:txBody>
          <a:bodyPr wrap="square">
            <a:spAutoFit/>
          </a:bodyPr>
          <a:lstStyle/>
          <a:p>
            <a:pPr>
              <a:defRPr sz="1600" b="1">
                <a:solidFill>
                  <a:srgbClr val="FFFFFF"/>
                </a:solidFill>
              </a:defRPr>
            </a:pPr>
            <a:r>
              <a:rPr lang="fr-FR" sz="3200" dirty="0"/>
              <a:t>Objectifs </a:t>
            </a:r>
            <a:br>
              <a:rPr lang="fr-FR" sz="3200" dirty="0"/>
            </a:br>
            <a:r>
              <a:rPr lang="fr-FR" sz="3200" dirty="0"/>
              <a:t>de la formation</a:t>
            </a:r>
          </a:p>
          <a:p>
            <a:pPr>
              <a:defRPr sz="1600" b="1">
                <a:solidFill>
                  <a:srgbClr val="FFFFFF"/>
                </a:solidFill>
              </a:defRPr>
            </a:pPr>
            <a:endParaRPr lang="fr-FR" sz="3200" dirty="0"/>
          </a:p>
          <a:p>
            <a:pPr>
              <a:defRPr sz="1600" b="1">
                <a:solidFill>
                  <a:srgbClr val="FFFFFF"/>
                </a:solidFill>
              </a:defRPr>
            </a:pPr>
            <a:r>
              <a:rPr lang="fr-FR" sz="2400" dirty="0"/>
              <a:t>Comprendre BIBDOC </a:t>
            </a:r>
            <a:br>
              <a:rPr lang="fr-FR" sz="2400" dirty="0"/>
            </a:br>
            <a:r>
              <a:rPr lang="fr-FR" sz="2400" dirty="0"/>
              <a:t>et Bokeh</a:t>
            </a:r>
          </a:p>
          <a:p>
            <a:pPr>
              <a:defRPr sz="1600" b="1">
                <a:solidFill>
                  <a:srgbClr val="FFFFFF"/>
                </a:solidFill>
              </a:defRPr>
            </a:pPr>
            <a:endParaRPr lang="fr-FR" sz="2400" dirty="0"/>
          </a:p>
          <a:p>
            <a:pPr>
              <a:defRPr sz="1600" b="1">
                <a:solidFill>
                  <a:srgbClr val="FFFFFF"/>
                </a:solidFill>
              </a:defRPr>
            </a:pPr>
            <a:r>
              <a:rPr lang="fr-FR" sz="2400" dirty="0"/>
              <a:t>La barre de recherche </a:t>
            </a:r>
          </a:p>
        </p:txBody>
      </p:sp>
      <p:pic>
        <p:nvPicPr>
          <p:cNvPr id="5" name="Image 4">
            <a:extLst>
              <a:ext uri="{FF2B5EF4-FFF2-40B4-BE49-F238E27FC236}">
                <a16:creationId xmlns:a16="http://schemas.microsoft.com/office/drawing/2014/main" id="{2E082CDB-E19F-72EB-5264-3FC9F405A676}"/>
              </a:ext>
            </a:extLst>
          </p:cNvPr>
          <p:cNvPicPr>
            <a:picLocks noChangeAspect="1"/>
          </p:cNvPicPr>
          <p:nvPr/>
        </p:nvPicPr>
        <p:blipFill>
          <a:blip r:embed="rId2"/>
          <a:stretch>
            <a:fillRect/>
          </a:stretch>
        </p:blipFill>
        <p:spPr>
          <a:xfrm>
            <a:off x="395796" y="4024395"/>
            <a:ext cx="10821910" cy="1190791"/>
          </a:xfrm>
          <a:prstGeom prst="rect">
            <a:avLst/>
          </a:prstGeom>
        </p:spPr>
      </p:pic>
      <p:sp>
        <p:nvSpPr>
          <p:cNvPr id="11" name="ZoneTexte 10">
            <a:extLst>
              <a:ext uri="{FF2B5EF4-FFF2-40B4-BE49-F238E27FC236}">
                <a16:creationId xmlns:a16="http://schemas.microsoft.com/office/drawing/2014/main" id="{A018AC2A-B75B-791A-19FC-141BB8BE980C}"/>
              </a:ext>
            </a:extLst>
          </p:cNvPr>
          <p:cNvSpPr txBox="1"/>
          <p:nvPr/>
        </p:nvSpPr>
        <p:spPr>
          <a:xfrm>
            <a:off x="671804" y="2833605"/>
            <a:ext cx="2649893" cy="369332"/>
          </a:xfrm>
          <a:prstGeom prst="rect">
            <a:avLst/>
          </a:prstGeom>
          <a:noFill/>
        </p:spPr>
        <p:txBody>
          <a:bodyPr wrap="square">
            <a:spAutoFit/>
          </a:bodyPr>
          <a:lstStyle/>
          <a:p>
            <a:r>
              <a:rPr lang="fr-FR" dirty="0">
                <a:solidFill>
                  <a:srgbClr val="002060"/>
                </a:solidFill>
              </a:rPr>
              <a:t>Tri par type de document</a:t>
            </a:r>
          </a:p>
        </p:txBody>
      </p:sp>
      <p:sp>
        <p:nvSpPr>
          <p:cNvPr id="12" name="ZoneTexte 11">
            <a:extLst>
              <a:ext uri="{FF2B5EF4-FFF2-40B4-BE49-F238E27FC236}">
                <a16:creationId xmlns:a16="http://schemas.microsoft.com/office/drawing/2014/main" id="{0BFE3255-1CB7-F8A6-2DC8-33C9912497E9}"/>
              </a:ext>
            </a:extLst>
          </p:cNvPr>
          <p:cNvSpPr txBox="1"/>
          <p:nvPr/>
        </p:nvSpPr>
        <p:spPr>
          <a:xfrm>
            <a:off x="2834082" y="1488729"/>
            <a:ext cx="2649893" cy="369332"/>
          </a:xfrm>
          <a:prstGeom prst="rect">
            <a:avLst/>
          </a:prstGeom>
          <a:noFill/>
        </p:spPr>
        <p:txBody>
          <a:bodyPr wrap="square">
            <a:spAutoFit/>
          </a:bodyPr>
          <a:lstStyle/>
          <a:p>
            <a:r>
              <a:rPr lang="fr-FR" dirty="0">
                <a:solidFill>
                  <a:srgbClr val="002060"/>
                </a:solidFill>
              </a:rPr>
              <a:t>Tri par bibliothèque</a:t>
            </a:r>
          </a:p>
        </p:txBody>
      </p:sp>
      <p:sp>
        <p:nvSpPr>
          <p:cNvPr id="13" name="ZoneTexte 12">
            <a:extLst>
              <a:ext uri="{FF2B5EF4-FFF2-40B4-BE49-F238E27FC236}">
                <a16:creationId xmlns:a16="http://schemas.microsoft.com/office/drawing/2014/main" id="{EB87BDCB-6E22-F5B6-8161-84D273B1701C}"/>
              </a:ext>
            </a:extLst>
          </p:cNvPr>
          <p:cNvSpPr txBox="1"/>
          <p:nvPr/>
        </p:nvSpPr>
        <p:spPr>
          <a:xfrm>
            <a:off x="6684280" y="3018271"/>
            <a:ext cx="1344354" cy="369332"/>
          </a:xfrm>
          <a:prstGeom prst="rect">
            <a:avLst/>
          </a:prstGeom>
          <a:noFill/>
        </p:spPr>
        <p:txBody>
          <a:bodyPr wrap="square">
            <a:spAutoFit/>
          </a:bodyPr>
          <a:lstStyle/>
          <a:p>
            <a:r>
              <a:rPr lang="fr-FR" dirty="0">
                <a:solidFill>
                  <a:srgbClr val="002060"/>
                </a:solidFill>
              </a:rPr>
              <a:t>Mot clé</a:t>
            </a:r>
          </a:p>
        </p:txBody>
      </p:sp>
      <p:cxnSp>
        <p:nvCxnSpPr>
          <p:cNvPr id="15" name="Connecteur droit avec flèche 14">
            <a:extLst>
              <a:ext uri="{FF2B5EF4-FFF2-40B4-BE49-F238E27FC236}">
                <a16:creationId xmlns:a16="http://schemas.microsoft.com/office/drawing/2014/main" id="{4930B94F-67D1-F5B0-9D6C-B5DA43999AA6}"/>
              </a:ext>
            </a:extLst>
          </p:cNvPr>
          <p:cNvCxnSpPr/>
          <p:nvPr/>
        </p:nvCxnSpPr>
        <p:spPr>
          <a:xfrm>
            <a:off x="1851023" y="3202937"/>
            <a:ext cx="0" cy="118498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Connecteur droit avec flèche 15">
            <a:extLst>
              <a:ext uri="{FF2B5EF4-FFF2-40B4-BE49-F238E27FC236}">
                <a16:creationId xmlns:a16="http://schemas.microsoft.com/office/drawing/2014/main" id="{54FE36A0-7375-A584-0755-CAC98E85D4A2}"/>
              </a:ext>
            </a:extLst>
          </p:cNvPr>
          <p:cNvCxnSpPr>
            <a:cxnSpLocks/>
          </p:cNvCxnSpPr>
          <p:nvPr/>
        </p:nvCxnSpPr>
        <p:spPr>
          <a:xfrm>
            <a:off x="3838444" y="1845400"/>
            <a:ext cx="0" cy="226006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 name="Connecteur droit avec flèche 17">
            <a:extLst>
              <a:ext uri="{FF2B5EF4-FFF2-40B4-BE49-F238E27FC236}">
                <a16:creationId xmlns:a16="http://schemas.microsoft.com/office/drawing/2014/main" id="{6DDBBC20-3655-367E-A9AC-76F585C17F08}"/>
              </a:ext>
            </a:extLst>
          </p:cNvPr>
          <p:cNvCxnSpPr>
            <a:cxnSpLocks/>
          </p:cNvCxnSpPr>
          <p:nvPr/>
        </p:nvCxnSpPr>
        <p:spPr>
          <a:xfrm>
            <a:off x="7141028" y="3387603"/>
            <a:ext cx="0" cy="82472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765472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59D49AA-0B4A-3291-5113-063A65220D9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A68F895-9DA8-056D-6D01-8003EE88E3FF}"/>
              </a:ext>
            </a:extLst>
          </p:cNvPr>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7" name="Rectangle 6">
            <a:extLst>
              <a:ext uri="{FF2B5EF4-FFF2-40B4-BE49-F238E27FC236}">
                <a16:creationId xmlns:a16="http://schemas.microsoft.com/office/drawing/2014/main" id="{EC39E274-1CAE-126C-633D-809B4428D022}"/>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2">
            <a:extLst>
              <a:ext uri="{FF2B5EF4-FFF2-40B4-BE49-F238E27FC236}">
                <a16:creationId xmlns:a16="http://schemas.microsoft.com/office/drawing/2014/main" id="{743D57DB-0797-178E-D085-283084524181}"/>
              </a:ext>
            </a:extLst>
          </p:cNvPr>
          <p:cNvSpPr txBox="1"/>
          <p:nvPr/>
        </p:nvSpPr>
        <p:spPr>
          <a:xfrm>
            <a:off x="8760542" y="914400"/>
            <a:ext cx="3352800" cy="3046988"/>
          </a:xfrm>
          <a:prstGeom prst="rect">
            <a:avLst/>
          </a:prstGeom>
          <a:noFill/>
        </p:spPr>
        <p:txBody>
          <a:bodyPr wrap="square">
            <a:spAutoFit/>
          </a:bodyPr>
          <a:lstStyle/>
          <a:p>
            <a:pPr>
              <a:defRPr sz="1600" b="1">
                <a:solidFill>
                  <a:srgbClr val="FFFFFF"/>
                </a:solidFill>
              </a:defRPr>
            </a:pPr>
            <a:r>
              <a:rPr lang="fr-FR" sz="3200" dirty="0"/>
              <a:t>Objectifs </a:t>
            </a:r>
            <a:br>
              <a:rPr lang="fr-FR" sz="3200" dirty="0"/>
            </a:br>
            <a:r>
              <a:rPr lang="fr-FR" sz="3200" dirty="0"/>
              <a:t>de la formation</a:t>
            </a:r>
          </a:p>
          <a:p>
            <a:pPr>
              <a:defRPr sz="1600" b="1">
                <a:solidFill>
                  <a:srgbClr val="FFFFFF"/>
                </a:solidFill>
              </a:defRPr>
            </a:pPr>
            <a:endParaRPr lang="fr-FR" sz="3200" dirty="0"/>
          </a:p>
          <a:p>
            <a:pPr>
              <a:defRPr sz="1600" b="1">
                <a:solidFill>
                  <a:srgbClr val="FFFFFF"/>
                </a:solidFill>
              </a:defRPr>
            </a:pPr>
            <a:r>
              <a:rPr lang="fr-FR" sz="2400" dirty="0"/>
              <a:t>Comprendre BIBDOC </a:t>
            </a:r>
            <a:br>
              <a:rPr lang="fr-FR" sz="2400" dirty="0"/>
            </a:br>
            <a:r>
              <a:rPr lang="fr-FR" sz="2400" dirty="0"/>
              <a:t>et Bokeh</a:t>
            </a:r>
          </a:p>
          <a:p>
            <a:pPr>
              <a:defRPr sz="1600" b="1">
                <a:solidFill>
                  <a:srgbClr val="FFFFFF"/>
                </a:solidFill>
              </a:defRPr>
            </a:pPr>
            <a:endParaRPr lang="fr-FR" sz="2400" dirty="0"/>
          </a:p>
          <a:p>
            <a:pPr>
              <a:defRPr sz="1600" b="1">
                <a:solidFill>
                  <a:srgbClr val="FFFFFF"/>
                </a:solidFill>
              </a:defRPr>
            </a:pPr>
            <a:r>
              <a:rPr lang="fr-FR" sz="2400" dirty="0"/>
              <a:t>Le menu </a:t>
            </a:r>
          </a:p>
        </p:txBody>
      </p:sp>
      <p:pic>
        <p:nvPicPr>
          <p:cNvPr id="5" name="Image 4">
            <a:extLst>
              <a:ext uri="{FF2B5EF4-FFF2-40B4-BE49-F238E27FC236}">
                <a16:creationId xmlns:a16="http://schemas.microsoft.com/office/drawing/2014/main" id="{0F634723-2D61-63B2-6B10-516B32CEAE0F}"/>
              </a:ext>
            </a:extLst>
          </p:cNvPr>
          <p:cNvPicPr>
            <a:picLocks noChangeAspect="1"/>
          </p:cNvPicPr>
          <p:nvPr/>
        </p:nvPicPr>
        <p:blipFill>
          <a:blip r:embed="rId2"/>
          <a:stretch>
            <a:fillRect/>
          </a:stretch>
        </p:blipFill>
        <p:spPr>
          <a:xfrm>
            <a:off x="839989" y="3114631"/>
            <a:ext cx="7125694" cy="628738"/>
          </a:xfrm>
          <a:prstGeom prst="rect">
            <a:avLst/>
          </a:prstGeom>
        </p:spPr>
      </p:pic>
    </p:spTree>
    <p:extLst>
      <p:ext uri="{BB962C8B-B14F-4D97-AF65-F5344CB8AC3E}">
        <p14:creationId xmlns:p14="http://schemas.microsoft.com/office/powerpoint/2010/main" val="3213375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37E3438-28B3-633A-F59B-BA703E81E6E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E644D96-2D8A-B99E-3B66-38C79561BF12}"/>
              </a:ext>
            </a:extLst>
          </p:cNvPr>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7" name="Rectangle 6">
            <a:extLst>
              <a:ext uri="{FF2B5EF4-FFF2-40B4-BE49-F238E27FC236}">
                <a16:creationId xmlns:a16="http://schemas.microsoft.com/office/drawing/2014/main" id="{7760A175-BD55-A026-F46B-0B87B850C1AF}"/>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2">
            <a:extLst>
              <a:ext uri="{FF2B5EF4-FFF2-40B4-BE49-F238E27FC236}">
                <a16:creationId xmlns:a16="http://schemas.microsoft.com/office/drawing/2014/main" id="{B4587EF1-8D02-E1E4-7530-8A54CBA2AB74}"/>
              </a:ext>
            </a:extLst>
          </p:cNvPr>
          <p:cNvSpPr txBox="1"/>
          <p:nvPr/>
        </p:nvSpPr>
        <p:spPr>
          <a:xfrm>
            <a:off x="8760542" y="914400"/>
            <a:ext cx="3352800" cy="3046988"/>
          </a:xfrm>
          <a:prstGeom prst="rect">
            <a:avLst/>
          </a:prstGeom>
          <a:noFill/>
        </p:spPr>
        <p:txBody>
          <a:bodyPr wrap="square">
            <a:spAutoFit/>
          </a:bodyPr>
          <a:lstStyle/>
          <a:p>
            <a:pPr>
              <a:defRPr sz="1600" b="1">
                <a:solidFill>
                  <a:srgbClr val="FFFFFF"/>
                </a:solidFill>
              </a:defRPr>
            </a:pPr>
            <a:r>
              <a:rPr lang="fr-FR" sz="3200" dirty="0"/>
              <a:t>Objectifs </a:t>
            </a:r>
            <a:br>
              <a:rPr lang="fr-FR" sz="3200" dirty="0"/>
            </a:br>
            <a:r>
              <a:rPr lang="fr-FR" sz="3200" dirty="0"/>
              <a:t>de la formation</a:t>
            </a:r>
          </a:p>
          <a:p>
            <a:pPr>
              <a:defRPr sz="1600" b="1">
                <a:solidFill>
                  <a:srgbClr val="FFFFFF"/>
                </a:solidFill>
              </a:defRPr>
            </a:pPr>
            <a:endParaRPr lang="fr-FR" sz="3200" dirty="0"/>
          </a:p>
          <a:p>
            <a:pPr>
              <a:defRPr sz="1600" b="1">
                <a:solidFill>
                  <a:srgbClr val="FFFFFF"/>
                </a:solidFill>
              </a:defRPr>
            </a:pPr>
            <a:r>
              <a:rPr lang="fr-FR" sz="2400" dirty="0"/>
              <a:t>Comprendre BIBDOC </a:t>
            </a:r>
            <a:br>
              <a:rPr lang="fr-FR" sz="2400" dirty="0"/>
            </a:br>
            <a:r>
              <a:rPr lang="fr-FR" sz="2400" dirty="0"/>
              <a:t>et Bokeh</a:t>
            </a:r>
          </a:p>
          <a:p>
            <a:pPr>
              <a:defRPr sz="1600" b="1">
                <a:solidFill>
                  <a:srgbClr val="FFFFFF"/>
                </a:solidFill>
              </a:defRPr>
            </a:pPr>
            <a:endParaRPr lang="fr-FR" sz="2400" dirty="0"/>
          </a:p>
          <a:p>
            <a:pPr>
              <a:defRPr sz="1600" b="1">
                <a:solidFill>
                  <a:srgbClr val="FFFFFF"/>
                </a:solidFill>
              </a:defRPr>
            </a:pPr>
            <a:r>
              <a:rPr lang="fr-FR" sz="2400" dirty="0"/>
              <a:t>Actualités</a:t>
            </a:r>
          </a:p>
        </p:txBody>
      </p:sp>
      <p:pic>
        <p:nvPicPr>
          <p:cNvPr id="5" name="Image 4">
            <a:extLst>
              <a:ext uri="{FF2B5EF4-FFF2-40B4-BE49-F238E27FC236}">
                <a16:creationId xmlns:a16="http://schemas.microsoft.com/office/drawing/2014/main" id="{55056466-C3B6-3D01-FD2A-AF438C824CBA}"/>
              </a:ext>
            </a:extLst>
          </p:cNvPr>
          <p:cNvPicPr>
            <a:picLocks noChangeAspect="1"/>
          </p:cNvPicPr>
          <p:nvPr/>
        </p:nvPicPr>
        <p:blipFill>
          <a:blip r:embed="rId2"/>
          <a:stretch>
            <a:fillRect/>
          </a:stretch>
        </p:blipFill>
        <p:spPr>
          <a:xfrm>
            <a:off x="378232" y="961200"/>
            <a:ext cx="8049208" cy="4935600"/>
          </a:xfrm>
          <a:prstGeom prst="rect">
            <a:avLst/>
          </a:prstGeom>
        </p:spPr>
      </p:pic>
    </p:spTree>
    <p:extLst>
      <p:ext uri="{BB962C8B-B14F-4D97-AF65-F5344CB8AC3E}">
        <p14:creationId xmlns:p14="http://schemas.microsoft.com/office/powerpoint/2010/main" val="20223730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0072181-6E94-A29E-8DE0-D88CF926C13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69678C9-2B99-4EE4-A37A-7BE7517720CB}"/>
              </a:ext>
            </a:extLst>
          </p:cNvPr>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7" name="Rectangle 6">
            <a:extLst>
              <a:ext uri="{FF2B5EF4-FFF2-40B4-BE49-F238E27FC236}">
                <a16:creationId xmlns:a16="http://schemas.microsoft.com/office/drawing/2014/main" id="{030FF089-9557-984B-2D1D-005359D77133}"/>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2">
            <a:extLst>
              <a:ext uri="{FF2B5EF4-FFF2-40B4-BE49-F238E27FC236}">
                <a16:creationId xmlns:a16="http://schemas.microsoft.com/office/drawing/2014/main" id="{DE3C5D9F-0E1A-4C83-D88D-931E463773CF}"/>
              </a:ext>
            </a:extLst>
          </p:cNvPr>
          <p:cNvSpPr txBox="1"/>
          <p:nvPr/>
        </p:nvSpPr>
        <p:spPr>
          <a:xfrm>
            <a:off x="8760542" y="914400"/>
            <a:ext cx="3352800" cy="3046988"/>
          </a:xfrm>
          <a:prstGeom prst="rect">
            <a:avLst/>
          </a:prstGeom>
          <a:noFill/>
        </p:spPr>
        <p:txBody>
          <a:bodyPr wrap="square">
            <a:spAutoFit/>
          </a:bodyPr>
          <a:lstStyle/>
          <a:p>
            <a:pPr>
              <a:defRPr sz="1600" b="1">
                <a:solidFill>
                  <a:srgbClr val="FFFFFF"/>
                </a:solidFill>
              </a:defRPr>
            </a:pPr>
            <a:r>
              <a:rPr lang="fr-FR" sz="3200" dirty="0"/>
              <a:t>Objectifs </a:t>
            </a:r>
            <a:br>
              <a:rPr lang="fr-FR" sz="3200" dirty="0"/>
            </a:br>
            <a:r>
              <a:rPr lang="fr-FR" sz="3200" dirty="0"/>
              <a:t>de la formation</a:t>
            </a:r>
          </a:p>
          <a:p>
            <a:pPr>
              <a:defRPr sz="1600" b="1">
                <a:solidFill>
                  <a:srgbClr val="FFFFFF"/>
                </a:solidFill>
              </a:defRPr>
            </a:pPr>
            <a:endParaRPr lang="fr-FR" sz="3200" dirty="0"/>
          </a:p>
          <a:p>
            <a:pPr>
              <a:defRPr sz="1600" b="1">
                <a:solidFill>
                  <a:srgbClr val="FFFFFF"/>
                </a:solidFill>
              </a:defRPr>
            </a:pPr>
            <a:r>
              <a:rPr lang="fr-FR" sz="2400" dirty="0"/>
              <a:t>Comprendre BIBDOC </a:t>
            </a:r>
            <a:br>
              <a:rPr lang="fr-FR" sz="2400" dirty="0"/>
            </a:br>
            <a:r>
              <a:rPr lang="fr-FR" sz="2400" dirty="0"/>
              <a:t>et Bokeh</a:t>
            </a:r>
          </a:p>
          <a:p>
            <a:pPr>
              <a:defRPr sz="1600" b="1">
                <a:solidFill>
                  <a:srgbClr val="FFFFFF"/>
                </a:solidFill>
              </a:defRPr>
            </a:pPr>
            <a:endParaRPr lang="fr-FR" sz="2400" dirty="0"/>
          </a:p>
          <a:p>
            <a:pPr>
              <a:defRPr sz="1600" b="1">
                <a:solidFill>
                  <a:srgbClr val="FFFFFF"/>
                </a:solidFill>
              </a:defRPr>
            </a:pPr>
            <a:r>
              <a:rPr lang="fr-FR" sz="2400" dirty="0"/>
              <a:t>Nouveautés</a:t>
            </a:r>
          </a:p>
        </p:txBody>
      </p:sp>
      <p:pic>
        <p:nvPicPr>
          <p:cNvPr id="5" name="Image 4">
            <a:extLst>
              <a:ext uri="{FF2B5EF4-FFF2-40B4-BE49-F238E27FC236}">
                <a16:creationId xmlns:a16="http://schemas.microsoft.com/office/drawing/2014/main" id="{BBCBCAB9-DFC2-9778-E678-54BB03903426}"/>
              </a:ext>
            </a:extLst>
          </p:cNvPr>
          <p:cNvPicPr>
            <a:picLocks noChangeAspect="1"/>
          </p:cNvPicPr>
          <p:nvPr/>
        </p:nvPicPr>
        <p:blipFill>
          <a:blip r:embed="rId2"/>
          <a:stretch>
            <a:fillRect/>
          </a:stretch>
        </p:blipFill>
        <p:spPr>
          <a:xfrm>
            <a:off x="297552" y="1082183"/>
            <a:ext cx="8267918" cy="4693634"/>
          </a:xfrm>
          <a:prstGeom prst="rect">
            <a:avLst/>
          </a:prstGeom>
        </p:spPr>
      </p:pic>
    </p:spTree>
    <p:extLst>
      <p:ext uri="{BB962C8B-B14F-4D97-AF65-F5344CB8AC3E}">
        <p14:creationId xmlns:p14="http://schemas.microsoft.com/office/powerpoint/2010/main" val="6713648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E2A0CF7-D0C1-4C04-143F-427B1BEFBFE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E0829E7-96F5-8917-5826-E31A9ED66BC0}"/>
              </a:ext>
            </a:extLst>
          </p:cNvPr>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7" name="Rectangle 6">
            <a:extLst>
              <a:ext uri="{FF2B5EF4-FFF2-40B4-BE49-F238E27FC236}">
                <a16:creationId xmlns:a16="http://schemas.microsoft.com/office/drawing/2014/main" id="{F347A85D-DFC2-CD12-7D86-AA91DED70ED4}"/>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2">
            <a:extLst>
              <a:ext uri="{FF2B5EF4-FFF2-40B4-BE49-F238E27FC236}">
                <a16:creationId xmlns:a16="http://schemas.microsoft.com/office/drawing/2014/main" id="{E4199C75-3C23-1612-F95E-A7F8CF180147}"/>
              </a:ext>
            </a:extLst>
          </p:cNvPr>
          <p:cNvSpPr txBox="1"/>
          <p:nvPr/>
        </p:nvSpPr>
        <p:spPr>
          <a:xfrm>
            <a:off x="8760542" y="914400"/>
            <a:ext cx="3352800" cy="3046988"/>
          </a:xfrm>
          <a:prstGeom prst="rect">
            <a:avLst/>
          </a:prstGeom>
          <a:noFill/>
        </p:spPr>
        <p:txBody>
          <a:bodyPr wrap="square">
            <a:spAutoFit/>
          </a:bodyPr>
          <a:lstStyle/>
          <a:p>
            <a:pPr>
              <a:defRPr sz="1600" b="1">
                <a:solidFill>
                  <a:srgbClr val="FFFFFF"/>
                </a:solidFill>
              </a:defRPr>
            </a:pPr>
            <a:r>
              <a:rPr lang="fr-FR" sz="3200" dirty="0"/>
              <a:t>Objectifs </a:t>
            </a:r>
            <a:br>
              <a:rPr lang="fr-FR" sz="3200" dirty="0"/>
            </a:br>
            <a:r>
              <a:rPr lang="fr-FR" sz="3200" dirty="0"/>
              <a:t>de la formation</a:t>
            </a:r>
          </a:p>
          <a:p>
            <a:pPr>
              <a:defRPr sz="1600" b="1">
                <a:solidFill>
                  <a:srgbClr val="FFFFFF"/>
                </a:solidFill>
              </a:defRPr>
            </a:pPr>
            <a:endParaRPr lang="fr-FR" sz="3200" dirty="0"/>
          </a:p>
          <a:p>
            <a:pPr>
              <a:defRPr sz="1600" b="1">
                <a:solidFill>
                  <a:srgbClr val="FFFFFF"/>
                </a:solidFill>
              </a:defRPr>
            </a:pPr>
            <a:r>
              <a:rPr lang="fr-FR" sz="2400" dirty="0"/>
              <a:t>Comprendre BIBDOC </a:t>
            </a:r>
            <a:br>
              <a:rPr lang="fr-FR" sz="2400" dirty="0"/>
            </a:br>
            <a:r>
              <a:rPr lang="fr-FR" sz="2400" dirty="0"/>
              <a:t>et Bokeh</a:t>
            </a:r>
          </a:p>
          <a:p>
            <a:pPr>
              <a:defRPr sz="1600" b="1">
                <a:solidFill>
                  <a:srgbClr val="FFFFFF"/>
                </a:solidFill>
              </a:defRPr>
            </a:pPr>
            <a:endParaRPr lang="fr-FR" sz="2400" dirty="0"/>
          </a:p>
          <a:p>
            <a:pPr>
              <a:defRPr sz="1600" b="1">
                <a:solidFill>
                  <a:srgbClr val="FFFFFF"/>
                </a:solidFill>
              </a:defRPr>
            </a:pPr>
            <a:r>
              <a:rPr lang="fr-FR" sz="2400" dirty="0"/>
              <a:t>Focus</a:t>
            </a:r>
          </a:p>
        </p:txBody>
      </p:sp>
      <p:pic>
        <p:nvPicPr>
          <p:cNvPr id="5" name="Image 4">
            <a:extLst>
              <a:ext uri="{FF2B5EF4-FFF2-40B4-BE49-F238E27FC236}">
                <a16:creationId xmlns:a16="http://schemas.microsoft.com/office/drawing/2014/main" id="{98924531-0818-D657-3DC2-9AA70DD3BB60}"/>
              </a:ext>
            </a:extLst>
          </p:cNvPr>
          <p:cNvPicPr>
            <a:picLocks noChangeAspect="1"/>
          </p:cNvPicPr>
          <p:nvPr/>
        </p:nvPicPr>
        <p:blipFill>
          <a:blip r:embed="rId2"/>
          <a:stretch>
            <a:fillRect/>
          </a:stretch>
        </p:blipFill>
        <p:spPr>
          <a:xfrm>
            <a:off x="259794" y="1094057"/>
            <a:ext cx="8286084" cy="4669886"/>
          </a:xfrm>
          <a:prstGeom prst="rect">
            <a:avLst/>
          </a:prstGeom>
        </p:spPr>
      </p:pic>
    </p:spTree>
    <p:extLst>
      <p:ext uri="{BB962C8B-B14F-4D97-AF65-F5344CB8AC3E}">
        <p14:creationId xmlns:p14="http://schemas.microsoft.com/office/powerpoint/2010/main" val="25246419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E723DFA-9258-FF73-48E3-B07B359876F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94990A7-5207-891F-9965-812B63A19D3D}"/>
              </a:ext>
            </a:extLst>
          </p:cNvPr>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7" name="Rectangle 6">
            <a:extLst>
              <a:ext uri="{FF2B5EF4-FFF2-40B4-BE49-F238E27FC236}">
                <a16:creationId xmlns:a16="http://schemas.microsoft.com/office/drawing/2014/main" id="{0C1BC784-186C-7D3F-81CD-D4F25437F084}"/>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2">
            <a:extLst>
              <a:ext uri="{FF2B5EF4-FFF2-40B4-BE49-F238E27FC236}">
                <a16:creationId xmlns:a16="http://schemas.microsoft.com/office/drawing/2014/main" id="{2B800C4A-5A6D-0F6F-BF82-50C4C34D4BF7}"/>
              </a:ext>
            </a:extLst>
          </p:cNvPr>
          <p:cNvSpPr txBox="1"/>
          <p:nvPr/>
        </p:nvSpPr>
        <p:spPr>
          <a:xfrm>
            <a:off x="8760542" y="914400"/>
            <a:ext cx="3352800" cy="3046988"/>
          </a:xfrm>
          <a:prstGeom prst="rect">
            <a:avLst/>
          </a:prstGeom>
          <a:noFill/>
        </p:spPr>
        <p:txBody>
          <a:bodyPr wrap="square">
            <a:spAutoFit/>
          </a:bodyPr>
          <a:lstStyle/>
          <a:p>
            <a:pPr>
              <a:defRPr sz="1600" b="1">
                <a:solidFill>
                  <a:srgbClr val="FFFFFF"/>
                </a:solidFill>
              </a:defRPr>
            </a:pPr>
            <a:r>
              <a:rPr lang="fr-FR" sz="3200" dirty="0"/>
              <a:t>Objectifs </a:t>
            </a:r>
            <a:br>
              <a:rPr lang="fr-FR" sz="3200" dirty="0"/>
            </a:br>
            <a:r>
              <a:rPr lang="fr-FR" sz="3200" dirty="0"/>
              <a:t>de la formation</a:t>
            </a:r>
          </a:p>
          <a:p>
            <a:pPr>
              <a:defRPr sz="1600" b="1">
                <a:solidFill>
                  <a:srgbClr val="FFFFFF"/>
                </a:solidFill>
              </a:defRPr>
            </a:pPr>
            <a:endParaRPr lang="fr-FR" sz="3200" dirty="0"/>
          </a:p>
          <a:p>
            <a:pPr>
              <a:defRPr sz="1600" b="1">
                <a:solidFill>
                  <a:srgbClr val="FFFFFF"/>
                </a:solidFill>
              </a:defRPr>
            </a:pPr>
            <a:r>
              <a:rPr lang="fr-FR" sz="2400" dirty="0"/>
              <a:t>Comprendre BIBDOC </a:t>
            </a:r>
            <a:br>
              <a:rPr lang="fr-FR" sz="2400" dirty="0"/>
            </a:br>
            <a:r>
              <a:rPr lang="fr-FR" sz="2400" dirty="0"/>
              <a:t>et Bokeh</a:t>
            </a:r>
          </a:p>
          <a:p>
            <a:pPr>
              <a:defRPr sz="1600" b="1">
                <a:solidFill>
                  <a:srgbClr val="FFFFFF"/>
                </a:solidFill>
              </a:defRPr>
            </a:pPr>
            <a:endParaRPr lang="fr-FR" sz="2400" dirty="0"/>
          </a:p>
          <a:p>
            <a:pPr>
              <a:defRPr sz="1600" b="1">
                <a:solidFill>
                  <a:srgbClr val="FFFFFF"/>
                </a:solidFill>
              </a:defRPr>
            </a:pPr>
            <a:r>
              <a:rPr lang="fr-FR" sz="2400" dirty="0"/>
              <a:t>Sélections thématiques</a:t>
            </a:r>
          </a:p>
        </p:txBody>
      </p:sp>
      <p:pic>
        <p:nvPicPr>
          <p:cNvPr id="5" name="Image 4">
            <a:extLst>
              <a:ext uri="{FF2B5EF4-FFF2-40B4-BE49-F238E27FC236}">
                <a16:creationId xmlns:a16="http://schemas.microsoft.com/office/drawing/2014/main" id="{B9B79A93-F0A6-6142-AA38-77F3908AC024}"/>
              </a:ext>
            </a:extLst>
          </p:cNvPr>
          <p:cNvPicPr>
            <a:picLocks noChangeAspect="1"/>
          </p:cNvPicPr>
          <p:nvPr/>
        </p:nvPicPr>
        <p:blipFill>
          <a:blip r:embed="rId2"/>
          <a:stretch>
            <a:fillRect/>
          </a:stretch>
        </p:blipFill>
        <p:spPr>
          <a:xfrm>
            <a:off x="422958" y="1199971"/>
            <a:ext cx="8142512" cy="4458058"/>
          </a:xfrm>
          <a:prstGeom prst="rect">
            <a:avLst/>
          </a:prstGeom>
        </p:spPr>
      </p:pic>
    </p:spTree>
    <p:extLst>
      <p:ext uri="{BB962C8B-B14F-4D97-AF65-F5344CB8AC3E}">
        <p14:creationId xmlns:p14="http://schemas.microsoft.com/office/powerpoint/2010/main" val="25748179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3E20B07-46A9-2B7C-8A64-2E3DEF82CBD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D5DEB4A-A62E-FDC6-A12D-2AD458C63227}"/>
              </a:ext>
            </a:extLst>
          </p:cNvPr>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7" name="Rectangle 6">
            <a:extLst>
              <a:ext uri="{FF2B5EF4-FFF2-40B4-BE49-F238E27FC236}">
                <a16:creationId xmlns:a16="http://schemas.microsoft.com/office/drawing/2014/main" id="{51D137D2-36EC-7D35-AF90-6D5704981D25}"/>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2">
            <a:extLst>
              <a:ext uri="{FF2B5EF4-FFF2-40B4-BE49-F238E27FC236}">
                <a16:creationId xmlns:a16="http://schemas.microsoft.com/office/drawing/2014/main" id="{28E30BDA-A70B-52D2-78A6-CE6D7300FD38}"/>
              </a:ext>
            </a:extLst>
          </p:cNvPr>
          <p:cNvSpPr txBox="1"/>
          <p:nvPr/>
        </p:nvSpPr>
        <p:spPr>
          <a:xfrm>
            <a:off x="8760542" y="914400"/>
            <a:ext cx="3352800" cy="3046988"/>
          </a:xfrm>
          <a:prstGeom prst="rect">
            <a:avLst/>
          </a:prstGeom>
          <a:noFill/>
        </p:spPr>
        <p:txBody>
          <a:bodyPr wrap="square">
            <a:spAutoFit/>
          </a:bodyPr>
          <a:lstStyle/>
          <a:p>
            <a:pPr>
              <a:defRPr sz="1600" b="1">
                <a:solidFill>
                  <a:srgbClr val="FFFFFF"/>
                </a:solidFill>
              </a:defRPr>
            </a:pPr>
            <a:r>
              <a:rPr lang="fr-FR" sz="3200" dirty="0"/>
              <a:t>Objectifs </a:t>
            </a:r>
            <a:br>
              <a:rPr lang="fr-FR" sz="3200" dirty="0"/>
            </a:br>
            <a:r>
              <a:rPr lang="fr-FR" sz="3200" dirty="0"/>
              <a:t>de la formation</a:t>
            </a:r>
          </a:p>
          <a:p>
            <a:pPr>
              <a:defRPr sz="1600" b="1">
                <a:solidFill>
                  <a:srgbClr val="FFFFFF"/>
                </a:solidFill>
              </a:defRPr>
            </a:pPr>
            <a:endParaRPr lang="fr-FR" sz="3200" dirty="0"/>
          </a:p>
          <a:p>
            <a:pPr>
              <a:defRPr sz="1600" b="1">
                <a:solidFill>
                  <a:srgbClr val="FFFFFF"/>
                </a:solidFill>
              </a:defRPr>
            </a:pPr>
            <a:r>
              <a:rPr lang="fr-FR" sz="2400" dirty="0"/>
              <a:t>Comprendre BIBDOC </a:t>
            </a:r>
            <a:br>
              <a:rPr lang="fr-FR" sz="2400" dirty="0"/>
            </a:br>
            <a:r>
              <a:rPr lang="fr-FR" sz="2400" dirty="0"/>
              <a:t>et Bokeh</a:t>
            </a:r>
          </a:p>
          <a:p>
            <a:pPr>
              <a:defRPr sz="1600" b="1">
                <a:solidFill>
                  <a:srgbClr val="FFFFFF"/>
                </a:solidFill>
              </a:defRPr>
            </a:pPr>
            <a:endParaRPr lang="fr-FR" sz="2400" dirty="0"/>
          </a:p>
          <a:p>
            <a:pPr>
              <a:defRPr sz="1600" b="1">
                <a:solidFill>
                  <a:srgbClr val="FFFFFF"/>
                </a:solidFill>
              </a:defRPr>
            </a:pPr>
            <a:r>
              <a:rPr lang="fr-FR" sz="2400" dirty="0"/>
              <a:t>Pied de page (</a:t>
            </a:r>
            <a:r>
              <a:rPr lang="fr-FR" sz="2400" dirty="0" err="1"/>
              <a:t>footer</a:t>
            </a:r>
            <a:r>
              <a:rPr lang="fr-FR" sz="2400" dirty="0"/>
              <a:t>)</a:t>
            </a:r>
          </a:p>
        </p:txBody>
      </p:sp>
      <p:pic>
        <p:nvPicPr>
          <p:cNvPr id="5" name="Image 4">
            <a:extLst>
              <a:ext uri="{FF2B5EF4-FFF2-40B4-BE49-F238E27FC236}">
                <a16:creationId xmlns:a16="http://schemas.microsoft.com/office/drawing/2014/main" id="{18F680A7-F3A7-9A87-71F9-A545EE8CFFCC}"/>
              </a:ext>
            </a:extLst>
          </p:cNvPr>
          <p:cNvPicPr>
            <a:picLocks noChangeAspect="1"/>
          </p:cNvPicPr>
          <p:nvPr/>
        </p:nvPicPr>
        <p:blipFill>
          <a:blip r:embed="rId2"/>
          <a:stretch>
            <a:fillRect/>
          </a:stretch>
        </p:blipFill>
        <p:spPr>
          <a:xfrm>
            <a:off x="373226" y="4174989"/>
            <a:ext cx="9747378" cy="2421224"/>
          </a:xfrm>
          <a:prstGeom prst="rect">
            <a:avLst/>
          </a:prstGeom>
        </p:spPr>
      </p:pic>
    </p:spTree>
    <p:extLst>
      <p:ext uri="{BB962C8B-B14F-4D97-AF65-F5344CB8AC3E}">
        <p14:creationId xmlns:p14="http://schemas.microsoft.com/office/powerpoint/2010/main" val="40765560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39C3279-992A-E82E-BABA-91E2F3403F7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A74A968-531B-C591-080F-0E8899E11F30}"/>
              </a:ext>
            </a:extLst>
          </p:cNvPr>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4" name="TextBox 3">
            <a:extLst>
              <a:ext uri="{FF2B5EF4-FFF2-40B4-BE49-F238E27FC236}">
                <a16:creationId xmlns:a16="http://schemas.microsoft.com/office/drawing/2014/main" id="{EC48B332-7A1F-8536-F2CB-21DFEA247510}"/>
              </a:ext>
            </a:extLst>
          </p:cNvPr>
          <p:cNvSpPr txBox="1"/>
          <p:nvPr/>
        </p:nvSpPr>
        <p:spPr>
          <a:xfrm>
            <a:off x="502920" y="569914"/>
            <a:ext cx="7667897" cy="338554"/>
          </a:xfrm>
          <a:prstGeom prst="rect">
            <a:avLst/>
          </a:prstGeom>
          <a:noFill/>
        </p:spPr>
        <p:txBody>
          <a:bodyPr wrap="square">
            <a:spAutoFit/>
          </a:bodyPr>
          <a:lstStyle/>
          <a:p>
            <a:pPr>
              <a:spcAft>
                <a:spcPts val="1100"/>
              </a:spcAft>
              <a:defRPr sz="1800">
                <a:solidFill>
                  <a:srgbClr val="23232D"/>
                </a:solidFill>
              </a:defRPr>
            </a:pPr>
            <a:r>
              <a:rPr lang="fr-FR" sz="1600" noProof="0" dirty="0">
                <a:solidFill>
                  <a:srgbClr val="002060"/>
                </a:solidFill>
              </a:rPr>
              <a:t>Accès en administration </a:t>
            </a:r>
            <a:r>
              <a:rPr lang="fr-FR" sz="1600" dirty="0">
                <a:solidFill>
                  <a:srgbClr val="002060"/>
                </a:solidFill>
              </a:rPr>
              <a:t>du portail : https://bibdoc.culture.gouv.fr/admin</a:t>
            </a:r>
            <a:endParaRPr lang="fr-FR" sz="1600" noProof="0" dirty="0">
              <a:solidFill>
                <a:srgbClr val="002060"/>
              </a:solidFill>
            </a:endParaRPr>
          </a:p>
        </p:txBody>
      </p:sp>
      <p:sp>
        <p:nvSpPr>
          <p:cNvPr id="7" name="Rectangle 6">
            <a:extLst>
              <a:ext uri="{FF2B5EF4-FFF2-40B4-BE49-F238E27FC236}">
                <a16:creationId xmlns:a16="http://schemas.microsoft.com/office/drawing/2014/main" id="{7415DD79-25CB-E59F-721C-6EB256193D58}"/>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2">
            <a:extLst>
              <a:ext uri="{FF2B5EF4-FFF2-40B4-BE49-F238E27FC236}">
                <a16:creationId xmlns:a16="http://schemas.microsoft.com/office/drawing/2014/main" id="{74B8BA71-3BAB-CE10-E540-2DE79596799E}"/>
              </a:ext>
            </a:extLst>
          </p:cNvPr>
          <p:cNvSpPr txBox="1"/>
          <p:nvPr/>
        </p:nvSpPr>
        <p:spPr>
          <a:xfrm>
            <a:off x="8760542" y="914400"/>
            <a:ext cx="3352800" cy="2308324"/>
          </a:xfrm>
          <a:prstGeom prst="rect">
            <a:avLst/>
          </a:prstGeom>
          <a:noFill/>
        </p:spPr>
        <p:txBody>
          <a:bodyPr wrap="square">
            <a:spAutoFit/>
          </a:bodyPr>
          <a:lstStyle/>
          <a:p>
            <a:pPr>
              <a:defRPr sz="1600" b="1">
                <a:solidFill>
                  <a:srgbClr val="FFFFFF"/>
                </a:solidFill>
              </a:defRPr>
            </a:pPr>
            <a:r>
              <a:rPr lang="fr-FR" sz="3200" dirty="0"/>
              <a:t>Objectifs </a:t>
            </a:r>
            <a:br>
              <a:rPr lang="fr-FR" sz="3200" dirty="0"/>
            </a:br>
            <a:r>
              <a:rPr lang="fr-FR" sz="3200" dirty="0"/>
              <a:t>de la formation</a:t>
            </a:r>
          </a:p>
          <a:p>
            <a:pPr>
              <a:defRPr sz="1600" b="1">
                <a:solidFill>
                  <a:srgbClr val="FFFFFF"/>
                </a:solidFill>
              </a:defRPr>
            </a:pPr>
            <a:endParaRPr lang="fr-FR" sz="3200" dirty="0"/>
          </a:p>
          <a:p>
            <a:pPr>
              <a:defRPr sz="1600" b="1">
                <a:solidFill>
                  <a:srgbClr val="FFFFFF"/>
                </a:solidFill>
              </a:defRPr>
            </a:pPr>
            <a:r>
              <a:rPr lang="fr-FR" sz="2400" dirty="0"/>
              <a:t>Comprendre BIBDOC </a:t>
            </a:r>
            <a:br>
              <a:rPr lang="fr-FR" sz="2400" dirty="0"/>
            </a:br>
            <a:r>
              <a:rPr lang="fr-FR" sz="2400" dirty="0"/>
              <a:t>et Bokeh</a:t>
            </a:r>
          </a:p>
        </p:txBody>
      </p:sp>
      <p:pic>
        <p:nvPicPr>
          <p:cNvPr id="5" name="Image 4">
            <a:extLst>
              <a:ext uri="{FF2B5EF4-FFF2-40B4-BE49-F238E27FC236}">
                <a16:creationId xmlns:a16="http://schemas.microsoft.com/office/drawing/2014/main" id="{75430F3F-1D81-10A4-BCF0-063BDF817E5F}"/>
              </a:ext>
            </a:extLst>
          </p:cNvPr>
          <p:cNvPicPr>
            <a:picLocks noChangeAspect="1"/>
          </p:cNvPicPr>
          <p:nvPr/>
        </p:nvPicPr>
        <p:blipFill>
          <a:blip r:embed="rId2"/>
          <a:stretch>
            <a:fillRect/>
          </a:stretch>
        </p:blipFill>
        <p:spPr>
          <a:xfrm>
            <a:off x="1593285" y="2068562"/>
            <a:ext cx="5487166" cy="2695951"/>
          </a:xfrm>
          <a:prstGeom prst="rect">
            <a:avLst/>
          </a:prstGeom>
        </p:spPr>
      </p:pic>
    </p:spTree>
    <p:extLst>
      <p:ext uri="{BB962C8B-B14F-4D97-AF65-F5344CB8AC3E}">
        <p14:creationId xmlns:p14="http://schemas.microsoft.com/office/powerpoint/2010/main" val="12752542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8C53D95-779A-2F37-48D5-BB33BE8BFE2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337CD1E-93C1-EE95-71AF-049FD3318B32}"/>
              </a:ext>
            </a:extLst>
          </p:cNvPr>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7" name="Rectangle 6">
            <a:extLst>
              <a:ext uri="{FF2B5EF4-FFF2-40B4-BE49-F238E27FC236}">
                <a16:creationId xmlns:a16="http://schemas.microsoft.com/office/drawing/2014/main" id="{AA14E676-5201-4684-1490-376117399B6A}"/>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2">
            <a:extLst>
              <a:ext uri="{FF2B5EF4-FFF2-40B4-BE49-F238E27FC236}">
                <a16:creationId xmlns:a16="http://schemas.microsoft.com/office/drawing/2014/main" id="{DA9920D1-C50F-9BD9-701C-C9FB0918D375}"/>
              </a:ext>
            </a:extLst>
          </p:cNvPr>
          <p:cNvSpPr txBox="1"/>
          <p:nvPr/>
        </p:nvSpPr>
        <p:spPr>
          <a:xfrm>
            <a:off x="8760542" y="914400"/>
            <a:ext cx="3352800" cy="3416320"/>
          </a:xfrm>
          <a:prstGeom prst="rect">
            <a:avLst/>
          </a:prstGeom>
          <a:noFill/>
        </p:spPr>
        <p:txBody>
          <a:bodyPr wrap="square">
            <a:spAutoFit/>
          </a:bodyPr>
          <a:lstStyle/>
          <a:p>
            <a:pPr>
              <a:defRPr sz="1600" b="1">
                <a:solidFill>
                  <a:srgbClr val="FFFFFF"/>
                </a:solidFill>
              </a:defRPr>
            </a:pPr>
            <a:r>
              <a:rPr lang="fr-FR" sz="3200" dirty="0"/>
              <a:t>Objectifs </a:t>
            </a:r>
            <a:br>
              <a:rPr lang="fr-FR" sz="3200" dirty="0"/>
            </a:br>
            <a:r>
              <a:rPr lang="fr-FR" sz="3200" dirty="0"/>
              <a:t>de la formation</a:t>
            </a:r>
          </a:p>
          <a:p>
            <a:pPr>
              <a:defRPr sz="1600" b="1">
                <a:solidFill>
                  <a:srgbClr val="FFFFFF"/>
                </a:solidFill>
              </a:defRPr>
            </a:pPr>
            <a:endParaRPr lang="fr-FR" sz="3200" dirty="0"/>
          </a:p>
          <a:p>
            <a:pPr>
              <a:defRPr sz="1600" b="1">
                <a:solidFill>
                  <a:srgbClr val="FFFFFF"/>
                </a:solidFill>
              </a:defRPr>
            </a:pPr>
            <a:r>
              <a:rPr lang="fr-FR" sz="2400" dirty="0"/>
              <a:t>Comprendre BIBDOC </a:t>
            </a:r>
            <a:br>
              <a:rPr lang="fr-FR" sz="2400" dirty="0"/>
            </a:br>
            <a:r>
              <a:rPr lang="fr-FR" sz="2400" dirty="0"/>
              <a:t>et Bokeh</a:t>
            </a:r>
          </a:p>
          <a:p>
            <a:pPr>
              <a:defRPr sz="1600" b="1">
                <a:solidFill>
                  <a:srgbClr val="FFFFFF"/>
                </a:solidFill>
              </a:defRPr>
            </a:pPr>
            <a:endParaRPr lang="fr-FR" sz="2400" dirty="0"/>
          </a:p>
          <a:p>
            <a:pPr>
              <a:defRPr sz="1600" b="1">
                <a:solidFill>
                  <a:srgbClr val="FFFFFF"/>
                </a:solidFill>
              </a:defRPr>
            </a:pPr>
            <a:r>
              <a:rPr lang="fr-FR" sz="2400" dirty="0"/>
              <a:t>Page d’administration</a:t>
            </a:r>
            <a:br>
              <a:rPr lang="fr-FR" sz="2400" dirty="0"/>
            </a:br>
            <a:r>
              <a:rPr lang="fr-FR" sz="2400" dirty="0"/>
              <a:t>du portail </a:t>
            </a:r>
          </a:p>
        </p:txBody>
      </p:sp>
      <p:pic>
        <p:nvPicPr>
          <p:cNvPr id="5" name="Image 4">
            <a:extLst>
              <a:ext uri="{FF2B5EF4-FFF2-40B4-BE49-F238E27FC236}">
                <a16:creationId xmlns:a16="http://schemas.microsoft.com/office/drawing/2014/main" id="{92558793-4AC5-7823-D0AF-EE7146E13102}"/>
              </a:ext>
            </a:extLst>
          </p:cNvPr>
          <p:cNvPicPr>
            <a:picLocks noChangeAspect="1"/>
          </p:cNvPicPr>
          <p:nvPr/>
        </p:nvPicPr>
        <p:blipFill>
          <a:blip r:embed="rId2"/>
          <a:stretch>
            <a:fillRect/>
          </a:stretch>
        </p:blipFill>
        <p:spPr>
          <a:xfrm>
            <a:off x="284054" y="1586204"/>
            <a:ext cx="8232814" cy="3685592"/>
          </a:xfrm>
          <a:prstGeom prst="rect">
            <a:avLst/>
          </a:prstGeom>
        </p:spPr>
      </p:pic>
    </p:spTree>
    <p:extLst>
      <p:ext uri="{BB962C8B-B14F-4D97-AF65-F5344CB8AC3E}">
        <p14:creationId xmlns:p14="http://schemas.microsoft.com/office/powerpoint/2010/main" val="8854798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F85190C-9A89-059B-92B3-A50DDADE7AA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CE735CA-81BD-DC5A-15E7-2CAD36011E69}"/>
              </a:ext>
            </a:extLst>
          </p:cNvPr>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7" name="Rectangle 6">
            <a:extLst>
              <a:ext uri="{FF2B5EF4-FFF2-40B4-BE49-F238E27FC236}">
                <a16:creationId xmlns:a16="http://schemas.microsoft.com/office/drawing/2014/main" id="{A77A72AE-1DD7-DC41-2166-EEECEA73156D}"/>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2">
            <a:extLst>
              <a:ext uri="{FF2B5EF4-FFF2-40B4-BE49-F238E27FC236}">
                <a16:creationId xmlns:a16="http://schemas.microsoft.com/office/drawing/2014/main" id="{A3D2A23A-ABAD-2FC4-ED5A-B0CBFA64095C}"/>
              </a:ext>
            </a:extLst>
          </p:cNvPr>
          <p:cNvSpPr txBox="1"/>
          <p:nvPr/>
        </p:nvSpPr>
        <p:spPr>
          <a:xfrm>
            <a:off x="8760542" y="914400"/>
            <a:ext cx="3352800" cy="3416320"/>
          </a:xfrm>
          <a:prstGeom prst="rect">
            <a:avLst/>
          </a:prstGeom>
          <a:noFill/>
        </p:spPr>
        <p:txBody>
          <a:bodyPr wrap="square">
            <a:spAutoFit/>
          </a:bodyPr>
          <a:lstStyle/>
          <a:p>
            <a:pPr>
              <a:defRPr sz="1600" b="1">
                <a:solidFill>
                  <a:srgbClr val="FFFFFF"/>
                </a:solidFill>
              </a:defRPr>
            </a:pPr>
            <a:r>
              <a:rPr lang="fr-FR" sz="3200" dirty="0"/>
              <a:t>Objectifs </a:t>
            </a:r>
            <a:br>
              <a:rPr lang="fr-FR" sz="3200" dirty="0"/>
            </a:br>
            <a:r>
              <a:rPr lang="fr-FR" sz="3200" dirty="0"/>
              <a:t>de la formation</a:t>
            </a:r>
          </a:p>
          <a:p>
            <a:pPr>
              <a:defRPr sz="1600" b="1">
                <a:solidFill>
                  <a:srgbClr val="FFFFFF"/>
                </a:solidFill>
              </a:defRPr>
            </a:pPr>
            <a:endParaRPr lang="fr-FR" sz="3200" dirty="0"/>
          </a:p>
          <a:p>
            <a:pPr>
              <a:defRPr sz="1600" b="1">
                <a:solidFill>
                  <a:srgbClr val="FFFFFF"/>
                </a:solidFill>
              </a:defRPr>
            </a:pPr>
            <a:r>
              <a:rPr lang="fr-FR" sz="2400" dirty="0"/>
              <a:t>Comprendre BIBDOC </a:t>
            </a:r>
            <a:br>
              <a:rPr lang="fr-FR" sz="2400" dirty="0"/>
            </a:br>
            <a:r>
              <a:rPr lang="fr-FR" sz="2400" dirty="0"/>
              <a:t>et Bokeh</a:t>
            </a:r>
          </a:p>
          <a:p>
            <a:pPr>
              <a:defRPr sz="1600" b="1">
                <a:solidFill>
                  <a:srgbClr val="FFFFFF"/>
                </a:solidFill>
              </a:defRPr>
            </a:pPr>
            <a:endParaRPr lang="fr-FR" sz="2400" dirty="0"/>
          </a:p>
          <a:p>
            <a:pPr>
              <a:defRPr sz="1600" b="1">
                <a:solidFill>
                  <a:srgbClr val="FFFFFF"/>
                </a:solidFill>
              </a:defRPr>
            </a:pPr>
            <a:r>
              <a:rPr lang="fr-FR" sz="2400" dirty="0"/>
              <a:t>Modules d’administration</a:t>
            </a:r>
          </a:p>
        </p:txBody>
      </p:sp>
      <p:pic>
        <p:nvPicPr>
          <p:cNvPr id="5" name="Image 4">
            <a:extLst>
              <a:ext uri="{FF2B5EF4-FFF2-40B4-BE49-F238E27FC236}">
                <a16:creationId xmlns:a16="http://schemas.microsoft.com/office/drawing/2014/main" id="{890AF15D-93FE-EEC4-685A-ECC998617899}"/>
              </a:ext>
            </a:extLst>
          </p:cNvPr>
          <p:cNvPicPr>
            <a:picLocks noChangeAspect="1"/>
          </p:cNvPicPr>
          <p:nvPr/>
        </p:nvPicPr>
        <p:blipFill>
          <a:blip r:embed="rId2"/>
          <a:stretch>
            <a:fillRect/>
          </a:stretch>
        </p:blipFill>
        <p:spPr>
          <a:xfrm>
            <a:off x="482826" y="437662"/>
            <a:ext cx="3258005" cy="2810267"/>
          </a:xfrm>
          <a:prstGeom prst="rect">
            <a:avLst/>
          </a:prstGeom>
        </p:spPr>
      </p:pic>
      <p:pic>
        <p:nvPicPr>
          <p:cNvPr id="8" name="Image 7">
            <a:extLst>
              <a:ext uri="{FF2B5EF4-FFF2-40B4-BE49-F238E27FC236}">
                <a16:creationId xmlns:a16="http://schemas.microsoft.com/office/drawing/2014/main" id="{91BCC683-5D28-B52B-AA46-5FDD76053F72}"/>
              </a:ext>
            </a:extLst>
          </p:cNvPr>
          <p:cNvPicPr>
            <a:picLocks noChangeAspect="1"/>
          </p:cNvPicPr>
          <p:nvPr/>
        </p:nvPicPr>
        <p:blipFill>
          <a:blip r:embed="rId3"/>
          <a:stretch>
            <a:fillRect/>
          </a:stretch>
        </p:blipFill>
        <p:spPr>
          <a:xfrm>
            <a:off x="4732627" y="975899"/>
            <a:ext cx="3277057" cy="1733792"/>
          </a:xfrm>
          <a:prstGeom prst="rect">
            <a:avLst/>
          </a:prstGeom>
        </p:spPr>
      </p:pic>
      <p:pic>
        <p:nvPicPr>
          <p:cNvPr id="11" name="Image 10">
            <a:extLst>
              <a:ext uri="{FF2B5EF4-FFF2-40B4-BE49-F238E27FC236}">
                <a16:creationId xmlns:a16="http://schemas.microsoft.com/office/drawing/2014/main" id="{FF1AA61C-9A02-5707-E238-E5DF231530AA}"/>
              </a:ext>
            </a:extLst>
          </p:cNvPr>
          <p:cNvPicPr>
            <a:picLocks noChangeAspect="1"/>
          </p:cNvPicPr>
          <p:nvPr/>
        </p:nvPicPr>
        <p:blipFill>
          <a:blip r:embed="rId4"/>
          <a:stretch>
            <a:fillRect/>
          </a:stretch>
        </p:blipFill>
        <p:spPr>
          <a:xfrm>
            <a:off x="482826" y="4705527"/>
            <a:ext cx="3258005" cy="1448002"/>
          </a:xfrm>
          <a:prstGeom prst="rect">
            <a:avLst/>
          </a:prstGeom>
        </p:spPr>
      </p:pic>
      <p:pic>
        <p:nvPicPr>
          <p:cNvPr id="13" name="Image 12">
            <a:extLst>
              <a:ext uri="{FF2B5EF4-FFF2-40B4-BE49-F238E27FC236}">
                <a16:creationId xmlns:a16="http://schemas.microsoft.com/office/drawing/2014/main" id="{56F095D5-7622-2F64-853C-77B99A5E14A5}"/>
              </a:ext>
            </a:extLst>
          </p:cNvPr>
          <p:cNvPicPr>
            <a:picLocks noChangeAspect="1"/>
          </p:cNvPicPr>
          <p:nvPr/>
        </p:nvPicPr>
        <p:blipFill>
          <a:blip r:embed="rId5"/>
          <a:stretch>
            <a:fillRect/>
          </a:stretch>
        </p:blipFill>
        <p:spPr>
          <a:xfrm>
            <a:off x="4737390" y="4429264"/>
            <a:ext cx="3267531" cy="2000529"/>
          </a:xfrm>
          <a:prstGeom prst="rect">
            <a:avLst/>
          </a:prstGeom>
        </p:spPr>
      </p:pic>
    </p:spTree>
    <p:extLst>
      <p:ext uri="{BB962C8B-B14F-4D97-AF65-F5344CB8AC3E}">
        <p14:creationId xmlns:p14="http://schemas.microsoft.com/office/powerpoint/2010/main" val="14245419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54AEF5A-DD36-6E5E-EDEC-D3B0CA4E908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EBB3AD7-6D8B-B966-BCDE-DFEBF87767E1}"/>
              </a:ext>
            </a:extLst>
          </p:cNvPr>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4" name="TextBox 3">
            <a:extLst>
              <a:ext uri="{FF2B5EF4-FFF2-40B4-BE49-F238E27FC236}">
                <a16:creationId xmlns:a16="http://schemas.microsoft.com/office/drawing/2014/main" id="{2D8BE3EA-9B97-197C-48EC-0EE244C653C7}"/>
              </a:ext>
            </a:extLst>
          </p:cNvPr>
          <p:cNvSpPr txBox="1"/>
          <p:nvPr/>
        </p:nvSpPr>
        <p:spPr>
          <a:xfrm>
            <a:off x="502920" y="569914"/>
            <a:ext cx="7667897" cy="4490973"/>
          </a:xfrm>
          <a:prstGeom prst="rect">
            <a:avLst/>
          </a:prstGeom>
          <a:noFill/>
        </p:spPr>
        <p:txBody>
          <a:bodyPr wrap="square">
            <a:spAutoFit/>
          </a:bodyPr>
          <a:lstStyle/>
          <a:p>
            <a:pPr>
              <a:spcAft>
                <a:spcPts val="1100"/>
              </a:spcAft>
              <a:defRPr sz="1800">
                <a:solidFill>
                  <a:srgbClr val="23232D"/>
                </a:solidFill>
              </a:defRPr>
            </a:pPr>
            <a:r>
              <a:rPr lang="fr-FR" sz="1600" noProof="0" dirty="0">
                <a:solidFill>
                  <a:srgbClr val="002060"/>
                </a:solidFill>
              </a:rPr>
              <a:t>Dans Bokeh, un article est un contenu rédactionnel destiné à être affiché sur le portail : actualité, information pratique, présentation d’un service, événement ou contenu de valorisation documentaire.</a:t>
            </a:r>
          </a:p>
          <a:p>
            <a:pPr>
              <a:spcAft>
                <a:spcPts val="1100"/>
              </a:spcAft>
              <a:defRPr sz="1800">
                <a:solidFill>
                  <a:srgbClr val="23232D"/>
                </a:solidFill>
              </a:defRPr>
            </a:pPr>
            <a:r>
              <a:rPr lang="fr-FR" sz="1600" noProof="0" dirty="0">
                <a:solidFill>
                  <a:srgbClr val="002060"/>
                </a:solidFill>
              </a:rPr>
              <a:t>La création s’effectue depuis le gestionnaire d’articles. Avant de créer l’article, il faut se placer dans le dossier dans lequel celui-ci doit être rangé. Une fois l’article créé, Bokeh permet notamment de renseigner son titre et, si nécessaire, de le déplacer vers un autre dossier.</a:t>
            </a:r>
          </a:p>
          <a:p>
            <a:pPr>
              <a:spcAft>
                <a:spcPts val="1100"/>
              </a:spcAft>
              <a:defRPr sz="1800">
                <a:solidFill>
                  <a:srgbClr val="23232D"/>
                </a:solidFill>
              </a:defRPr>
            </a:pPr>
            <a:endParaRPr lang="fr-FR" sz="1600" dirty="0">
              <a:solidFill>
                <a:srgbClr val="002060"/>
              </a:solidFill>
            </a:endParaRPr>
          </a:p>
          <a:p>
            <a:pPr>
              <a:spcAft>
                <a:spcPts val="1100"/>
              </a:spcAft>
              <a:defRPr sz="1800">
                <a:solidFill>
                  <a:srgbClr val="23232D"/>
                </a:solidFill>
              </a:defRPr>
            </a:pPr>
            <a:r>
              <a:rPr lang="fr-FR" sz="1600" b="1" noProof="0" dirty="0">
                <a:solidFill>
                  <a:srgbClr val="002060"/>
                </a:solidFill>
              </a:rPr>
              <a:t>La localisation de l’article</a:t>
            </a:r>
          </a:p>
          <a:p>
            <a:pPr>
              <a:spcAft>
                <a:spcPts val="1100"/>
              </a:spcAft>
              <a:defRPr sz="1800">
                <a:solidFill>
                  <a:srgbClr val="23232D"/>
                </a:solidFill>
              </a:defRPr>
            </a:pPr>
            <a:r>
              <a:rPr lang="fr-FR" sz="1600" noProof="0" dirty="0">
                <a:solidFill>
                  <a:srgbClr val="002060"/>
                </a:solidFill>
              </a:rPr>
              <a:t>La localisation indique l’endroit où l’article est enregistré dans l’arborescence des contenus du portail. Le choix du bon dossier est donc important : il permet d’organiser les articles, de les retrouver facilement dans l’administration et de les associer à l’espace éditorial approprié.</a:t>
            </a:r>
          </a:p>
          <a:p>
            <a:pPr>
              <a:spcAft>
                <a:spcPts val="1100"/>
              </a:spcAft>
              <a:defRPr sz="1800">
                <a:solidFill>
                  <a:srgbClr val="23232D"/>
                </a:solidFill>
              </a:defRPr>
            </a:pPr>
            <a:r>
              <a:rPr lang="fr-FR" sz="1600" noProof="0" dirty="0">
                <a:solidFill>
                  <a:srgbClr val="002060"/>
                </a:solidFill>
              </a:rPr>
              <a:t>Dans BIBDOC, il faudra donc respecter l’organisation éditoriale définie pour le portail et choisir la localisation correspondant au type de contenu et à la structure concernée.</a:t>
            </a:r>
          </a:p>
        </p:txBody>
      </p:sp>
      <p:sp>
        <p:nvSpPr>
          <p:cNvPr id="7" name="Rectangle 6">
            <a:extLst>
              <a:ext uri="{FF2B5EF4-FFF2-40B4-BE49-F238E27FC236}">
                <a16:creationId xmlns:a16="http://schemas.microsoft.com/office/drawing/2014/main" id="{D9AA41F5-8F83-8CE0-ED31-26C2B9090AA6}"/>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2">
            <a:extLst>
              <a:ext uri="{FF2B5EF4-FFF2-40B4-BE49-F238E27FC236}">
                <a16:creationId xmlns:a16="http://schemas.microsoft.com/office/drawing/2014/main" id="{8ADE9995-F4E3-9B90-2292-7DF52177C502}"/>
              </a:ext>
            </a:extLst>
          </p:cNvPr>
          <p:cNvSpPr txBox="1"/>
          <p:nvPr/>
        </p:nvSpPr>
        <p:spPr>
          <a:xfrm>
            <a:off x="8760542" y="914400"/>
            <a:ext cx="3352800" cy="1446550"/>
          </a:xfrm>
          <a:prstGeom prst="rect">
            <a:avLst/>
          </a:prstGeom>
          <a:noFill/>
        </p:spPr>
        <p:txBody>
          <a:bodyPr wrap="square">
            <a:spAutoFit/>
          </a:bodyPr>
          <a:lstStyle/>
          <a:p>
            <a:pPr>
              <a:defRPr sz="1600" b="1">
                <a:solidFill>
                  <a:srgbClr val="FFFFFF"/>
                </a:solidFill>
              </a:defRPr>
            </a:pPr>
            <a:r>
              <a:rPr lang="fr-FR" sz="3200" dirty="0"/>
              <a:t>Créer un article</a:t>
            </a:r>
          </a:p>
          <a:p>
            <a:pPr>
              <a:defRPr sz="1600" b="1">
                <a:solidFill>
                  <a:srgbClr val="FFFFFF"/>
                </a:solidFill>
              </a:defRPr>
            </a:pPr>
            <a:endParaRPr lang="fr-FR" sz="3200" dirty="0"/>
          </a:p>
          <a:p>
            <a:pPr>
              <a:defRPr sz="1600" b="1">
                <a:solidFill>
                  <a:srgbClr val="FFFFFF"/>
                </a:solidFill>
              </a:defRPr>
            </a:pPr>
            <a:r>
              <a:rPr lang="fr-FR" sz="2400" dirty="0"/>
              <a:t>Choisir sa localisation</a:t>
            </a:r>
          </a:p>
        </p:txBody>
      </p:sp>
    </p:spTree>
    <p:extLst>
      <p:ext uri="{BB962C8B-B14F-4D97-AF65-F5344CB8AC3E}">
        <p14:creationId xmlns:p14="http://schemas.microsoft.com/office/powerpoint/2010/main" val="24487059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CD204D7-FC3F-2210-73AE-10E44D2F188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ACBD2CE-45B2-F6F6-70E2-F9929F4C5E03}"/>
              </a:ext>
            </a:extLst>
          </p:cNvPr>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7" name="Rectangle 6">
            <a:extLst>
              <a:ext uri="{FF2B5EF4-FFF2-40B4-BE49-F238E27FC236}">
                <a16:creationId xmlns:a16="http://schemas.microsoft.com/office/drawing/2014/main" id="{651642FB-4D44-78F0-EC7C-8A9FF4101AFB}"/>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2">
            <a:extLst>
              <a:ext uri="{FF2B5EF4-FFF2-40B4-BE49-F238E27FC236}">
                <a16:creationId xmlns:a16="http://schemas.microsoft.com/office/drawing/2014/main" id="{F274FC65-4B0F-A91B-5CC2-B2A491051D37}"/>
              </a:ext>
            </a:extLst>
          </p:cNvPr>
          <p:cNvSpPr txBox="1"/>
          <p:nvPr/>
        </p:nvSpPr>
        <p:spPr>
          <a:xfrm>
            <a:off x="8760542" y="914400"/>
            <a:ext cx="3352800" cy="1446550"/>
          </a:xfrm>
          <a:prstGeom prst="rect">
            <a:avLst/>
          </a:prstGeom>
          <a:noFill/>
        </p:spPr>
        <p:txBody>
          <a:bodyPr wrap="square">
            <a:spAutoFit/>
          </a:bodyPr>
          <a:lstStyle/>
          <a:p>
            <a:pPr>
              <a:defRPr sz="1600" b="1">
                <a:solidFill>
                  <a:srgbClr val="FFFFFF"/>
                </a:solidFill>
              </a:defRPr>
            </a:pPr>
            <a:r>
              <a:rPr lang="fr-FR" sz="3200" dirty="0"/>
              <a:t>Créer un article</a:t>
            </a:r>
          </a:p>
          <a:p>
            <a:pPr>
              <a:defRPr sz="1600" b="1">
                <a:solidFill>
                  <a:srgbClr val="FFFFFF"/>
                </a:solidFill>
              </a:defRPr>
            </a:pPr>
            <a:endParaRPr lang="fr-FR" sz="3200" dirty="0"/>
          </a:p>
          <a:p>
            <a:pPr>
              <a:defRPr sz="1600" b="1">
                <a:solidFill>
                  <a:srgbClr val="FFFFFF"/>
                </a:solidFill>
              </a:defRPr>
            </a:pPr>
            <a:r>
              <a:rPr lang="fr-FR" sz="2400" dirty="0"/>
              <a:t>Choisir sa localisation</a:t>
            </a:r>
          </a:p>
        </p:txBody>
      </p:sp>
      <p:pic>
        <p:nvPicPr>
          <p:cNvPr id="5" name="Image 4">
            <a:extLst>
              <a:ext uri="{FF2B5EF4-FFF2-40B4-BE49-F238E27FC236}">
                <a16:creationId xmlns:a16="http://schemas.microsoft.com/office/drawing/2014/main" id="{BD8BB7D4-A80A-E33A-BD75-0B085AE8EA13}"/>
              </a:ext>
            </a:extLst>
          </p:cNvPr>
          <p:cNvPicPr>
            <a:picLocks noChangeAspect="1"/>
          </p:cNvPicPr>
          <p:nvPr/>
        </p:nvPicPr>
        <p:blipFill>
          <a:blip r:embed="rId2"/>
          <a:stretch>
            <a:fillRect/>
          </a:stretch>
        </p:blipFill>
        <p:spPr>
          <a:xfrm>
            <a:off x="240202" y="1421343"/>
            <a:ext cx="8325268" cy="4015314"/>
          </a:xfrm>
          <a:prstGeom prst="rect">
            <a:avLst/>
          </a:prstGeom>
        </p:spPr>
      </p:pic>
    </p:spTree>
    <p:extLst>
      <p:ext uri="{BB962C8B-B14F-4D97-AF65-F5344CB8AC3E}">
        <p14:creationId xmlns:p14="http://schemas.microsoft.com/office/powerpoint/2010/main" val="19643086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32C71F5-1977-4117-763D-57139DB0548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B49F3A6-A19A-EB66-8DD4-E493FE64CD7F}"/>
              </a:ext>
            </a:extLst>
          </p:cNvPr>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7" name="Rectangle 6">
            <a:extLst>
              <a:ext uri="{FF2B5EF4-FFF2-40B4-BE49-F238E27FC236}">
                <a16:creationId xmlns:a16="http://schemas.microsoft.com/office/drawing/2014/main" id="{AAB48E58-A8CF-A59B-FBA1-79DD9CF4CE02}"/>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2">
            <a:extLst>
              <a:ext uri="{FF2B5EF4-FFF2-40B4-BE49-F238E27FC236}">
                <a16:creationId xmlns:a16="http://schemas.microsoft.com/office/drawing/2014/main" id="{E3D9736C-B861-DB02-7334-A3EE6B336E70}"/>
              </a:ext>
            </a:extLst>
          </p:cNvPr>
          <p:cNvSpPr txBox="1"/>
          <p:nvPr/>
        </p:nvSpPr>
        <p:spPr>
          <a:xfrm>
            <a:off x="8760542" y="914400"/>
            <a:ext cx="3352800" cy="1446550"/>
          </a:xfrm>
          <a:prstGeom prst="rect">
            <a:avLst/>
          </a:prstGeom>
          <a:noFill/>
        </p:spPr>
        <p:txBody>
          <a:bodyPr wrap="square">
            <a:spAutoFit/>
          </a:bodyPr>
          <a:lstStyle/>
          <a:p>
            <a:pPr>
              <a:defRPr sz="1600" b="1">
                <a:solidFill>
                  <a:srgbClr val="FFFFFF"/>
                </a:solidFill>
              </a:defRPr>
            </a:pPr>
            <a:r>
              <a:rPr lang="fr-FR" sz="3200" dirty="0"/>
              <a:t>Créer un article</a:t>
            </a:r>
          </a:p>
          <a:p>
            <a:pPr>
              <a:defRPr sz="1600" b="1">
                <a:solidFill>
                  <a:srgbClr val="FFFFFF"/>
                </a:solidFill>
              </a:defRPr>
            </a:pPr>
            <a:endParaRPr lang="fr-FR" sz="3200" dirty="0"/>
          </a:p>
          <a:p>
            <a:pPr>
              <a:defRPr sz="1600" b="1">
                <a:solidFill>
                  <a:srgbClr val="FFFFFF"/>
                </a:solidFill>
              </a:defRPr>
            </a:pPr>
            <a:r>
              <a:rPr lang="fr-FR" sz="2400" dirty="0"/>
              <a:t>Choisir sa localisation</a:t>
            </a:r>
          </a:p>
        </p:txBody>
      </p:sp>
      <p:pic>
        <p:nvPicPr>
          <p:cNvPr id="5" name="Image 4">
            <a:extLst>
              <a:ext uri="{FF2B5EF4-FFF2-40B4-BE49-F238E27FC236}">
                <a16:creationId xmlns:a16="http://schemas.microsoft.com/office/drawing/2014/main" id="{364E829C-26E1-9840-0E51-450E94A79F12}"/>
              </a:ext>
            </a:extLst>
          </p:cNvPr>
          <p:cNvPicPr>
            <a:picLocks noChangeAspect="1"/>
          </p:cNvPicPr>
          <p:nvPr/>
        </p:nvPicPr>
        <p:blipFill>
          <a:blip r:embed="rId2"/>
          <a:stretch>
            <a:fillRect/>
          </a:stretch>
        </p:blipFill>
        <p:spPr>
          <a:xfrm>
            <a:off x="270587" y="3934059"/>
            <a:ext cx="9952654" cy="2212606"/>
          </a:xfrm>
          <a:prstGeom prst="rect">
            <a:avLst/>
          </a:prstGeom>
        </p:spPr>
      </p:pic>
      <p:pic>
        <p:nvPicPr>
          <p:cNvPr id="8" name="Image 7">
            <a:extLst>
              <a:ext uri="{FF2B5EF4-FFF2-40B4-BE49-F238E27FC236}">
                <a16:creationId xmlns:a16="http://schemas.microsoft.com/office/drawing/2014/main" id="{1FA135A2-B487-37B4-9772-AD162C44F787}"/>
              </a:ext>
            </a:extLst>
          </p:cNvPr>
          <p:cNvPicPr>
            <a:picLocks noChangeAspect="1"/>
          </p:cNvPicPr>
          <p:nvPr/>
        </p:nvPicPr>
        <p:blipFill>
          <a:blip r:embed="rId3"/>
          <a:stretch>
            <a:fillRect/>
          </a:stretch>
        </p:blipFill>
        <p:spPr>
          <a:xfrm>
            <a:off x="270587" y="217643"/>
            <a:ext cx="2381582" cy="504895"/>
          </a:xfrm>
          <a:prstGeom prst="rect">
            <a:avLst/>
          </a:prstGeom>
        </p:spPr>
      </p:pic>
      <p:pic>
        <p:nvPicPr>
          <p:cNvPr id="11" name="Image 10">
            <a:extLst>
              <a:ext uri="{FF2B5EF4-FFF2-40B4-BE49-F238E27FC236}">
                <a16:creationId xmlns:a16="http://schemas.microsoft.com/office/drawing/2014/main" id="{FCE2E2A5-3014-842A-C944-1464E9963CF8}"/>
              </a:ext>
            </a:extLst>
          </p:cNvPr>
          <p:cNvPicPr>
            <a:picLocks noChangeAspect="1"/>
          </p:cNvPicPr>
          <p:nvPr/>
        </p:nvPicPr>
        <p:blipFill>
          <a:blip r:embed="rId4"/>
          <a:stretch>
            <a:fillRect/>
          </a:stretch>
        </p:blipFill>
        <p:spPr>
          <a:xfrm>
            <a:off x="270587" y="880866"/>
            <a:ext cx="7828762" cy="2697526"/>
          </a:xfrm>
          <a:prstGeom prst="rect">
            <a:avLst/>
          </a:prstGeom>
        </p:spPr>
      </p:pic>
    </p:spTree>
    <p:extLst>
      <p:ext uri="{BB962C8B-B14F-4D97-AF65-F5344CB8AC3E}">
        <p14:creationId xmlns:p14="http://schemas.microsoft.com/office/powerpoint/2010/main" val="36044146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4DE5BBF6-6BC5-8497-BAEF-190E6F47085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224316E-A37F-2DE9-93C1-EA702DCFB822}"/>
              </a:ext>
            </a:extLst>
          </p:cNvPr>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7" name="Rectangle 6">
            <a:extLst>
              <a:ext uri="{FF2B5EF4-FFF2-40B4-BE49-F238E27FC236}">
                <a16:creationId xmlns:a16="http://schemas.microsoft.com/office/drawing/2014/main" id="{46A772CE-807C-4DAB-407B-A4C4437FF99B}"/>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2">
            <a:extLst>
              <a:ext uri="{FF2B5EF4-FFF2-40B4-BE49-F238E27FC236}">
                <a16:creationId xmlns:a16="http://schemas.microsoft.com/office/drawing/2014/main" id="{E289EBBA-CC9C-CB09-BF4B-4DB2EAA62044}"/>
              </a:ext>
            </a:extLst>
          </p:cNvPr>
          <p:cNvSpPr txBox="1"/>
          <p:nvPr/>
        </p:nvSpPr>
        <p:spPr>
          <a:xfrm>
            <a:off x="8760542" y="914400"/>
            <a:ext cx="3352800" cy="584775"/>
          </a:xfrm>
          <a:prstGeom prst="rect">
            <a:avLst/>
          </a:prstGeom>
          <a:noFill/>
        </p:spPr>
        <p:txBody>
          <a:bodyPr wrap="square">
            <a:spAutoFit/>
          </a:bodyPr>
          <a:lstStyle/>
          <a:p>
            <a:pPr>
              <a:defRPr sz="1600" b="1">
                <a:solidFill>
                  <a:srgbClr val="FFFFFF"/>
                </a:solidFill>
              </a:defRPr>
            </a:pPr>
            <a:r>
              <a:rPr lang="fr-FR" sz="3200" dirty="0"/>
              <a:t>Créer un article</a:t>
            </a:r>
          </a:p>
        </p:txBody>
      </p:sp>
      <p:pic>
        <p:nvPicPr>
          <p:cNvPr id="5" name="Image 4">
            <a:extLst>
              <a:ext uri="{FF2B5EF4-FFF2-40B4-BE49-F238E27FC236}">
                <a16:creationId xmlns:a16="http://schemas.microsoft.com/office/drawing/2014/main" id="{8B3F777E-F869-7ACF-6CF7-40AD39BB3FF0}"/>
              </a:ext>
            </a:extLst>
          </p:cNvPr>
          <p:cNvPicPr>
            <a:picLocks noChangeAspect="1"/>
          </p:cNvPicPr>
          <p:nvPr/>
        </p:nvPicPr>
        <p:blipFill>
          <a:blip r:embed="rId2"/>
          <a:stretch>
            <a:fillRect/>
          </a:stretch>
        </p:blipFill>
        <p:spPr>
          <a:xfrm>
            <a:off x="1574232" y="3222724"/>
            <a:ext cx="5525271" cy="543001"/>
          </a:xfrm>
          <a:prstGeom prst="rect">
            <a:avLst/>
          </a:prstGeom>
        </p:spPr>
      </p:pic>
      <p:sp>
        <p:nvSpPr>
          <p:cNvPr id="6" name="ZoneTexte 5">
            <a:extLst>
              <a:ext uri="{FF2B5EF4-FFF2-40B4-BE49-F238E27FC236}">
                <a16:creationId xmlns:a16="http://schemas.microsoft.com/office/drawing/2014/main" id="{06580D69-79FF-235D-23A3-8C254FE538D5}"/>
              </a:ext>
            </a:extLst>
          </p:cNvPr>
          <p:cNvSpPr txBox="1"/>
          <p:nvPr/>
        </p:nvSpPr>
        <p:spPr>
          <a:xfrm>
            <a:off x="4970901" y="648974"/>
            <a:ext cx="1187412" cy="307777"/>
          </a:xfrm>
          <a:prstGeom prst="rect">
            <a:avLst/>
          </a:prstGeom>
          <a:noFill/>
        </p:spPr>
        <p:txBody>
          <a:bodyPr wrap="square">
            <a:spAutoFit/>
          </a:bodyPr>
          <a:lstStyle/>
          <a:p>
            <a:r>
              <a:rPr lang="fr-FR" sz="1400" dirty="0">
                <a:solidFill>
                  <a:srgbClr val="002060"/>
                </a:solidFill>
              </a:rPr>
              <a:t>Modifier </a:t>
            </a:r>
          </a:p>
        </p:txBody>
      </p:sp>
      <p:cxnSp>
        <p:nvCxnSpPr>
          <p:cNvPr id="8" name="Connecteur droit avec flèche 7">
            <a:extLst>
              <a:ext uri="{FF2B5EF4-FFF2-40B4-BE49-F238E27FC236}">
                <a16:creationId xmlns:a16="http://schemas.microsoft.com/office/drawing/2014/main" id="{42A61196-5E38-DB56-12CF-D540C66E9EAE}"/>
              </a:ext>
            </a:extLst>
          </p:cNvPr>
          <p:cNvCxnSpPr>
            <a:cxnSpLocks/>
          </p:cNvCxnSpPr>
          <p:nvPr/>
        </p:nvCxnSpPr>
        <p:spPr>
          <a:xfrm>
            <a:off x="5564607" y="962655"/>
            <a:ext cx="0" cy="226006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0" name="ZoneTexte 9">
            <a:extLst>
              <a:ext uri="{FF2B5EF4-FFF2-40B4-BE49-F238E27FC236}">
                <a16:creationId xmlns:a16="http://schemas.microsoft.com/office/drawing/2014/main" id="{96C8EFB1-EEAC-9DD9-D46B-203C2AACDFC4}"/>
              </a:ext>
            </a:extLst>
          </p:cNvPr>
          <p:cNvSpPr txBox="1"/>
          <p:nvPr/>
        </p:nvSpPr>
        <p:spPr>
          <a:xfrm>
            <a:off x="5236058" y="4491709"/>
            <a:ext cx="1187412" cy="307777"/>
          </a:xfrm>
          <a:prstGeom prst="rect">
            <a:avLst/>
          </a:prstGeom>
          <a:noFill/>
        </p:spPr>
        <p:txBody>
          <a:bodyPr wrap="square">
            <a:spAutoFit/>
          </a:bodyPr>
          <a:lstStyle/>
          <a:p>
            <a:r>
              <a:rPr lang="fr-FR" sz="1400" dirty="0">
                <a:solidFill>
                  <a:srgbClr val="002060"/>
                </a:solidFill>
              </a:rPr>
              <a:t>Supprimer</a:t>
            </a:r>
          </a:p>
        </p:txBody>
      </p:sp>
      <p:cxnSp>
        <p:nvCxnSpPr>
          <p:cNvPr id="11" name="Connecteur droit avec flèche 10">
            <a:extLst>
              <a:ext uri="{FF2B5EF4-FFF2-40B4-BE49-F238E27FC236}">
                <a16:creationId xmlns:a16="http://schemas.microsoft.com/office/drawing/2014/main" id="{B221844E-3F76-9B0D-9A07-A6332935D933}"/>
              </a:ext>
            </a:extLst>
          </p:cNvPr>
          <p:cNvCxnSpPr>
            <a:cxnSpLocks/>
          </p:cNvCxnSpPr>
          <p:nvPr/>
        </p:nvCxnSpPr>
        <p:spPr>
          <a:xfrm flipV="1">
            <a:off x="5829764" y="3669116"/>
            <a:ext cx="1" cy="74426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3" name="ZoneTexte 12">
            <a:extLst>
              <a:ext uri="{FF2B5EF4-FFF2-40B4-BE49-F238E27FC236}">
                <a16:creationId xmlns:a16="http://schemas.microsoft.com/office/drawing/2014/main" id="{613F6926-3AA5-C4DB-5CF4-A0D84058C333}"/>
              </a:ext>
            </a:extLst>
          </p:cNvPr>
          <p:cNvSpPr txBox="1"/>
          <p:nvPr/>
        </p:nvSpPr>
        <p:spPr>
          <a:xfrm>
            <a:off x="5590576" y="1234868"/>
            <a:ext cx="1286085" cy="523220"/>
          </a:xfrm>
          <a:prstGeom prst="rect">
            <a:avLst/>
          </a:prstGeom>
          <a:noFill/>
        </p:spPr>
        <p:txBody>
          <a:bodyPr wrap="square">
            <a:spAutoFit/>
          </a:bodyPr>
          <a:lstStyle/>
          <a:p>
            <a:r>
              <a:rPr lang="fr-FR" sz="1400" dirty="0">
                <a:solidFill>
                  <a:srgbClr val="002060"/>
                </a:solidFill>
              </a:rPr>
              <a:t>Ajouter un article </a:t>
            </a:r>
          </a:p>
        </p:txBody>
      </p:sp>
      <p:cxnSp>
        <p:nvCxnSpPr>
          <p:cNvPr id="14" name="Connecteur droit avec flèche 13">
            <a:extLst>
              <a:ext uri="{FF2B5EF4-FFF2-40B4-BE49-F238E27FC236}">
                <a16:creationId xmlns:a16="http://schemas.microsoft.com/office/drawing/2014/main" id="{E447D4ED-F4E8-9A72-CDD8-6221C0D2164B}"/>
              </a:ext>
            </a:extLst>
          </p:cNvPr>
          <p:cNvCxnSpPr>
            <a:cxnSpLocks/>
          </p:cNvCxnSpPr>
          <p:nvPr/>
        </p:nvCxnSpPr>
        <p:spPr>
          <a:xfrm>
            <a:off x="6062237" y="1739281"/>
            <a:ext cx="0" cy="157308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6" name="ZoneTexte 15">
            <a:extLst>
              <a:ext uri="{FF2B5EF4-FFF2-40B4-BE49-F238E27FC236}">
                <a16:creationId xmlns:a16="http://schemas.microsoft.com/office/drawing/2014/main" id="{6D01CF1A-0365-9754-A8FD-14009BC1CB6B}"/>
              </a:ext>
            </a:extLst>
          </p:cNvPr>
          <p:cNvSpPr txBox="1"/>
          <p:nvPr/>
        </p:nvSpPr>
        <p:spPr>
          <a:xfrm>
            <a:off x="6113611" y="1973520"/>
            <a:ext cx="1286085" cy="523220"/>
          </a:xfrm>
          <a:prstGeom prst="rect">
            <a:avLst/>
          </a:prstGeom>
          <a:noFill/>
        </p:spPr>
        <p:txBody>
          <a:bodyPr wrap="square">
            <a:spAutoFit/>
          </a:bodyPr>
          <a:lstStyle/>
          <a:p>
            <a:r>
              <a:rPr lang="fr-FR" sz="1400" dirty="0">
                <a:solidFill>
                  <a:srgbClr val="002060"/>
                </a:solidFill>
              </a:rPr>
              <a:t>Ajouter une sous-catégorie</a:t>
            </a:r>
          </a:p>
        </p:txBody>
      </p:sp>
      <p:cxnSp>
        <p:nvCxnSpPr>
          <p:cNvPr id="17" name="Connecteur droit avec flèche 16">
            <a:extLst>
              <a:ext uri="{FF2B5EF4-FFF2-40B4-BE49-F238E27FC236}">
                <a16:creationId xmlns:a16="http://schemas.microsoft.com/office/drawing/2014/main" id="{E56438D5-07BC-3BEC-6217-740D7C17D2BE}"/>
              </a:ext>
            </a:extLst>
          </p:cNvPr>
          <p:cNvCxnSpPr>
            <a:cxnSpLocks/>
          </p:cNvCxnSpPr>
          <p:nvPr/>
        </p:nvCxnSpPr>
        <p:spPr>
          <a:xfrm>
            <a:off x="6287579" y="2525824"/>
            <a:ext cx="0" cy="6969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786088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DA0708E-9AD7-EA55-9D0C-9FACC2E9DB7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7AD3B0C-1B53-74FE-2420-C39F896DF834}"/>
              </a:ext>
            </a:extLst>
          </p:cNvPr>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7" name="Rectangle 6">
            <a:extLst>
              <a:ext uri="{FF2B5EF4-FFF2-40B4-BE49-F238E27FC236}">
                <a16:creationId xmlns:a16="http://schemas.microsoft.com/office/drawing/2014/main" id="{93D86DEA-DE56-86CA-6F5B-ADDD7D245BB3}"/>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2">
            <a:extLst>
              <a:ext uri="{FF2B5EF4-FFF2-40B4-BE49-F238E27FC236}">
                <a16:creationId xmlns:a16="http://schemas.microsoft.com/office/drawing/2014/main" id="{F1B99B5C-E7A7-C438-B4A7-705AA1068BFD}"/>
              </a:ext>
            </a:extLst>
          </p:cNvPr>
          <p:cNvSpPr txBox="1"/>
          <p:nvPr/>
        </p:nvSpPr>
        <p:spPr>
          <a:xfrm>
            <a:off x="8760542" y="914400"/>
            <a:ext cx="3352800" cy="584775"/>
          </a:xfrm>
          <a:prstGeom prst="rect">
            <a:avLst/>
          </a:prstGeom>
          <a:noFill/>
        </p:spPr>
        <p:txBody>
          <a:bodyPr wrap="square">
            <a:spAutoFit/>
          </a:bodyPr>
          <a:lstStyle/>
          <a:p>
            <a:pPr>
              <a:defRPr sz="1600" b="1">
                <a:solidFill>
                  <a:srgbClr val="FFFFFF"/>
                </a:solidFill>
              </a:defRPr>
            </a:pPr>
            <a:r>
              <a:rPr lang="fr-FR" sz="3200" dirty="0"/>
              <a:t>Créer un article</a:t>
            </a:r>
          </a:p>
        </p:txBody>
      </p:sp>
      <p:pic>
        <p:nvPicPr>
          <p:cNvPr id="5" name="Image 4">
            <a:extLst>
              <a:ext uri="{FF2B5EF4-FFF2-40B4-BE49-F238E27FC236}">
                <a16:creationId xmlns:a16="http://schemas.microsoft.com/office/drawing/2014/main" id="{387F1635-BD34-3782-6AD1-DBF7B553C730}"/>
              </a:ext>
            </a:extLst>
          </p:cNvPr>
          <p:cNvPicPr>
            <a:picLocks noChangeAspect="1"/>
          </p:cNvPicPr>
          <p:nvPr/>
        </p:nvPicPr>
        <p:blipFill>
          <a:blip r:embed="rId2"/>
          <a:stretch>
            <a:fillRect/>
          </a:stretch>
        </p:blipFill>
        <p:spPr>
          <a:xfrm>
            <a:off x="397112" y="1800343"/>
            <a:ext cx="8011448" cy="3322628"/>
          </a:xfrm>
          <a:prstGeom prst="rect">
            <a:avLst/>
          </a:prstGeom>
        </p:spPr>
      </p:pic>
    </p:spTree>
    <p:extLst>
      <p:ext uri="{BB962C8B-B14F-4D97-AF65-F5344CB8AC3E}">
        <p14:creationId xmlns:p14="http://schemas.microsoft.com/office/powerpoint/2010/main" val="38713978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48D7F51-2129-6BDD-3C47-D4DD17D0DB3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35B188B-1995-CB22-059B-944776043C23}"/>
              </a:ext>
            </a:extLst>
          </p:cNvPr>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7" name="Rectangle 6">
            <a:extLst>
              <a:ext uri="{FF2B5EF4-FFF2-40B4-BE49-F238E27FC236}">
                <a16:creationId xmlns:a16="http://schemas.microsoft.com/office/drawing/2014/main" id="{9267D097-CA21-D974-CAE3-40BE5B828520}"/>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2">
            <a:extLst>
              <a:ext uri="{FF2B5EF4-FFF2-40B4-BE49-F238E27FC236}">
                <a16:creationId xmlns:a16="http://schemas.microsoft.com/office/drawing/2014/main" id="{34978679-B635-4E4D-EF17-A127AF7EC053}"/>
              </a:ext>
            </a:extLst>
          </p:cNvPr>
          <p:cNvSpPr txBox="1"/>
          <p:nvPr/>
        </p:nvSpPr>
        <p:spPr>
          <a:xfrm>
            <a:off x="8760542" y="914400"/>
            <a:ext cx="3352800" cy="584775"/>
          </a:xfrm>
          <a:prstGeom prst="rect">
            <a:avLst/>
          </a:prstGeom>
          <a:noFill/>
        </p:spPr>
        <p:txBody>
          <a:bodyPr wrap="square">
            <a:spAutoFit/>
          </a:bodyPr>
          <a:lstStyle/>
          <a:p>
            <a:pPr>
              <a:defRPr sz="1600" b="1">
                <a:solidFill>
                  <a:srgbClr val="FFFFFF"/>
                </a:solidFill>
              </a:defRPr>
            </a:pPr>
            <a:r>
              <a:rPr lang="fr-FR" sz="3200" dirty="0"/>
              <a:t>Créer un article</a:t>
            </a:r>
          </a:p>
        </p:txBody>
      </p:sp>
      <p:pic>
        <p:nvPicPr>
          <p:cNvPr id="4" name="Image 3">
            <a:extLst>
              <a:ext uri="{FF2B5EF4-FFF2-40B4-BE49-F238E27FC236}">
                <a16:creationId xmlns:a16="http://schemas.microsoft.com/office/drawing/2014/main" id="{B7385BD6-3A26-75D8-2A8B-5E7FD0C61472}"/>
              </a:ext>
            </a:extLst>
          </p:cNvPr>
          <p:cNvPicPr>
            <a:picLocks noChangeAspect="1"/>
          </p:cNvPicPr>
          <p:nvPr/>
        </p:nvPicPr>
        <p:blipFill>
          <a:blip r:embed="rId2"/>
          <a:stretch>
            <a:fillRect/>
          </a:stretch>
        </p:blipFill>
        <p:spPr>
          <a:xfrm>
            <a:off x="284054" y="1754155"/>
            <a:ext cx="8016316" cy="3433666"/>
          </a:xfrm>
          <a:prstGeom prst="rect">
            <a:avLst/>
          </a:prstGeom>
        </p:spPr>
      </p:pic>
      <p:sp>
        <p:nvSpPr>
          <p:cNvPr id="6" name="ZoneTexte 5">
            <a:extLst>
              <a:ext uri="{FF2B5EF4-FFF2-40B4-BE49-F238E27FC236}">
                <a16:creationId xmlns:a16="http://schemas.microsoft.com/office/drawing/2014/main" id="{6491C22C-06D2-5F80-8F6F-B0AB2BF91DD1}"/>
              </a:ext>
            </a:extLst>
          </p:cNvPr>
          <p:cNvSpPr txBox="1"/>
          <p:nvPr/>
        </p:nvSpPr>
        <p:spPr>
          <a:xfrm>
            <a:off x="2787537" y="496258"/>
            <a:ext cx="1187412" cy="307777"/>
          </a:xfrm>
          <a:prstGeom prst="rect">
            <a:avLst/>
          </a:prstGeom>
          <a:noFill/>
        </p:spPr>
        <p:txBody>
          <a:bodyPr wrap="square">
            <a:spAutoFit/>
          </a:bodyPr>
          <a:lstStyle/>
          <a:p>
            <a:r>
              <a:rPr lang="fr-FR" sz="1400" dirty="0">
                <a:solidFill>
                  <a:srgbClr val="002060"/>
                </a:solidFill>
              </a:rPr>
              <a:t>Titre</a:t>
            </a:r>
          </a:p>
        </p:txBody>
      </p:sp>
      <p:cxnSp>
        <p:nvCxnSpPr>
          <p:cNvPr id="8" name="Connecteur droit avec flèche 7">
            <a:extLst>
              <a:ext uri="{FF2B5EF4-FFF2-40B4-BE49-F238E27FC236}">
                <a16:creationId xmlns:a16="http://schemas.microsoft.com/office/drawing/2014/main" id="{7C8AE9A6-29DD-6E0D-17BF-E272A036C539}"/>
              </a:ext>
            </a:extLst>
          </p:cNvPr>
          <p:cNvCxnSpPr>
            <a:cxnSpLocks/>
          </p:cNvCxnSpPr>
          <p:nvPr/>
        </p:nvCxnSpPr>
        <p:spPr>
          <a:xfrm>
            <a:off x="3082664" y="804035"/>
            <a:ext cx="0" cy="226006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 name="Connecteur droit avec flèche 9">
            <a:extLst>
              <a:ext uri="{FF2B5EF4-FFF2-40B4-BE49-F238E27FC236}">
                <a16:creationId xmlns:a16="http://schemas.microsoft.com/office/drawing/2014/main" id="{BAA48B59-AC8E-86F3-2E94-DDA3EFEB252A}"/>
              </a:ext>
            </a:extLst>
          </p:cNvPr>
          <p:cNvCxnSpPr>
            <a:cxnSpLocks/>
          </p:cNvCxnSpPr>
          <p:nvPr/>
        </p:nvCxnSpPr>
        <p:spPr>
          <a:xfrm>
            <a:off x="3745138" y="1622295"/>
            <a:ext cx="0" cy="226006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1" name="ZoneTexte 10">
            <a:extLst>
              <a:ext uri="{FF2B5EF4-FFF2-40B4-BE49-F238E27FC236}">
                <a16:creationId xmlns:a16="http://schemas.microsoft.com/office/drawing/2014/main" id="{83CFD4E2-CFFE-AC6D-B113-AD6D9B91CA7B}"/>
              </a:ext>
            </a:extLst>
          </p:cNvPr>
          <p:cNvSpPr txBox="1"/>
          <p:nvPr/>
        </p:nvSpPr>
        <p:spPr>
          <a:xfrm>
            <a:off x="3423375" y="1302875"/>
            <a:ext cx="1187412" cy="307777"/>
          </a:xfrm>
          <a:prstGeom prst="rect">
            <a:avLst/>
          </a:prstGeom>
          <a:noFill/>
        </p:spPr>
        <p:txBody>
          <a:bodyPr wrap="square">
            <a:spAutoFit/>
          </a:bodyPr>
          <a:lstStyle/>
          <a:p>
            <a:r>
              <a:rPr lang="fr-FR" sz="1400" dirty="0">
                <a:solidFill>
                  <a:srgbClr val="002060"/>
                </a:solidFill>
              </a:rPr>
              <a:t>Bibliothèque</a:t>
            </a:r>
          </a:p>
        </p:txBody>
      </p:sp>
    </p:spTree>
    <p:extLst>
      <p:ext uri="{BB962C8B-B14F-4D97-AF65-F5344CB8AC3E}">
        <p14:creationId xmlns:p14="http://schemas.microsoft.com/office/powerpoint/2010/main" val="6864304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5897AB7-BEAE-79B4-50AA-E4FE819DAE01}"/>
            </a:ext>
          </a:extLst>
        </p:cNvPr>
        <p:cNvGrpSpPr/>
        <p:nvPr/>
      </p:nvGrpSpPr>
      <p:grpSpPr>
        <a:xfrm>
          <a:off x="0" y="0"/>
          <a:ext cx="0" cy="0"/>
          <a:chOff x="0" y="0"/>
          <a:chExt cx="0" cy="0"/>
        </a:xfrm>
      </p:grpSpPr>
      <p:pic>
        <p:nvPicPr>
          <p:cNvPr id="5" name="Image 4">
            <a:extLst>
              <a:ext uri="{FF2B5EF4-FFF2-40B4-BE49-F238E27FC236}">
                <a16:creationId xmlns:a16="http://schemas.microsoft.com/office/drawing/2014/main" id="{84BD66B1-E2A8-DD82-470E-15A448126D08}"/>
              </a:ext>
            </a:extLst>
          </p:cNvPr>
          <p:cNvPicPr>
            <a:picLocks noChangeAspect="1"/>
          </p:cNvPicPr>
          <p:nvPr/>
        </p:nvPicPr>
        <p:blipFill>
          <a:blip r:embed="rId2"/>
          <a:stretch>
            <a:fillRect/>
          </a:stretch>
        </p:blipFill>
        <p:spPr>
          <a:xfrm>
            <a:off x="543528" y="2481943"/>
            <a:ext cx="7957540" cy="3310606"/>
          </a:xfrm>
          <a:prstGeom prst="rect">
            <a:avLst/>
          </a:prstGeom>
        </p:spPr>
      </p:pic>
      <p:sp>
        <p:nvSpPr>
          <p:cNvPr id="2" name="Rectangle 1">
            <a:extLst>
              <a:ext uri="{FF2B5EF4-FFF2-40B4-BE49-F238E27FC236}">
                <a16:creationId xmlns:a16="http://schemas.microsoft.com/office/drawing/2014/main" id="{0BE13E55-881B-CEA1-CDE1-A614E65C6B18}"/>
              </a:ext>
            </a:extLst>
          </p:cNvPr>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7" name="Rectangle 6">
            <a:extLst>
              <a:ext uri="{FF2B5EF4-FFF2-40B4-BE49-F238E27FC236}">
                <a16:creationId xmlns:a16="http://schemas.microsoft.com/office/drawing/2014/main" id="{5A3ACAAD-F119-8554-BAB0-E87624ADD14C}"/>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2">
            <a:extLst>
              <a:ext uri="{FF2B5EF4-FFF2-40B4-BE49-F238E27FC236}">
                <a16:creationId xmlns:a16="http://schemas.microsoft.com/office/drawing/2014/main" id="{32FC8818-D9E7-E256-0270-B9F03C559E3A}"/>
              </a:ext>
            </a:extLst>
          </p:cNvPr>
          <p:cNvSpPr txBox="1"/>
          <p:nvPr/>
        </p:nvSpPr>
        <p:spPr>
          <a:xfrm>
            <a:off x="8760542" y="914400"/>
            <a:ext cx="3352800" cy="584775"/>
          </a:xfrm>
          <a:prstGeom prst="rect">
            <a:avLst/>
          </a:prstGeom>
          <a:noFill/>
        </p:spPr>
        <p:txBody>
          <a:bodyPr wrap="square">
            <a:spAutoFit/>
          </a:bodyPr>
          <a:lstStyle/>
          <a:p>
            <a:pPr>
              <a:defRPr sz="1600" b="1">
                <a:solidFill>
                  <a:srgbClr val="FFFFFF"/>
                </a:solidFill>
              </a:defRPr>
            </a:pPr>
            <a:r>
              <a:rPr lang="fr-FR" sz="3200" dirty="0"/>
              <a:t>Créer un article</a:t>
            </a:r>
          </a:p>
        </p:txBody>
      </p:sp>
      <p:sp>
        <p:nvSpPr>
          <p:cNvPr id="6" name="ZoneTexte 5">
            <a:extLst>
              <a:ext uri="{FF2B5EF4-FFF2-40B4-BE49-F238E27FC236}">
                <a16:creationId xmlns:a16="http://schemas.microsoft.com/office/drawing/2014/main" id="{FFDB6E38-8529-3AD8-5941-71DD64DEE933}"/>
              </a:ext>
            </a:extLst>
          </p:cNvPr>
          <p:cNvSpPr txBox="1"/>
          <p:nvPr/>
        </p:nvSpPr>
        <p:spPr>
          <a:xfrm>
            <a:off x="2787537" y="496258"/>
            <a:ext cx="1187412" cy="307777"/>
          </a:xfrm>
          <a:prstGeom prst="rect">
            <a:avLst/>
          </a:prstGeom>
          <a:noFill/>
        </p:spPr>
        <p:txBody>
          <a:bodyPr wrap="square">
            <a:spAutoFit/>
          </a:bodyPr>
          <a:lstStyle/>
          <a:p>
            <a:r>
              <a:rPr lang="fr-FR" sz="1400" dirty="0">
                <a:solidFill>
                  <a:srgbClr val="002060"/>
                </a:solidFill>
              </a:rPr>
              <a:t>Article</a:t>
            </a:r>
          </a:p>
        </p:txBody>
      </p:sp>
      <p:cxnSp>
        <p:nvCxnSpPr>
          <p:cNvPr id="8" name="Connecteur droit avec flèche 7">
            <a:extLst>
              <a:ext uri="{FF2B5EF4-FFF2-40B4-BE49-F238E27FC236}">
                <a16:creationId xmlns:a16="http://schemas.microsoft.com/office/drawing/2014/main" id="{7015E2C4-2E45-AB1F-9F74-610D298E4F28}"/>
              </a:ext>
            </a:extLst>
          </p:cNvPr>
          <p:cNvCxnSpPr>
            <a:cxnSpLocks/>
          </p:cNvCxnSpPr>
          <p:nvPr/>
        </p:nvCxnSpPr>
        <p:spPr>
          <a:xfrm>
            <a:off x="3082664" y="804035"/>
            <a:ext cx="0" cy="341340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765448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D961A68-F372-4311-5B2B-EC0538044209}"/>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D4513FF8-97DC-378C-EF58-3BBFBA3F9611}"/>
              </a:ext>
            </a:extLst>
          </p:cNvPr>
          <p:cNvPicPr>
            <a:picLocks noChangeAspect="1"/>
          </p:cNvPicPr>
          <p:nvPr/>
        </p:nvPicPr>
        <p:blipFill>
          <a:blip r:embed="rId2"/>
          <a:stretch>
            <a:fillRect/>
          </a:stretch>
        </p:blipFill>
        <p:spPr>
          <a:xfrm>
            <a:off x="304604" y="2635917"/>
            <a:ext cx="8123852" cy="3356396"/>
          </a:xfrm>
          <a:prstGeom prst="rect">
            <a:avLst/>
          </a:prstGeom>
        </p:spPr>
      </p:pic>
      <p:sp>
        <p:nvSpPr>
          <p:cNvPr id="2" name="Rectangle 1">
            <a:extLst>
              <a:ext uri="{FF2B5EF4-FFF2-40B4-BE49-F238E27FC236}">
                <a16:creationId xmlns:a16="http://schemas.microsoft.com/office/drawing/2014/main" id="{4125834E-93FF-ABB3-7F4E-7341BDB31A95}"/>
              </a:ext>
            </a:extLst>
          </p:cNvPr>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7" name="Rectangle 6">
            <a:extLst>
              <a:ext uri="{FF2B5EF4-FFF2-40B4-BE49-F238E27FC236}">
                <a16:creationId xmlns:a16="http://schemas.microsoft.com/office/drawing/2014/main" id="{A993812A-1AAE-C022-D04D-B1C4D8ACC1B7}"/>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2">
            <a:extLst>
              <a:ext uri="{FF2B5EF4-FFF2-40B4-BE49-F238E27FC236}">
                <a16:creationId xmlns:a16="http://schemas.microsoft.com/office/drawing/2014/main" id="{60036E26-C253-8192-F0A0-D007918C0340}"/>
              </a:ext>
            </a:extLst>
          </p:cNvPr>
          <p:cNvSpPr txBox="1"/>
          <p:nvPr/>
        </p:nvSpPr>
        <p:spPr>
          <a:xfrm>
            <a:off x="8760542" y="914400"/>
            <a:ext cx="3352800" cy="584775"/>
          </a:xfrm>
          <a:prstGeom prst="rect">
            <a:avLst/>
          </a:prstGeom>
          <a:noFill/>
        </p:spPr>
        <p:txBody>
          <a:bodyPr wrap="square">
            <a:spAutoFit/>
          </a:bodyPr>
          <a:lstStyle/>
          <a:p>
            <a:pPr>
              <a:defRPr sz="1600" b="1">
                <a:solidFill>
                  <a:srgbClr val="FFFFFF"/>
                </a:solidFill>
              </a:defRPr>
            </a:pPr>
            <a:r>
              <a:rPr lang="fr-FR" sz="3200" dirty="0"/>
              <a:t>Créer un article</a:t>
            </a:r>
          </a:p>
        </p:txBody>
      </p:sp>
      <p:sp>
        <p:nvSpPr>
          <p:cNvPr id="6" name="ZoneTexte 5">
            <a:extLst>
              <a:ext uri="{FF2B5EF4-FFF2-40B4-BE49-F238E27FC236}">
                <a16:creationId xmlns:a16="http://schemas.microsoft.com/office/drawing/2014/main" id="{35FB45CA-8315-2779-C166-931DB0CA38B0}"/>
              </a:ext>
            </a:extLst>
          </p:cNvPr>
          <p:cNvSpPr txBox="1"/>
          <p:nvPr/>
        </p:nvSpPr>
        <p:spPr>
          <a:xfrm>
            <a:off x="2787537" y="496258"/>
            <a:ext cx="1187412" cy="307777"/>
          </a:xfrm>
          <a:prstGeom prst="rect">
            <a:avLst/>
          </a:prstGeom>
          <a:noFill/>
        </p:spPr>
        <p:txBody>
          <a:bodyPr wrap="square">
            <a:spAutoFit/>
          </a:bodyPr>
          <a:lstStyle/>
          <a:p>
            <a:r>
              <a:rPr lang="fr-FR" sz="1400" dirty="0">
                <a:solidFill>
                  <a:srgbClr val="002060"/>
                </a:solidFill>
              </a:rPr>
              <a:t>Chapô</a:t>
            </a:r>
          </a:p>
        </p:txBody>
      </p:sp>
      <p:cxnSp>
        <p:nvCxnSpPr>
          <p:cNvPr id="8" name="Connecteur droit avec flèche 7">
            <a:extLst>
              <a:ext uri="{FF2B5EF4-FFF2-40B4-BE49-F238E27FC236}">
                <a16:creationId xmlns:a16="http://schemas.microsoft.com/office/drawing/2014/main" id="{5490B8DC-36A8-BF43-7490-C165B84FEA6D}"/>
              </a:ext>
            </a:extLst>
          </p:cNvPr>
          <p:cNvCxnSpPr>
            <a:cxnSpLocks/>
          </p:cNvCxnSpPr>
          <p:nvPr/>
        </p:nvCxnSpPr>
        <p:spPr>
          <a:xfrm>
            <a:off x="3082664" y="804035"/>
            <a:ext cx="0" cy="325478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 name="Connecteur droit avec flèche 10">
            <a:extLst>
              <a:ext uri="{FF2B5EF4-FFF2-40B4-BE49-F238E27FC236}">
                <a16:creationId xmlns:a16="http://schemas.microsoft.com/office/drawing/2014/main" id="{3C53714A-F1D0-51CA-2E09-3FB45AEE4D25}"/>
              </a:ext>
            </a:extLst>
          </p:cNvPr>
          <p:cNvCxnSpPr>
            <a:cxnSpLocks/>
          </p:cNvCxnSpPr>
          <p:nvPr/>
        </p:nvCxnSpPr>
        <p:spPr>
          <a:xfrm>
            <a:off x="1515121" y="1446245"/>
            <a:ext cx="0" cy="286787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4" name="ZoneTexte 13">
            <a:extLst>
              <a:ext uri="{FF2B5EF4-FFF2-40B4-BE49-F238E27FC236}">
                <a16:creationId xmlns:a16="http://schemas.microsoft.com/office/drawing/2014/main" id="{22205BC9-595B-F483-0D46-498FB27DB3AF}"/>
              </a:ext>
            </a:extLst>
          </p:cNvPr>
          <p:cNvSpPr txBox="1"/>
          <p:nvPr/>
        </p:nvSpPr>
        <p:spPr>
          <a:xfrm>
            <a:off x="1002968" y="923025"/>
            <a:ext cx="1187412" cy="523220"/>
          </a:xfrm>
          <a:prstGeom prst="rect">
            <a:avLst/>
          </a:prstGeom>
          <a:noFill/>
        </p:spPr>
        <p:txBody>
          <a:bodyPr wrap="square">
            <a:spAutoFit/>
          </a:bodyPr>
          <a:lstStyle/>
          <a:p>
            <a:r>
              <a:rPr lang="fr-FR" sz="1400" dirty="0">
                <a:solidFill>
                  <a:srgbClr val="002060"/>
                </a:solidFill>
              </a:rPr>
              <a:t>Image dans article</a:t>
            </a:r>
          </a:p>
        </p:txBody>
      </p:sp>
    </p:spTree>
    <p:extLst>
      <p:ext uri="{BB962C8B-B14F-4D97-AF65-F5344CB8AC3E}">
        <p14:creationId xmlns:p14="http://schemas.microsoft.com/office/powerpoint/2010/main" val="21306945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36FAFC1-4228-D2E4-D3A4-86E59A6FFB0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5CBC8C1-3E03-0B0F-4096-793EB326DF1C}"/>
              </a:ext>
            </a:extLst>
          </p:cNvPr>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7" name="Rectangle 6">
            <a:extLst>
              <a:ext uri="{FF2B5EF4-FFF2-40B4-BE49-F238E27FC236}">
                <a16:creationId xmlns:a16="http://schemas.microsoft.com/office/drawing/2014/main" id="{0B168C79-A717-4467-7E0B-947684E2A501}"/>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2">
            <a:extLst>
              <a:ext uri="{FF2B5EF4-FFF2-40B4-BE49-F238E27FC236}">
                <a16:creationId xmlns:a16="http://schemas.microsoft.com/office/drawing/2014/main" id="{0F928651-5848-F1A1-D4D4-D810772F851B}"/>
              </a:ext>
            </a:extLst>
          </p:cNvPr>
          <p:cNvSpPr txBox="1"/>
          <p:nvPr/>
        </p:nvSpPr>
        <p:spPr>
          <a:xfrm>
            <a:off x="8760542" y="914400"/>
            <a:ext cx="3352800" cy="584775"/>
          </a:xfrm>
          <a:prstGeom prst="rect">
            <a:avLst/>
          </a:prstGeom>
          <a:noFill/>
        </p:spPr>
        <p:txBody>
          <a:bodyPr wrap="square">
            <a:spAutoFit/>
          </a:bodyPr>
          <a:lstStyle/>
          <a:p>
            <a:pPr>
              <a:defRPr sz="1600" b="1">
                <a:solidFill>
                  <a:srgbClr val="FFFFFF"/>
                </a:solidFill>
              </a:defRPr>
            </a:pPr>
            <a:r>
              <a:rPr lang="fr-FR" sz="3200" dirty="0"/>
              <a:t>Créer un article</a:t>
            </a:r>
          </a:p>
        </p:txBody>
      </p:sp>
      <p:pic>
        <p:nvPicPr>
          <p:cNvPr id="5" name="Image 4">
            <a:extLst>
              <a:ext uri="{FF2B5EF4-FFF2-40B4-BE49-F238E27FC236}">
                <a16:creationId xmlns:a16="http://schemas.microsoft.com/office/drawing/2014/main" id="{BC58D404-0CAF-BBE1-7ECB-878159705D8E}"/>
              </a:ext>
            </a:extLst>
          </p:cNvPr>
          <p:cNvPicPr>
            <a:picLocks noChangeAspect="1"/>
          </p:cNvPicPr>
          <p:nvPr/>
        </p:nvPicPr>
        <p:blipFill>
          <a:blip r:embed="rId2"/>
          <a:stretch>
            <a:fillRect/>
          </a:stretch>
        </p:blipFill>
        <p:spPr>
          <a:xfrm>
            <a:off x="2701836" y="566338"/>
            <a:ext cx="2562583" cy="5725324"/>
          </a:xfrm>
          <a:prstGeom prst="rect">
            <a:avLst/>
          </a:prstGeom>
        </p:spPr>
      </p:pic>
    </p:spTree>
    <p:extLst>
      <p:ext uri="{BB962C8B-B14F-4D97-AF65-F5344CB8AC3E}">
        <p14:creationId xmlns:p14="http://schemas.microsoft.com/office/powerpoint/2010/main" val="29110946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AFE8A87-D4F2-0E43-645D-E1F3B87C4E5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CF34DCF-9F07-C940-FF02-D42812F2E9DC}"/>
              </a:ext>
            </a:extLst>
          </p:cNvPr>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7" name="Rectangle 6">
            <a:extLst>
              <a:ext uri="{FF2B5EF4-FFF2-40B4-BE49-F238E27FC236}">
                <a16:creationId xmlns:a16="http://schemas.microsoft.com/office/drawing/2014/main" id="{C1630956-8C01-89E2-BE95-62A79DE57F66}"/>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2">
            <a:extLst>
              <a:ext uri="{FF2B5EF4-FFF2-40B4-BE49-F238E27FC236}">
                <a16:creationId xmlns:a16="http://schemas.microsoft.com/office/drawing/2014/main" id="{C705D00A-28A2-B165-E9DA-64D5FC98BC96}"/>
              </a:ext>
            </a:extLst>
          </p:cNvPr>
          <p:cNvSpPr txBox="1"/>
          <p:nvPr/>
        </p:nvSpPr>
        <p:spPr>
          <a:xfrm>
            <a:off x="8760542" y="914400"/>
            <a:ext cx="3352800" cy="1323439"/>
          </a:xfrm>
          <a:prstGeom prst="rect">
            <a:avLst/>
          </a:prstGeom>
          <a:noFill/>
        </p:spPr>
        <p:txBody>
          <a:bodyPr wrap="square">
            <a:spAutoFit/>
          </a:bodyPr>
          <a:lstStyle/>
          <a:p>
            <a:pPr>
              <a:defRPr sz="1600" b="1">
                <a:solidFill>
                  <a:srgbClr val="FFFFFF"/>
                </a:solidFill>
              </a:defRPr>
            </a:pPr>
            <a:r>
              <a:rPr lang="fr-FR" sz="3200" dirty="0"/>
              <a:t>Créer un article</a:t>
            </a:r>
          </a:p>
          <a:p>
            <a:pPr>
              <a:defRPr sz="1600" b="1">
                <a:solidFill>
                  <a:srgbClr val="FFFFFF"/>
                </a:solidFill>
              </a:defRPr>
            </a:pPr>
            <a:endParaRPr lang="fr-FR" sz="2400" dirty="0"/>
          </a:p>
          <a:p>
            <a:pPr>
              <a:defRPr sz="1600" b="1">
                <a:solidFill>
                  <a:srgbClr val="FFFFFF"/>
                </a:solidFill>
              </a:defRPr>
            </a:pPr>
            <a:r>
              <a:rPr lang="fr-FR" sz="2400" dirty="0"/>
              <a:t>Les onglets </a:t>
            </a:r>
          </a:p>
        </p:txBody>
      </p:sp>
      <p:pic>
        <p:nvPicPr>
          <p:cNvPr id="4" name="Image 3">
            <a:extLst>
              <a:ext uri="{FF2B5EF4-FFF2-40B4-BE49-F238E27FC236}">
                <a16:creationId xmlns:a16="http://schemas.microsoft.com/office/drawing/2014/main" id="{AE812FF3-2C21-9935-A263-DC9CDC08D388}"/>
              </a:ext>
            </a:extLst>
          </p:cNvPr>
          <p:cNvPicPr>
            <a:picLocks noChangeAspect="1"/>
          </p:cNvPicPr>
          <p:nvPr/>
        </p:nvPicPr>
        <p:blipFill>
          <a:blip r:embed="rId2"/>
          <a:stretch>
            <a:fillRect/>
          </a:stretch>
        </p:blipFill>
        <p:spPr>
          <a:xfrm>
            <a:off x="164592" y="2339539"/>
            <a:ext cx="8202170" cy="1600423"/>
          </a:xfrm>
          <a:prstGeom prst="rect">
            <a:avLst/>
          </a:prstGeom>
        </p:spPr>
      </p:pic>
      <p:cxnSp>
        <p:nvCxnSpPr>
          <p:cNvPr id="6" name="Connecteur droit avec flèche 5">
            <a:extLst>
              <a:ext uri="{FF2B5EF4-FFF2-40B4-BE49-F238E27FC236}">
                <a16:creationId xmlns:a16="http://schemas.microsoft.com/office/drawing/2014/main" id="{E095CA19-F106-4DCD-2B93-25413177878E}"/>
              </a:ext>
            </a:extLst>
          </p:cNvPr>
          <p:cNvCxnSpPr>
            <a:cxnSpLocks/>
          </p:cNvCxnSpPr>
          <p:nvPr/>
        </p:nvCxnSpPr>
        <p:spPr>
          <a:xfrm>
            <a:off x="759341" y="1194318"/>
            <a:ext cx="0" cy="124434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 name="ZoneTexte 7">
            <a:extLst>
              <a:ext uri="{FF2B5EF4-FFF2-40B4-BE49-F238E27FC236}">
                <a16:creationId xmlns:a16="http://schemas.microsoft.com/office/drawing/2014/main" id="{AF25DFA1-26EF-70C7-3C6A-B8E588606F54}"/>
              </a:ext>
            </a:extLst>
          </p:cNvPr>
          <p:cNvSpPr txBox="1"/>
          <p:nvPr/>
        </p:nvSpPr>
        <p:spPr>
          <a:xfrm>
            <a:off x="247188" y="338772"/>
            <a:ext cx="1618934" cy="830997"/>
          </a:xfrm>
          <a:prstGeom prst="rect">
            <a:avLst/>
          </a:prstGeom>
          <a:noFill/>
        </p:spPr>
        <p:txBody>
          <a:bodyPr wrap="square">
            <a:spAutoFit/>
          </a:bodyPr>
          <a:lstStyle/>
          <a:p>
            <a:r>
              <a:rPr lang="fr-FR" sz="1200" dirty="0">
                <a:solidFill>
                  <a:srgbClr val="002060"/>
                </a:solidFill>
              </a:rPr>
              <a:t>Paramétrer le titre, la catégorie, les dates et le statut de publication.</a:t>
            </a:r>
          </a:p>
        </p:txBody>
      </p:sp>
      <p:sp>
        <p:nvSpPr>
          <p:cNvPr id="11" name="ZoneTexte 10">
            <a:extLst>
              <a:ext uri="{FF2B5EF4-FFF2-40B4-BE49-F238E27FC236}">
                <a16:creationId xmlns:a16="http://schemas.microsoft.com/office/drawing/2014/main" id="{91D39CB5-27AB-43A1-88DD-C2F76659B47F}"/>
              </a:ext>
            </a:extLst>
          </p:cNvPr>
          <p:cNvSpPr txBox="1"/>
          <p:nvPr/>
        </p:nvSpPr>
        <p:spPr>
          <a:xfrm>
            <a:off x="1033660" y="1194318"/>
            <a:ext cx="1618934" cy="646331"/>
          </a:xfrm>
          <a:prstGeom prst="rect">
            <a:avLst/>
          </a:prstGeom>
          <a:noFill/>
        </p:spPr>
        <p:txBody>
          <a:bodyPr wrap="square">
            <a:spAutoFit/>
          </a:bodyPr>
          <a:lstStyle/>
          <a:p>
            <a:r>
              <a:rPr lang="fr-FR" sz="1200" dirty="0">
                <a:solidFill>
                  <a:srgbClr val="002060"/>
                </a:solidFill>
              </a:rPr>
              <a:t>Rédiger et mettre en forme le contenu principal.</a:t>
            </a:r>
          </a:p>
        </p:txBody>
      </p:sp>
      <p:cxnSp>
        <p:nvCxnSpPr>
          <p:cNvPr id="12" name="Connecteur droit avec flèche 11">
            <a:extLst>
              <a:ext uri="{FF2B5EF4-FFF2-40B4-BE49-F238E27FC236}">
                <a16:creationId xmlns:a16="http://schemas.microsoft.com/office/drawing/2014/main" id="{539BE5C2-A86C-8E60-B605-9697F505DF3F}"/>
              </a:ext>
            </a:extLst>
          </p:cNvPr>
          <p:cNvCxnSpPr>
            <a:cxnSpLocks/>
          </p:cNvCxnSpPr>
          <p:nvPr/>
        </p:nvCxnSpPr>
        <p:spPr>
          <a:xfrm>
            <a:off x="1944329" y="1660849"/>
            <a:ext cx="0" cy="77781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5" name="ZoneTexte 14">
            <a:extLst>
              <a:ext uri="{FF2B5EF4-FFF2-40B4-BE49-F238E27FC236}">
                <a16:creationId xmlns:a16="http://schemas.microsoft.com/office/drawing/2014/main" id="{A3BB48F4-BF26-3B64-408E-2A54D169411B}"/>
              </a:ext>
            </a:extLst>
          </p:cNvPr>
          <p:cNvSpPr txBox="1"/>
          <p:nvPr/>
        </p:nvSpPr>
        <p:spPr>
          <a:xfrm>
            <a:off x="2461244" y="354454"/>
            <a:ext cx="1618934" cy="830997"/>
          </a:xfrm>
          <a:prstGeom prst="rect">
            <a:avLst/>
          </a:prstGeom>
          <a:noFill/>
        </p:spPr>
        <p:txBody>
          <a:bodyPr wrap="square">
            <a:spAutoFit/>
          </a:bodyPr>
          <a:lstStyle/>
          <a:p>
            <a:r>
              <a:rPr lang="fr-FR" sz="1200" dirty="0">
                <a:solidFill>
                  <a:srgbClr val="002060"/>
                </a:solidFill>
              </a:rPr>
              <a:t>Rédiger une version courte destinée aux boîtes affichant des articles</a:t>
            </a:r>
          </a:p>
        </p:txBody>
      </p:sp>
      <p:cxnSp>
        <p:nvCxnSpPr>
          <p:cNvPr id="16" name="Connecteur droit avec flèche 15">
            <a:extLst>
              <a:ext uri="{FF2B5EF4-FFF2-40B4-BE49-F238E27FC236}">
                <a16:creationId xmlns:a16="http://schemas.microsoft.com/office/drawing/2014/main" id="{CA1308B3-BACD-F404-0398-754E851C9B16}"/>
              </a:ext>
            </a:extLst>
          </p:cNvPr>
          <p:cNvCxnSpPr>
            <a:cxnSpLocks/>
          </p:cNvCxnSpPr>
          <p:nvPr/>
        </p:nvCxnSpPr>
        <p:spPr>
          <a:xfrm>
            <a:off x="3129316" y="1038677"/>
            <a:ext cx="0" cy="130086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8" name="ZoneTexte 17">
            <a:extLst>
              <a:ext uri="{FF2B5EF4-FFF2-40B4-BE49-F238E27FC236}">
                <a16:creationId xmlns:a16="http://schemas.microsoft.com/office/drawing/2014/main" id="{B67D558F-5590-633F-C467-8607989B6FBC}"/>
              </a:ext>
            </a:extLst>
          </p:cNvPr>
          <p:cNvSpPr txBox="1"/>
          <p:nvPr/>
        </p:nvSpPr>
        <p:spPr>
          <a:xfrm>
            <a:off x="4556900" y="985493"/>
            <a:ext cx="1618934" cy="646331"/>
          </a:xfrm>
          <a:prstGeom prst="rect">
            <a:avLst/>
          </a:prstGeom>
          <a:noFill/>
        </p:spPr>
        <p:txBody>
          <a:bodyPr wrap="square">
            <a:spAutoFit/>
          </a:bodyPr>
          <a:lstStyle/>
          <a:p>
            <a:r>
              <a:rPr lang="fr-FR" sz="1200" dirty="0">
                <a:solidFill>
                  <a:srgbClr val="002060"/>
                </a:solidFill>
              </a:rPr>
              <a:t>Associer des informations d'indexation à l’article</a:t>
            </a:r>
          </a:p>
        </p:txBody>
      </p:sp>
      <p:sp>
        <p:nvSpPr>
          <p:cNvPr id="19" name="ZoneTexte 18">
            <a:extLst>
              <a:ext uri="{FF2B5EF4-FFF2-40B4-BE49-F238E27FC236}">
                <a16:creationId xmlns:a16="http://schemas.microsoft.com/office/drawing/2014/main" id="{E0FCBA92-DD4D-7413-C213-9B8ACFF59B05}"/>
              </a:ext>
            </a:extLst>
          </p:cNvPr>
          <p:cNvSpPr txBox="1"/>
          <p:nvPr/>
        </p:nvSpPr>
        <p:spPr>
          <a:xfrm>
            <a:off x="6376830" y="145165"/>
            <a:ext cx="1618934" cy="830997"/>
          </a:xfrm>
          <a:prstGeom prst="rect">
            <a:avLst/>
          </a:prstGeom>
          <a:noFill/>
        </p:spPr>
        <p:txBody>
          <a:bodyPr wrap="square">
            <a:spAutoFit/>
          </a:bodyPr>
          <a:lstStyle/>
          <a:p>
            <a:r>
              <a:rPr lang="fr-FR" sz="1200" dirty="0">
                <a:solidFill>
                  <a:srgbClr val="002060"/>
                </a:solidFill>
              </a:rPr>
              <a:t>Renseigner des informations complémentaires définies dans Bokeh</a:t>
            </a:r>
          </a:p>
        </p:txBody>
      </p:sp>
      <p:cxnSp>
        <p:nvCxnSpPr>
          <p:cNvPr id="20" name="Connecteur droit avec flèche 19">
            <a:extLst>
              <a:ext uri="{FF2B5EF4-FFF2-40B4-BE49-F238E27FC236}">
                <a16:creationId xmlns:a16="http://schemas.microsoft.com/office/drawing/2014/main" id="{7CC40E57-6237-697A-1A9C-8F7D1F189AB4}"/>
              </a:ext>
            </a:extLst>
          </p:cNvPr>
          <p:cNvCxnSpPr>
            <a:cxnSpLocks/>
          </p:cNvCxnSpPr>
          <p:nvPr/>
        </p:nvCxnSpPr>
        <p:spPr>
          <a:xfrm>
            <a:off x="5284688" y="1660849"/>
            <a:ext cx="0" cy="77781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1" name="Connecteur droit avec flèche 20">
            <a:extLst>
              <a:ext uri="{FF2B5EF4-FFF2-40B4-BE49-F238E27FC236}">
                <a16:creationId xmlns:a16="http://schemas.microsoft.com/office/drawing/2014/main" id="{922F22D3-E716-4C86-CCE9-904C74D45BF4}"/>
              </a:ext>
            </a:extLst>
          </p:cNvPr>
          <p:cNvCxnSpPr>
            <a:cxnSpLocks/>
          </p:cNvCxnSpPr>
          <p:nvPr/>
        </p:nvCxnSpPr>
        <p:spPr>
          <a:xfrm>
            <a:off x="7186297" y="1038677"/>
            <a:ext cx="0" cy="130086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172550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821C785-EC25-DD1E-835F-D62B623AB03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CBDEAFF-5AB9-80A6-7FE2-8FC7C42399FE}"/>
              </a:ext>
            </a:extLst>
          </p:cNvPr>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7" name="Rectangle 6">
            <a:extLst>
              <a:ext uri="{FF2B5EF4-FFF2-40B4-BE49-F238E27FC236}">
                <a16:creationId xmlns:a16="http://schemas.microsoft.com/office/drawing/2014/main" id="{AB801297-FE6D-0BD6-1473-411E252EA2F2}"/>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2">
            <a:extLst>
              <a:ext uri="{FF2B5EF4-FFF2-40B4-BE49-F238E27FC236}">
                <a16:creationId xmlns:a16="http://schemas.microsoft.com/office/drawing/2014/main" id="{225B3B79-38BD-3BB2-5266-F1CF8A80F671}"/>
              </a:ext>
            </a:extLst>
          </p:cNvPr>
          <p:cNvSpPr txBox="1"/>
          <p:nvPr/>
        </p:nvSpPr>
        <p:spPr>
          <a:xfrm>
            <a:off x="8760542" y="914400"/>
            <a:ext cx="3352800" cy="1323439"/>
          </a:xfrm>
          <a:prstGeom prst="rect">
            <a:avLst/>
          </a:prstGeom>
          <a:noFill/>
        </p:spPr>
        <p:txBody>
          <a:bodyPr wrap="square">
            <a:spAutoFit/>
          </a:bodyPr>
          <a:lstStyle/>
          <a:p>
            <a:pPr>
              <a:defRPr sz="1600" b="1">
                <a:solidFill>
                  <a:srgbClr val="FFFFFF"/>
                </a:solidFill>
              </a:defRPr>
            </a:pPr>
            <a:r>
              <a:rPr lang="fr-FR" sz="3200" dirty="0"/>
              <a:t>Créer un article</a:t>
            </a:r>
          </a:p>
          <a:p>
            <a:pPr>
              <a:defRPr sz="1600" b="1">
                <a:solidFill>
                  <a:srgbClr val="FFFFFF"/>
                </a:solidFill>
              </a:defRPr>
            </a:pPr>
            <a:endParaRPr lang="fr-FR" sz="2400" dirty="0"/>
          </a:p>
          <a:p>
            <a:pPr>
              <a:defRPr sz="1600" b="1">
                <a:solidFill>
                  <a:srgbClr val="FFFFFF"/>
                </a:solidFill>
              </a:defRPr>
            </a:pPr>
            <a:r>
              <a:rPr lang="fr-FR" sz="2400" dirty="0"/>
              <a:t>Les icones</a:t>
            </a:r>
          </a:p>
        </p:txBody>
      </p:sp>
      <p:pic>
        <p:nvPicPr>
          <p:cNvPr id="4" name="Image 3">
            <a:extLst>
              <a:ext uri="{FF2B5EF4-FFF2-40B4-BE49-F238E27FC236}">
                <a16:creationId xmlns:a16="http://schemas.microsoft.com/office/drawing/2014/main" id="{6A5E6E95-1D09-DF17-89AC-70963975097D}"/>
              </a:ext>
            </a:extLst>
          </p:cNvPr>
          <p:cNvPicPr>
            <a:picLocks noChangeAspect="1"/>
          </p:cNvPicPr>
          <p:nvPr/>
        </p:nvPicPr>
        <p:blipFill>
          <a:blip r:embed="rId2"/>
          <a:stretch>
            <a:fillRect/>
          </a:stretch>
        </p:blipFill>
        <p:spPr>
          <a:xfrm>
            <a:off x="164592" y="2339539"/>
            <a:ext cx="8202170" cy="1600423"/>
          </a:xfrm>
          <a:prstGeom prst="rect">
            <a:avLst/>
          </a:prstGeom>
        </p:spPr>
      </p:pic>
      <p:cxnSp>
        <p:nvCxnSpPr>
          <p:cNvPr id="6" name="Connecteur droit avec flèche 5">
            <a:extLst>
              <a:ext uri="{FF2B5EF4-FFF2-40B4-BE49-F238E27FC236}">
                <a16:creationId xmlns:a16="http://schemas.microsoft.com/office/drawing/2014/main" id="{DB06E32F-F638-D77F-6F23-D8AAEADCE9FE}"/>
              </a:ext>
            </a:extLst>
          </p:cNvPr>
          <p:cNvCxnSpPr>
            <a:cxnSpLocks/>
          </p:cNvCxnSpPr>
          <p:nvPr/>
        </p:nvCxnSpPr>
        <p:spPr>
          <a:xfrm>
            <a:off x="899300" y="1091682"/>
            <a:ext cx="0" cy="176441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 name="ZoneTexte 7">
            <a:extLst>
              <a:ext uri="{FF2B5EF4-FFF2-40B4-BE49-F238E27FC236}">
                <a16:creationId xmlns:a16="http://schemas.microsoft.com/office/drawing/2014/main" id="{08A5C6FA-D7CA-DCFA-EB20-D9AAD8333439}"/>
              </a:ext>
            </a:extLst>
          </p:cNvPr>
          <p:cNvSpPr txBox="1"/>
          <p:nvPr/>
        </p:nvSpPr>
        <p:spPr>
          <a:xfrm>
            <a:off x="284054" y="814683"/>
            <a:ext cx="1618934" cy="276999"/>
          </a:xfrm>
          <a:prstGeom prst="rect">
            <a:avLst/>
          </a:prstGeom>
          <a:noFill/>
        </p:spPr>
        <p:txBody>
          <a:bodyPr wrap="square">
            <a:spAutoFit/>
          </a:bodyPr>
          <a:lstStyle/>
          <a:p>
            <a:r>
              <a:rPr lang="fr-FR" sz="1200" dirty="0">
                <a:solidFill>
                  <a:srgbClr val="002060"/>
                </a:solidFill>
              </a:rPr>
              <a:t>Aperçu du document</a:t>
            </a:r>
          </a:p>
        </p:txBody>
      </p:sp>
      <p:cxnSp>
        <p:nvCxnSpPr>
          <p:cNvPr id="3" name="Connecteur droit avec flèche 2">
            <a:extLst>
              <a:ext uri="{FF2B5EF4-FFF2-40B4-BE49-F238E27FC236}">
                <a16:creationId xmlns:a16="http://schemas.microsoft.com/office/drawing/2014/main" id="{1EDAFC73-0619-B557-E7C0-8D3039E075C5}"/>
              </a:ext>
            </a:extLst>
          </p:cNvPr>
          <p:cNvCxnSpPr>
            <a:cxnSpLocks/>
          </p:cNvCxnSpPr>
          <p:nvPr/>
        </p:nvCxnSpPr>
        <p:spPr>
          <a:xfrm flipV="1">
            <a:off x="638042" y="3429000"/>
            <a:ext cx="0" cy="220417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 name="ZoneTexte 4">
            <a:extLst>
              <a:ext uri="{FF2B5EF4-FFF2-40B4-BE49-F238E27FC236}">
                <a16:creationId xmlns:a16="http://schemas.microsoft.com/office/drawing/2014/main" id="{DF41B508-463C-AEF7-1EA6-9C62A8542726}"/>
              </a:ext>
            </a:extLst>
          </p:cNvPr>
          <p:cNvSpPr txBox="1"/>
          <p:nvPr/>
        </p:nvSpPr>
        <p:spPr>
          <a:xfrm>
            <a:off x="1018763" y="1327557"/>
            <a:ext cx="1257905" cy="646331"/>
          </a:xfrm>
          <a:prstGeom prst="rect">
            <a:avLst/>
          </a:prstGeom>
          <a:noFill/>
        </p:spPr>
        <p:txBody>
          <a:bodyPr wrap="square">
            <a:spAutoFit/>
          </a:bodyPr>
          <a:lstStyle/>
          <a:p>
            <a:r>
              <a:rPr lang="fr-FR" sz="1200" dirty="0">
                <a:solidFill>
                  <a:srgbClr val="002060"/>
                </a:solidFill>
              </a:rPr>
              <a:t>Insérer un modèle de contenu</a:t>
            </a:r>
          </a:p>
        </p:txBody>
      </p:sp>
      <p:cxnSp>
        <p:nvCxnSpPr>
          <p:cNvPr id="13" name="Connecteur droit avec flèche 12">
            <a:extLst>
              <a:ext uri="{FF2B5EF4-FFF2-40B4-BE49-F238E27FC236}">
                <a16:creationId xmlns:a16="http://schemas.microsoft.com/office/drawing/2014/main" id="{6048241A-94EB-9AD2-23B2-8FB2608EF23A}"/>
              </a:ext>
            </a:extLst>
          </p:cNvPr>
          <p:cNvCxnSpPr>
            <a:cxnSpLocks/>
          </p:cNvCxnSpPr>
          <p:nvPr/>
        </p:nvCxnSpPr>
        <p:spPr>
          <a:xfrm>
            <a:off x="1332069" y="1973888"/>
            <a:ext cx="0" cy="95592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7" name="ZoneTexte 16">
            <a:extLst>
              <a:ext uri="{FF2B5EF4-FFF2-40B4-BE49-F238E27FC236}">
                <a16:creationId xmlns:a16="http://schemas.microsoft.com/office/drawing/2014/main" id="{0E14EABA-15DD-3454-63F1-1930EE40A194}"/>
              </a:ext>
            </a:extLst>
          </p:cNvPr>
          <p:cNvSpPr txBox="1"/>
          <p:nvPr/>
        </p:nvSpPr>
        <p:spPr>
          <a:xfrm>
            <a:off x="250293" y="5633170"/>
            <a:ext cx="1077642" cy="646331"/>
          </a:xfrm>
          <a:prstGeom prst="rect">
            <a:avLst/>
          </a:prstGeom>
          <a:noFill/>
        </p:spPr>
        <p:txBody>
          <a:bodyPr wrap="square">
            <a:spAutoFit/>
          </a:bodyPr>
          <a:lstStyle/>
          <a:p>
            <a:r>
              <a:rPr lang="fr-FR" sz="1200" dirty="0">
                <a:solidFill>
                  <a:srgbClr val="002060"/>
                </a:solidFill>
              </a:rPr>
              <a:t>Insérer une ligne horizontale</a:t>
            </a:r>
          </a:p>
        </p:txBody>
      </p:sp>
      <p:cxnSp>
        <p:nvCxnSpPr>
          <p:cNvPr id="22" name="Connecteur droit avec flèche 21">
            <a:extLst>
              <a:ext uri="{FF2B5EF4-FFF2-40B4-BE49-F238E27FC236}">
                <a16:creationId xmlns:a16="http://schemas.microsoft.com/office/drawing/2014/main" id="{D239EF7B-B325-A43E-70D5-80377F718C7A}"/>
              </a:ext>
            </a:extLst>
          </p:cNvPr>
          <p:cNvCxnSpPr>
            <a:cxnSpLocks/>
          </p:cNvCxnSpPr>
          <p:nvPr/>
        </p:nvCxnSpPr>
        <p:spPr>
          <a:xfrm rot="10800000">
            <a:off x="899300" y="3429000"/>
            <a:ext cx="0" cy="124434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4" name="ZoneTexte 23">
            <a:extLst>
              <a:ext uri="{FF2B5EF4-FFF2-40B4-BE49-F238E27FC236}">
                <a16:creationId xmlns:a16="http://schemas.microsoft.com/office/drawing/2014/main" id="{3511AF94-7792-0038-01A7-8426DFEE7693}"/>
              </a:ext>
            </a:extLst>
          </p:cNvPr>
          <p:cNvSpPr txBox="1"/>
          <p:nvPr/>
        </p:nvSpPr>
        <p:spPr>
          <a:xfrm>
            <a:off x="677091" y="4660341"/>
            <a:ext cx="1077642" cy="276999"/>
          </a:xfrm>
          <a:prstGeom prst="rect">
            <a:avLst/>
          </a:prstGeom>
          <a:noFill/>
        </p:spPr>
        <p:txBody>
          <a:bodyPr wrap="square">
            <a:spAutoFit/>
          </a:bodyPr>
          <a:lstStyle/>
          <a:p>
            <a:r>
              <a:rPr lang="fr-FR" sz="1200" dirty="0">
                <a:solidFill>
                  <a:srgbClr val="002060"/>
                </a:solidFill>
              </a:rPr>
              <a:t>Insérer un lien</a:t>
            </a:r>
          </a:p>
        </p:txBody>
      </p:sp>
      <p:cxnSp>
        <p:nvCxnSpPr>
          <p:cNvPr id="25" name="Connecteur droit avec flèche 24">
            <a:extLst>
              <a:ext uri="{FF2B5EF4-FFF2-40B4-BE49-F238E27FC236}">
                <a16:creationId xmlns:a16="http://schemas.microsoft.com/office/drawing/2014/main" id="{0D9278A4-C900-09F1-601B-E87AE6CB2301}"/>
              </a:ext>
            </a:extLst>
          </p:cNvPr>
          <p:cNvCxnSpPr>
            <a:cxnSpLocks/>
          </p:cNvCxnSpPr>
          <p:nvPr/>
        </p:nvCxnSpPr>
        <p:spPr>
          <a:xfrm>
            <a:off x="2806306" y="1973888"/>
            <a:ext cx="0" cy="95592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6" name="ZoneTexte 25">
            <a:extLst>
              <a:ext uri="{FF2B5EF4-FFF2-40B4-BE49-F238E27FC236}">
                <a16:creationId xmlns:a16="http://schemas.microsoft.com/office/drawing/2014/main" id="{8C5C4FF9-013D-C279-A78C-212D350181FA}"/>
              </a:ext>
            </a:extLst>
          </p:cNvPr>
          <p:cNvSpPr txBox="1"/>
          <p:nvPr/>
        </p:nvSpPr>
        <p:spPr>
          <a:xfrm>
            <a:off x="2293016" y="1504840"/>
            <a:ext cx="1257905" cy="461665"/>
          </a:xfrm>
          <a:prstGeom prst="rect">
            <a:avLst/>
          </a:prstGeom>
          <a:noFill/>
        </p:spPr>
        <p:txBody>
          <a:bodyPr wrap="square">
            <a:spAutoFit/>
          </a:bodyPr>
          <a:lstStyle/>
          <a:p>
            <a:r>
              <a:rPr lang="fr-FR" sz="1200" dirty="0">
                <a:solidFill>
                  <a:srgbClr val="002060"/>
                </a:solidFill>
              </a:rPr>
              <a:t>Agrandir l’éditeur en plein écran</a:t>
            </a:r>
          </a:p>
        </p:txBody>
      </p:sp>
      <p:cxnSp>
        <p:nvCxnSpPr>
          <p:cNvPr id="27" name="Connecteur droit avec flèche 26">
            <a:extLst>
              <a:ext uri="{FF2B5EF4-FFF2-40B4-BE49-F238E27FC236}">
                <a16:creationId xmlns:a16="http://schemas.microsoft.com/office/drawing/2014/main" id="{7B14BC32-8AE8-5779-B6CD-DE8D04CCB0BA}"/>
              </a:ext>
            </a:extLst>
          </p:cNvPr>
          <p:cNvCxnSpPr>
            <a:cxnSpLocks/>
          </p:cNvCxnSpPr>
          <p:nvPr/>
        </p:nvCxnSpPr>
        <p:spPr>
          <a:xfrm flipV="1">
            <a:off x="1786768" y="3477906"/>
            <a:ext cx="0" cy="179389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9" name="ZoneTexte 28">
            <a:extLst>
              <a:ext uri="{FF2B5EF4-FFF2-40B4-BE49-F238E27FC236}">
                <a16:creationId xmlns:a16="http://schemas.microsoft.com/office/drawing/2014/main" id="{75FD177B-C620-8011-4694-11206E6237BA}"/>
              </a:ext>
            </a:extLst>
          </p:cNvPr>
          <p:cNvSpPr txBox="1"/>
          <p:nvPr/>
        </p:nvSpPr>
        <p:spPr>
          <a:xfrm>
            <a:off x="1167475" y="5331979"/>
            <a:ext cx="1350008" cy="276999"/>
          </a:xfrm>
          <a:prstGeom prst="rect">
            <a:avLst/>
          </a:prstGeom>
          <a:noFill/>
        </p:spPr>
        <p:txBody>
          <a:bodyPr wrap="square">
            <a:spAutoFit/>
          </a:bodyPr>
          <a:lstStyle/>
          <a:p>
            <a:r>
              <a:rPr lang="fr-FR" sz="1200" dirty="0">
                <a:solidFill>
                  <a:srgbClr val="002060"/>
                </a:solidFill>
              </a:rPr>
              <a:t>Insérer une image</a:t>
            </a:r>
          </a:p>
        </p:txBody>
      </p:sp>
      <p:cxnSp>
        <p:nvCxnSpPr>
          <p:cNvPr id="30" name="Connecteur droit avec flèche 29">
            <a:extLst>
              <a:ext uri="{FF2B5EF4-FFF2-40B4-BE49-F238E27FC236}">
                <a16:creationId xmlns:a16="http://schemas.microsoft.com/office/drawing/2014/main" id="{D7E7F0EF-D143-BC4D-2D83-ACD0B06103A5}"/>
              </a:ext>
            </a:extLst>
          </p:cNvPr>
          <p:cNvCxnSpPr>
            <a:cxnSpLocks/>
          </p:cNvCxnSpPr>
          <p:nvPr/>
        </p:nvCxnSpPr>
        <p:spPr>
          <a:xfrm rot="10800000">
            <a:off x="2293016" y="3429000"/>
            <a:ext cx="0" cy="124434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1" name="ZoneTexte 30">
            <a:extLst>
              <a:ext uri="{FF2B5EF4-FFF2-40B4-BE49-F238E27FC236}">
                <a16:creationId xmlns:a16="http://schemas.microsoft.com/office/drawing/2014/main" id="{73CB338D-46F5-19F5-7518-07EA162A2279}"/>
              </a:ext>
            </a:extLst>
          </p:cNvPr>
          <p:cNvSpPr txBox="1"/>
          <p:nvPr/>
        </p:nvSpPr>
        <p:spPr>
          <a:xfrm>
            <a:off x="1844326" y="4673344"/>
            <a:ext cx="1077642" cy="461665"/>
          </a:xfrm>
          <a:prstGeom prst="rect">
            <a:avLst/>
          </a:prstGeom>
          <a:noFill/>
        </p:spPr>
        <p:txBody>
          <a:bodyPr wrap="square">
            <a:spAutoFit/>
          </a:bodyPr>
          <a:lstStyle/>
          <a:p>
            <a:r>
              <a:rPr lang="fr-FR" sz="1200" dirty="0">
                <a:solidFill>
                  <a:srgbClr val="002060"/>
                </a:solidFill>
              </a:rPr>
              <a:t>Insérer </a:t>
            </a:r>
            <a:br>
              <a:rPr lang="fr-FR" sz="1200" dirty="0">
                <a:solidFill>
                  <a:srgbClr val="002060"/>
                </a:solidFill>
              </a:rPr>
            </a:br>
            <a:r>
              <a:rPr lang="fr-FR" sz="1200" dirty="0">
                <a:solidFill>
                  <a:srgbClr val="002060"/>
                </a:solidFill>
              </a:rPr>
              <a:t>un tableau</a:t>
            </a:r>
          </a:p>
        </p:txBody>
      </p:sp>
      <p:cxnSp>
        <p:nvCxnSpPr>
          <p:cNvPr id="32" name="Connecteur droit avec flèche 31">
            <a:extLst>
              <a:ext uri="{FF2B5EF4-FFF2-40B4-BE49-F238E27FC236}">
                <a16:creationId xmlns:a16="http://schemas.microsoft.com/office/drawing/2014/main" id="{38A6042F-CD66-F414-9FAC-3B7FF79B4DF6}"/>
              </a:ext>
            </a:extLst>
          </p:cNvPr>
          <p:cNvCxnSpPr>
            <a:cxnSpLocks/>
          </p:cNvCxnSpPr>
          <p:nvPr/>
        </p:nvCxnSpPr>
        <p:spPr>
          <a:xfrm flipV="1">
            <a:off x="2903458" y="3429000"/>
            <a:ext cx="0" cy="233380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4" name="ZoneTexte 33">
            <a:extLst>
              <a:ext uri="{FF2B5EF4-FFF2-40B4-BE49-F238E27FC236}">
                <a16:creationId xmlns:a16="http://schemas.microsoft.com/office/drawing/2014/main" id="{0BB76959-B706-22E9-5075-AE55F730BEE2}"/>
              </a:ext>
            </a:extLst>
          </p:cNvPr>
          <p:cNvSpPr txBox="1"/>
          <p:nvPr/>
        </p:nvSpPr>
        <p:spPr>
          <a:xfrm>
            <a:off x="2473279" y="5850979"/>
            <a:ext cx="1077642" cy="461665"/>
          </a:xfrm>
          <a:prstGeom prst="rect">
            <a:avLst/>
          </a:prstGeom>
          <a:noFill/>
        </p:spPr>
        <p:txBody>
          <a:bodyPr wrap="square">
            <a:spAutoFit/>
          </a:bodyPr>
          <a:lstStyle/>
          <a:p>
            <a:r>
              <a:rPr lang="fr-FR" sz="1200" dirty="0">
                <a:solidFill>
                  <a:srgbClr val="002060"/>
                </a:solidFill>
              </a:rPr>
              <a:t>Insérer </a:t>
            </a:r>
            <a:br>
              <a:rPr lang="fr-FR" sz="1200" dirty="0">
                <a:solidFill>
                  <a:srgbClr val="002060"/>
                </a:solidFill>
              </a:rPr>
            </a:br>
            <a:r>
              <a:rPr lang="fr-FR" sz="1200" dirty="0">
                <a:solidFill>
                  <a:srgbClr val="002060"/>
                </a:solidFill>
              </a:rPr>
              <a:t>un média</a:t>
            </a:r>
          </a:p>
        </p:txBody>
      </p:sp>
      <p:cxnSp>
        <p:nvCxnSpPr>
          <p:cNvPr id="35" name="Connecteur droit avec flèche 34">
            <a:extLst>
              <a:ext uri="{FF2B5EF4-FFF2-40B4-BE49-F238E27FC236}">
                <a16:creationId xmlns:a16="http://schemas.microsoft.com/office/drawing/2014/main" id="{CA575DAF-30A9-D3BC-0B88-8446192D4750}"/>
              </a:ext>
            </a:extLst>
          </p:cNvPr>
          <p:cNvCxnSpPr>
            <a:cxnSpLocks/>
          </p:cNvCxnSpPr>
          <p:nvPr/>
        </p:nvCxnSpPr>
        <p:spPr>
          <a:xfrm rot="10800000">
            <a:off x="3148448" y="3441096"/>
            <a:ext cx="0" cy="124434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7" name="Connecteur droit avec flèche 36">
            <a:extLst>
              <a:ext uri="{FF2B5EF4-FFF2-40B4-BE49-F238E27FC236}">
                <a16:creationId xmlns:a16="http://schemas.microsoft.com/office/drawing/2014/main" id="{F5AA9BEB-4AB0-C314-F0FF-C79257E3C7BC}"/>
              </a:ext>
            </a:extLst>
          </p:cNvPr>
          <p:cNvCxnSpPr>
            <a:cxnSpLocks/>
          </p:cNvCxnSpPr>
          <p:nvPr/>
        </p:nvCxnSpPr>
        <p:spPr>
          <a:xfrm flipV="1">
            <a:off x="3422766" y="3453368"/>
            <a:ext cx="0" cy="201711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6" name="ZoneTexte 35">
            <a:extLst>
              <a:ext uri="{FF2B5EF4-FFF2-40B4-BE49-F238E27FC236}">
                <a16:creationId xmlns:a16="http://schemas.microsoft.com/office/drawing/2014/main" id="{E4457B17-F1EE-97DA-9182-F9FD3C083EC4}"/>
              </a:ext>
            </a:extLst>
          </p:cNvPr>
          <p:cNvSpPr txBox="1"/>
          <p:nvPr/>
        </p:nvSpPr>
        <p:spPr>
          <a:xfrm>
            <a:off x="2979525" y="4655932"/>
            <a:ext cx="1077642" cy="461665"/>
          </a:xfrm>
          <a:prstGeom prst="rect">
            <a:avLst/>
          </a:prstGeom>
          <a:solidFill>
            <a:schemeClr val="bg1"/>
          </a:solidFill>
        </p:spPr>
        <p:txBody>
          <a:bodyPr wrap="square">
            <a:spAutoFit/>
          </a:bodyPr>
          <a:lstStyle/>
          <a:p>
            <a:r>
              <a:rPr lang="fr-FR" sz="1200" dirty="0">
                <a:solidFill>
                  <a:srgbClr val="002060"/>
                </a:solidFill>
              </a:rPr>
              <a:t>Insérer </a:t>
            </a:r>
            <a:br>
              <a:rPr lang="fr-FR" sz="1200" dirty="0">
                <a:solidFill>
                  <a:srgbClr val="002060"/>
                </a:solidFill>
              </a:rPr>
            </a:br>
            <a:r>
              <a:rPr lang="fr-FR" sz="1200" dirty="0">
                <a:solidFill>
                  <a:srgbClr val="002060"/>
                </a:solidFill>
              </a:rPr>
              <a:t>un carrousel</a:t>
            </a:r>
          </a:p>
        </p:txBody>
      </p:sp>
      <p:sp>
        <p:nvSpPr>
          <p:cNvPr id="39" name="ZoneTexte 38">
            <a:extLst>
              <a:ext uri="{FF2B5EF4-FFF2-40B4-BE49-F238E27FC236}">
                <a16:creationId xmlns:a16="http://schemas.microsoft.com/office/drawing/2014/main" id="{3708B45D-F93F-E763-3877-57B5E2E022EA}"/>
              </a:ext>
            </a:extLst>
          </p:cNvPr>
          <p:cNvSpPr txBox="1"/>
          <p:nvPr/>
        </p:nvSpPr>
        <p:spPr>
          <a:xfrm>
            <a:off x="3097082" y="5503248"/>
            <a:ext cx="1077642" cy="646331"/>
          </a:xfrm>
          <a:prstGeom prst="rect">
            <a:avLst/>
          </a:prstGeom>
          <a:noFill/>
        </p:spPr>
        <p:txBody>
          <a:bodyPr wrap="square">
            <a:spAutoFit/>
          </a:bodyPr>
          <a:lstStyle/>
          <a:p>
            <a:r>
              <a:rPr lang="fr-FR" sz="1200" dirty="0">
                <a:solidFill>
                  <a:srgbClr val="002060"/>
                </a:solidFill>
              </a:rPr>
              <a:t>Insérer </a:t>
            </a:r>
            <a:br>
              <a:rPr lang="fr-FR" sz="1200" dirty="0">
                <a:solidFill>
                  <a:srgbClr val="002060"/>
                </a:solidFill>
              </a:rPr>
            </a:br>
            <a:r>
              <a:rPr lang="fr-FR" sz="1200" dirty="0">
                <a:solidFill>
                  <a:srgbClr val="002060"/>
                </a:solidFill>
              </a:rPr>
              <a:t>un caractère spécial</a:t>
            </a:r>
          </a:p>
        </p:txBody>
      </p:sp>
      <p:cxnSp>
        <p:nvCxnSpPr>
          <p:cNvPr id="40" name="Connecteur droit avec flèche 39">
            <a:extLst>
              <a:ext uri="{FF2B5EF4-FFF2-40B4-BE49-F238E27FC236}">
                <a16:creationId xmlns:a16="http://schemas.microsoft.com/office/drawing/2014/main" id="{16C6A2B4-EFA2-362D-67BF-B44B45A12F68}"/>
              </a:ext>
            </a:extLst>
          </p:cNvPr>
          <p:cNvCxnSpPr>
            <a:cxnSpLocks/>
          </p:cNvCxnSpPr>
          <p:nvPr/>
        </p:nvCxnSpPr>
        <p:spPr>
          <a:xfrm flipV="1">
            <a:off x="3730676" y="3453368"/>
            <a:ext cx="0" cy="59780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2" name="ZoneTexte 41">
            <a:extLst>
              <a:ext uri="{FF2B5EF4-FFF2-40B4-BE49-F238E27FC236}">
                <a16:creationId xmlns:a16="http://schemas.microsoft.com/office/drawing/2014/main" id="{2591C587-AEFF-0FDA-6731-4AFE62128428}"/>
              </a:ext>
            </a:extLst>
          </p:cNvPr>
          <p:cNvSpPr txBox="1"/>
          <p:nvPr/>
        </p:nvSpPr>
        <p:spPr>
          <a:xfrm>
            <a:off x="3521449" y="4011509"/>
            <a:ext cx="1077642" cy="646331"/>
          </a:xfrm>
          <a:prstGeom prst="rect">
            <a:avLst/>
          </a:prstGeom>
          <a:noFill/>
        </p:spPr>
        <p:txBody>
          <a:bodyPr wrap="square">
            <a:spAutoFit/>
          </a:bodyPr>
          <a:lstStyle/>
          <a:p>
            <a:r>
              <a:rPr lang="fr-FR" sz="1200" dirty="0">
                <a:solidFill>
                  <a:srgbClr val="002060"/>
                </a:solidFill>
              </a:rPr>
              <a:t>Insérer </a:t>
            </a:r>
            <a:br>
              <a:rPr lang="fr-FR" sz="1200" dirty="0">
                <a:solidFill>
                  <a:srgbClr val="002060"/>
                </a:solidFill>
              </a:rPr>
            </a:br>
            <a:r>
              <a:rPr lang="fr-FR" sz="1200" dirty="0">
                <a:solidFill>
                  <a:srgbClr val="002060"/>
                </a:solidFill>
              </a:rPr>
              <a:t>un kiosque </a:t>
            </a:r>
            <a:br>
              <a:rPr lang="fr-FR" sz="1200" dirty="0">
                <a:solidFill>
                  <a:srgbClr val="002060"/>
                </a:solidFill>
              </a:rPr>
            </a:br>
            <a:r>
              <a:rPr lang="fr-FR" sz="1200" dirty="0">
                <a:solidFill>
                  <a:srgbClr val="002060"/>
                </a:solidFill>
              </a:rPr>
              <a:t>de notices</a:t>
            </a:r>
          </a:p>
        </p:txBody>
      </p:sp>
      <p:cxnSp>
        <p:nvCxnSpPr>
          <p:cNvPr id="43" name="Connecteur droit avec flèche 42">
            <a:extLst>
              <a:ext uri="{FF2B5EF4-FFF2-40B4-BE49-F238E27FC236}">
                <a16:creationId xmlns:a16="http://schemas.microsoft.com/office/drawing/2014/main" id="{CE3C50AF-D28F-9DDB-27F7-8B054C06D655}"/>
              </a:ext>
            </a:extLst>
          </p:cNvPr>
          <p:cNvCxnSpPr>
            <a:cxnSpLocks/>
          </p:cNvCxnSpPr>
          <p:nvPr/>
        </p:nvCxnSpPr>
        <p:spPr>
          <a:xfrm>
            <a:off x="3972634" y="625151"/>
            <a:ext cx="0" cy="261432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5" name="Connecteur droit avec flèche 44">
            <a:extLst>
              <a:ext uri="{FF2B5EF4-FFF2-40B4-BE49-F238E27FC236}">
                <a16:creationId xmlns:a16="http://schemas.microsoft.com/office/drawing/2014/main" id="{564E914E-70C4-3657-7C89-4A64C4750A51}"/>
              </a:ext>
            </a:extLst>
          </p:cNvPr>
          <p:cNvCxnSpPr>
            <a:cxnSpLocks/>
          </p:cNvCxnSpPr>
          <p:nvPr/>
        </p:nvCxnSpPr>
        <p:spPr>
          <a:xfrm>
            <a:off x="4265677" y="1504840"/>
            <a:ext cx="0" cy="173463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7" name="ZoneTexte 46">
            <a:extLst>
              <a:ext uri="{FF2B5EF4-FFF2-40B4-BE49-F238E27FC236}">
                <a16:creationId xmlns:a16="http://schemas.microsoft.com/office/drawing/2014/main" id="{B4DAC1F0-D5F9-11C9-52D2-AC8C003FBD10}"/>
              </a:ext>
            </a:extLst>
          </p:cNvPr>
          <p:cNvSpPr txBox="1"/>
          <p:nvPr/>
        </p:nvSpPr>
        <p:spPr>
          <a:xfrm>
            <a:off x="3148448" y="144535"/>
            <a:ext cx="1618934" cy="461665"/>
          </a:xfrm>
          <a:prstGeom prst="rect">
            <a:avLst/>
          </a:prstGeom>
          <a:noFill/>
        </p:spPr>
        <p:txBody>
          <a:bodyPr wrap="square">
            <a:spAutoFit/>
          </a:bodyPr>
          <a:lstStyle/>
          <a:p>
            <a:r>
              <a:rPr lang="fr-FR" sz="1200" dirty="0">
                <a:solidFill>
                  <a:srgbClr val="002060"/>
                </a:solidFill>
              </a:rPr>
              <a:t>Insérer une boite Bibliothèque</a:t>
            </a:r>
          </a:p>
        </p:txBody>
      </p:sp>
      <p:sp>
        <p:nvSpPr>
          <p:cNvPr id="48" name="ZoneTexte 47">
            <a:extLst>
              <a:ext uri="{FF2B5EF4-FFF2-40B4-BE49-F238E27FC236}">
                <a16:creationId xmlns:a16="http://schemas.microsoft.com/office/drawing/2014/main" id="{10234ABD-7904-7F68-A124-A2227D9FA47D}"/>
              </a:ext>
            </a:extLst>
          </p:cNvPr>
          <p:cNvSpPr txBox="1"/>
          <p:nvPr/>
        </p:nvSpPr>
        <p:spPr>
          <a:xfrm>
            <a:off x="4057167" y="971851"/>
            <a:ext cx="1618934" cy="461665"/>
          </a:xfrm>
          <a:prstGeom prst="rect">
            <a:avLst/>
          </a:prstGeom>
          <a:noFill/>
        </p:spPr>
        <p:txBody>
          <a:bodyPr wrap="square">
            <a:spAutoFit/>
          </a:bodyPr>
          <a:lstStyle/>
          <a:p>
            <a:r>
              <a:rPr lang="fr-FR" sz="1200" dirty="0">
                <a:solidFill>
                  <a:srgbClr val="002060"/>
                </a:solidFill>
              </a:rPr>
              <a:t>Insérer une boite Domaine</a:t>
            </a:r>
          </a:p>
        </p:txBody>
      </p:sp>
      <p:sp>
        <p:nvSpPr>
          <p:cNvPr id="50" name="ZoneTexte 49">
            <a:extLst>
              <a:ext uri="{FF2B5EF4-FFF2-40B4-BE49-F238E27FC236}">
                <a16:creationId xmlns:a16="http://schemas.microsoft.com/office/drawing/2014/main" id="{2C1279BB-F3FC-0E6A-0D4F-EB0C1DEAC9DC}"/>
              </a:ext>
            </a:extLst>
          </p:cNvPr>
          <p:cNvSpPr txBox="1"/>
          <p:nvPr/>
        </p:nvSpPr>
        <p:spPr>
          <a:xfrm>
            <a:off x="5329616" y="4063268"/>
            <a:ext cx="1466050" cy="1754326"/>
          </a:xfrm>
          <a:prstGeom prst="rect">
            <a:avLst/>
          </a:prstGeom>
          <a:noFill/>
        </p:spPr>
        <p:txBody>
          <a:bodyPr wrap="square">
            <a:spAutoFit/>
          </a:bodyPr>
          <a:lstStyle/>
          <a:p>
            <a:r>
              <a:rPr lang="fr-FR" sz="1200" dirty="0">
                <a:solidFill>
                  <a:srgbClr val="002060"/>
                </a:solidFill>
              </a:rPr>
              <a:t>Formulaire</a:t>
            </a:r>
            <a:br>
              <a:rPr lang="fr-FR" sz="1200" dirty="0">
                <a:solidFill>
                  <a:srgbClr val="002060"/>
                </a:solidFill>
              </a:rPr>
            </a:br>
            <a:r>
              <a:rPr lang="fr-FR" sz="1200" dirty="0">
                <a:solidFill>
                  <a:srgbClr val="002060"/>
                </a:solidFill>
              </a:rPr>
              <a:t>Case à cocher</a:t>
            </a:r>
            <a:br>
              <a:rPr lang="fr-FR" sz="1200" dirty="0">
                <a:solidFill>
                  <a:srgbClr val="002060"/>
                </a:solidFill>
              </a:rPr>
            </a:br>
            <a:r>
              <a:rPr lang="fr-FR" sz="1200" dirty="0">
                <a:solidFill>
                  <a:srgbClr val="002060"/>
                </a:solidFill>
              </a:rPr>
              <a:t>Bouton radio </a:t>
            </a:r>
            <a:br>
              <a:rPr lang="fr-FR" sz="1200" dirty="0">
                <a:solidFill>
                  <a:srgbClr val="002060"/>
                </a:solidFill>
              </a:rPr>
            </a:br>
            <a:r>
              <a:rPr lang="fr-FR" sz="1200" dirty="0">
                <a:solidFill>
                  <a:srgbClr val="002060"/>
                </a:solidFill>
              </a:rPr>
              <a:t>Champ texte</a:t>
            </a:r>
            <a:br>
              <a:rPr lang="fr-FR" sz="1200" dirty="0">
                <a:solidFill>
                  <a:srgbClr val="002060"/>
                </a:solidFill>
              </a:rPr>
            </a:br>
            <a:r>
              <a:rPr lang="fr-FR" sz="1200" dirty="0">
                <a:solidFill>
                  <a:srgbClr val="002060"/>
                </a:solidFill>
              </a:rPr>
              <a:t>Zone de texte </a:t>
            </a:r>
            <a:br>
              <a:rPr lang="fr-FR" sz="1200" dirty="0">
                <a:solidFill>
                  <a:srgbClr val="002060"/>
                </a:solidFill>
              </a:rPr>
            </a:br>
            <a:r>
              <a:rPr lang="fr-FR" sz="1200" dirty="0">
                <a:solidFill>
                  <a:srgbClr val="002060"/>
                </a:solidFill>
              </a:rPr>
              <a:t>Liste déroulante</a:t>
            </a:r>
            <a:br>
              <a:rPr lang="fr-FR" sz="1200" dirty="0">
                <a:solidFill>
                  <a:srgbClr val="002060"/>
                </a:solidFill>
              </a:rPr>
            </a:br>
            <a:r>
              <a:rPr lang="fr-FR" sz="1200" dirty="0">
                <a:solidFill>
                  <a:srgbClr val="002060"/>
                </a:solidFill>
              </a:rPr>
              <a:t>Bouton</a:t>
            </a:r>
            <a:br>
              <a:rPr lang="fr-FR" sz="1200" dirty="0">
                <a:solidFill>
                  <a:srgbClr val="002060"/>
                </a:solidFill>
              </a:rPr>
            </a:br>
            <a:r>
              <a:rPr lang="fr-FR" sz="1200" dirty="0">
                <a:solidFill>
                  <a:srgbClr val="002060"/>
                </a:solidFill>
              </a:rPr>
              <a:t>Bouton avec image</a:t>
            </a:r>
            <a:br>
              <a:rPr lang="fr-FR" sz="1200" dirty="0">
                <a:solidFill>
                  <a:srgbClr val="002060"/>
                </a:solidFill>
              </a:rPr>
            </a:br>
            <a:r>
              <a:rPr lang="fr-FR" sz="1200" dirty="0">
                <a:solidFill>
                  <a:srgbClr val="002060"/>
                </a:solidFill>
              </a:rPr>
              <a:t>Champ invisible</a:t>
            </a:r>
          </a:p>
        </p:txBody>
      </p:sp>
      <p:cxnSp>
        <p:nvCxnSpPr>
          <p:cNvPr id="52" name="Connecteur droit 51">
            <a:extLst>
              <a:ext uri="{FF2B5EF4-FFF2-40B4-BE49-F238E27FC236}">
                <a16:creationId xmlns:a16="http://schemas.microsoft.com/office/drawing/2014/main" id="{843C3F8E-E6A9-BF7A-0595-032F70AEB816}"/>
              </a:ext>
            </a:extLst>
          </p:cNvPr>
          <p:cNvCxnSpPr>
            <a:cxnSpLocks/>
          </p:cNvCxnSpPr>
          <p:nvPr/>
        </p:nvCxnSpPr>
        <p:spPr>
          <a:xfrm>
            <a:off x="5329616" y="4134268"/>
            <a:ext cx="0" cy="1628537"/>
          </a:xfrm>
          <a:prstGeom prst="line">
            <a:avLst/>
          </a:prstGeom>
        </p:spPr>
        <p:style>
          <a:lnRef idx="2">
            <a:schemeClr val="accent1"/>
          </a:lnRef>
          <a:fillRef idx="0">
            <a:schemeClr val="accent1"/>
          </a:fillRef>
          <a:effectRef idx="1">
            <a:schemeClr val="accent1"/>
          </a:effectRef>
          <a:fontRef idx="minor">
            <a:schemeClr val="tx1"/>
          </a:fontRef>
        </p:style>
      </p:cxnSp>
      <p:cxnSp>
        <p:nvCxnSpPr>
          <p:cNvPr id="53" name="Connecteur droit 52">
            <a:extLst>
              <a:ext uri="{FF2B5EF4-FFF2-40B4-BE49-F238E27FC236}">
                <a16:creationId xmlns:a16="http://schemas.microsoft.com/office/drawing/2014/main" id="{C3FF0BED-2C4B-515A-3DF6-23EAC14E51B3}"/>
              </a:ext>
            </a:extLst>
          </p:cNvPr>
          <p:cNvCxnSpPr>
            <a:cxnSpLocks/>
          </p:cNvCxnSpPr>
          <p:nvPr/>
        </p:nvCxnSpPr>
        <p:spPr>
          <a:xfrm flipH="1">
            <a:off x="4767382" y="3477906"/>
            <a:ext cx="230522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56" name="Connecteur droit avec flèche 55">
            <a:extLst>
              <a:ext uri="{FF2B5EF4-FFF2-40B4-BE49-F238E27FC236}">
                <a16:creationId xmlns:a16="http://schemas.microsoft.com/office/drawing/2014/main" id="{89879CD2-9CDB-EBA6-620C-CA1794AA3182}"/>
              </a:ext>
            </a:extLst>
          </p:cNvPr>
          <p:cNvCxnSpPr>
            <a:cxnSpLocks/>
            <a:endCxn id="50" idx="1"/>
          </p:cNvCxnSpPr>
          <p:nvPr/>
        </p:nvCxnSpPr>
        <p:spPr>
          <a:xfrm rot="16200000" flipH="1">
            <a:off x="4392162" y="4002977"/>
            <a:ext cx="1462526" cy="412382"/>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0" name="Connecteur droit 59">
            <a:extLst>
              <a:ext uri="{FF2B5EF4-FFF2-40B4-BE49-F238E27FC236}">
                <a16:creationId xmlns:a16="http://schemas.microsoft.com/office/drawing/2014/main" id="{14F74F3B-6D9B-E527-7D90-5C641D4C717F}"/>
              </a:ext>
            </a:extLst>
          </p:cNvPr>
          <p:cNvCxnSpPr>
            <a:cxnSpLocks/>
          </p:cNvCxnSpPr>
          <p:nvPr/>
        </p:nvCxnSpPr>
        <p:spPr>
          <a:xfrm flipH="1">
            <a:off x="5103845" y="3841800"/>
            <a:ext cx="2836506" cy="0"/>
          </a:xfrm>
          <a:prstGeom prst="line">
            <a:avLst/>
          </a:prstGeom>
        </p:spPr>
        <p:style>
          <a:lnRef idx="2">
            <a:schemeClr val="accent1"/>
          </a:lnRef>
          <a:fillRef idx="0">
            <a:schemeClr val="accent1"/>
          </a:fillRef>
          <a:effectRef idx="1">
            <a:schemeClr val="accent1"/>
          </a:effectRef>
          <a:fontRef idx="minor">
            <a:schemeClr val="tx1"/>
          </a:fontRef>
        </p:style>
      </p:cxnSp>
      <p:sp>
        <p:nvSpPr>
          <p:cNvPr id="63" name="ZoneTexte 62">
            <a:extLst>
              <a:ext uri="{FF2B5EF4-FFF2-40B4-BE49-F238E27FC236}">
                <a16:creationId xmlns:a16="http://schemas.microsoft.com/office/drawing/2014/main" id="{57357539-1005-3C62-02A7-CBC8020796DB}"/>
              </a:ext>
            </a:extLst>
          </p:cNvPr>
          <p:cNvSpPr txBox="1"/>
          <p:nvPr/>
        </p:nvSpPr>
        <p:spPr>
          <a:xfrm>
            <a:off x="6932747" y="4063268"/>
            <a:ext cx="1466050" cy="2492990"/>
          </a:xfrm>
          <a:prstGeom prst="rect">
            <a:avLst/>
          </a:prstGeom>
          <a:noFill/>
        </p:spPr>
        <p:txBody>
          <a:bodyPr wrap="square">
            <a:spAutoFit/>
          </a:bodyPr>
          <a:lstStyle/>
          <a:p>
            <a:r>
              <a:rPr lang="fr-FR" sz="1200" dirty="0">
                <a:solidFill>
                  <a:srgbClr val="002060"/>
                </a:solidFill>
              </a:rPr>
              <a:t>Couleur du texte</a:t>
            </a:r>
            <a:br>
              <a:rPr lang="fr-FR" sz="1200" dirty="0">
                <a:solidFill>
                  <a:srgbClr val="002060"/>
                </a:solidFill>
              </a:rPr>
            </a:br>
            <a:r>
              <a:rPr lang="fr-FR" sz="1200" dirty="0">
                <a:solidFill>
                  <a:srgbClr val="002060"/>
                </a:solidFill>
              </a:rPr>
              <a:t>Couleur arrière-plan</a:t>
            </a:r>
            <a:br>
              <a:rPr lang="fr-FR" sz="1200" dirty="0">
                <a:solidFill>
                  <a:srgbClr val="002060"/>
                </a:solidFill>
              </a:rPr>
            </a:br>
            <a:r>
              <a:rPr lang="fr-FR" sz="1200" dirty="0">
                <a:solidFill>
                  <a:srgbClr val="002060"/>
                </a:solidFill>
              </a:rPr>
              <a:t>Gras </a:t>
            </a:r>
            <a:br>
              <a:rPr lang="fr-FR" sz="1200" dirty="0">
                <a:solidFill>
                  <a:srgbClr val="002060"/>
                </a:solidFill>
              </a:rPr>
            </a:br>
            <a:r>
              <a:rPr lang="fr-FR" sz="1200" dirty="0">
                <a:solidFill>
                  <a:srgbClr val="002060"/>
                </a:solidFill>
              </a:rPr>
              <a:t>Italique</a:t>
            </a:r>
            <a:br>
              <a:rPr lang="fr-FR" sz="1200" dirty="0">
                <a:solidFill>
                  <a:srgbClr val="002060"/>
                </a:solidFill>
              </a:rPr>
            </a:br>
            <a:r>
              <a:rPr lang="fr-FR" sz="1200" dirty="0">
                <a:solidFill>
                  <a:srgbClr val="002060"/>
                </a:solidFill>
              </a:rPr>
              <a:t>Souligné </a:t>
            </a:r>
            <a:br>
              <a:rPr lang="fr-FR" sz="1200" dirty="0">
                <a:solidFill>
                  <a:srgbClr val="002060"/>
                </a:solidFill>
              </a:rPr>
            </a:br>
            <a:r>
              <a:rPr lang="fr-FR" sz="1200" dirty="0">
                <a:solidFill>
                  <a:srgbClr val="002060"/>
                </a:solidFill>
              </a:rPr>
              <a:t>Barré</a:t>
            </a:r>
            <a:br>
              <a:rPr lang="fr-FR" sz="1200" dirty="0">
                <a:solidFill>
                  <a:srgbClr val="002060"/>
                </a:solidFill>
              </a:rPr>
            </a:br>
            <a:r>
              <a:rPr lang="fr-FR" sz="1200" dirty="0">
                <a:solidFill>
                  <a:srgbClr val="002060"/>
                </a:solidFill>
              </a:rPr>
              <a:t>Citation</a:t>
            </a:r>
            <a:br>
              <a:rPr lang="fr-FR" sz="1200" dirty="0">
                <a:solidFill>
                  <a:srgbClr val="002060"/>
                </a:solidFill>
              </a:rPr>
            </a:br>
            <a:r>
              <a:rPr lang="fr-FR" sz="1200" dirty="0">
                <a:solidFill>
                  <a:srgbClr val="002060"/>
                </a:solidFill>
              </a:rPr>
              <a:t>Indice </a:t>
            </a:r>
            <a:br>
              <a:rPr lang="fr-FR" sz="1200" dirty="0">
                <a:solidFill>
                  <a:srgbClr val="002060"/>
                </a:solidFill>
              </a:rPr>
            </a:br>
            <a:r>
              <a:rPr lang="fr-FR" sz="1200" dirty="0">
                <a:solidFill>
                  <a:srgbClr val="002060"/>
                </a:solidFill>
              </a:rPr>
              <a:t>Exposant</a:t>
            </a:r>
            <a:br>
              <a:rPr lang="fr-FR" sz="1200" dirty="0">
                <a:solidFill>
                  <a:srgbClr val="002060"/>
                </a:solidFill>
              </a:rPr>
            </a:br>
            <a:r>
              <a:rPr lang="fr-FR" sz="1200" dirty="0">
                <a:solidFill>
                  <a:srgbClr val="002060"/>
                </a:solidFill>
              </a:rPr>
              <a:t>Supprimer la mise en forme</a:t>
            </a:r>
            <a:br>
              <a:rPr lang="fr-FR" sz="1200" dirty="0">
                <a:solidFill>
                  <a:srgbClr val="002060"/>
                </a:solidFill>
              </a:rPr>
            </a:br>
            <a:r>
              <a:rPr lang="fr-FR" sz="1200" dirty="0">
                <a:solidFill>
                  <a:srgbClr val="002060"/>
                </a:solidFill>
              </a:rPr>
              <a:t>Copier la mise en forme </a:t>
            </a:r>
          </a:p>
        </p:txBody>
      </p:sp>
      <p:cxnSp>
        <p:nvCxnSpPr>
          <p:cNvPr id="64" name="Connecteur droit avec flèche 55">
            <a:extLst>
              <a:ext uri="{FF2B5EF4-FFF2-40B4-BE49-F238E27FC236}">
                <a16:creationId xmlns:a16="http://schemas.microsoft.com/office/drawing/2014/main" id="{A07CC7D8-CACA-E0E5-0252-8CB9EB2D35A9}"/>
              </a:ext>
            </a:extLst>
          </p:cNvPr>
          <p:cNvCxnSpPr>
            <a:cxnSpLocks/>
            <a:endCxn id="63" idx="1"/>
          </p:cNvCxnSpPr>
          <p:nvPr/>
        </p:nvCxnSpPr>
        <p:spPr>
          <a:xfrm rot="16200000" flipH="1">
            <a:off x="6057837" y="4434852"/>
            <a:ext cx="1467967" cy="281854"/>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5" name="Connecteur droit 64">
            <a:extLst>
              <a:ext uri="{FF2B5EF4-FFF2-40B4-BE49-F238E27FC236}">
                <a16:creationId xmlns:a16="http://schemas.microsoft.com/office/drawing/2014/main" id="{5D481319-04EA-03E0-B35F-DE988EDD0190}"/>
              </a:ext>
            </a:extLst>
          </p:cNvPr>
          <p:cNvCxnSpPr>
            <a:cxnSpLocks/>
          </p:cNvCxnSpPr>
          <p:nvPr/>
        </p:nvCxnSpPr>
        <p:spPr>
          <a:xfrm>
            <a:off x="6932747" y="4134268"/>
            <a:ext cx="0" cy="1628537"/>
          </a:xfrm>
          <a:prstGeom prst="line">
            <a:avLst/>
          </a:prstGeom>
        </p:spPr>
        <p:style>
          <a:lnRef idx="2">
            <a:schemeClr val="accent1"/>
          </a:lnRef>
          <a:fillRef idx="0">
            <a:schemeClr val="accent1"/>
          </a:fillRef>
          <a:effectRef idx="1">
            <a:schemeClr val="accent1"/>
          </a:effectRef>
          <a:fontRef idx="minor">
            <a:schemeClr val="tx1"/>
          </a:fontRef>
        </p:style>
      </p:cxnSp>
      <p:cxnSp>
        <p:nvCxnSpPr>
          <p:cNvPr id="67" name="Connecteur droit 66">
            <a:extLst>
              <a:ext uri="{FF2B5EF4-FFF2-40B4-BE49-F238E27FC236}">
                <a16:creationId xmlns:a16="http://schemas.microsoft.com/office/drawing/2014/main" id="{C6D6AA42-5C38-60D9-C7A1-F019C295A054}"/>
              </a:ext>
            </a:extLst>
          </p:cNvPr>
          <p:cNvCxnSpPr>
            <a:cxnSpLocks/>
          </p:cNvCxnSpPr>
          <p:nvPr/>
        </p:nvCxnSpPr>
        <p:spPr>
          <a:xfrm flipH="1">
            <a:off x="4991878" y="2881674"/>
            <a:ext cx="1040363" cy="0"/>
          </a:xfrm>
          <a:prstGeom prst="line">
            <a:avLst/>
          </a:prstGeom>
        </p:spPr>
        <p:style>
          <a:lnRef idx="2">
            <a:schemeClr val="accent1"/>
          </a:lnRef>
          <a:fillRef idx="0">
            <a:schemeClr val="accent1"/>
          </a:fillRef>
          <a:effectRef idx="1">
            <a:schemeClr val="accent1"/>
          </a:effectRef>
          <a:fontRef idx="minor">
            <a:schemeClr val="tx1"/>
          </a:fontRef>
        </p:style>
      </p:cxnSp>
      <p:sp>
        <p:nvSpPr>
          <p:cNvPr id="70" name="ZoneTexte 69">
            <a:extLst>
              <a:ext uri="{FF2B5EF4-FFF2-40B4-BE49-F238E27FC236}">
                <a16:creationId xmlns:a16="http://schemas.microsoft.com/office/drawing/2014/main" id="{E4AE05F6-8D9D-D459-5FDA-0D1FA65D94B6}"/>
              </a:ext>
            </a:extLst>
          </p:cNvPr>
          <p:cNvSpPr txBox="1"/>
          <p:nvPr/>
        </p:nvSpPr>
        <p:spPr>
          <a:xfrm>
            <a:off x="5633502" y="501005"/>
            <a:ext cx="1466050" cy="830997"/>
          </a:xfrm>
          <a:prstGeom prst="rect">
            <a:avLst/>
          </a:prstGeom>
          <a:noFill/>
        </p:spPr>
        <p:txBody>
          <a:bodyPr wrap="square">
            <a:spAutoFit/>
          </a:bodyPr>
          <a:lstStyle/>
          <a:p>
            <a:r>
              <a:rPr lang="fr-FR" sz="1200" dirty="0">
                <a:solidFill>
                  <a:srgbClr val="002060"/>
                </a:solidFill>
              </a:rPr>
              <a:t>Aligner à gauche</a:t>
            </a:r>
            <a:br>
              <a:rPr lang="fr-FR" sz="1200" dirty="0">
                <a:solidFill>
                  <a:srgbClr val="002060"/>
                </a:solidFill>
              </a:rPr>
            </a:br>
            <a:r>
              <a:rPr lang="fr-FR" sz="1200" dirty="0">
                <a:solidFill>
                  <a:srgbClr val="002060"/>
                </a:solidFill>
              </a:rPr>
              <a:t>Centrer </a:t>
            </a:r>
            <a:br>
              <a:rPr lang="fr-FR" sz="1200" dirty="0">
                <a:solidFill>
                  <a:srgbClr val="002060"/>
                </a:solidFill>
              </a:rPr>
            </a:br>
            <a:r>
              <a:rPr lang="fr-FR" sz="1200" dirty="0">
                <a:solidFill>
                  <a:srgbClr val="002060"/>
                </a:solidFill>
              </a:rPr>
              <a:t>Aligner à droite </a:t>
            </a:r>
            <a:br>
              <a:rPr lang="fr-FR" sz="1200" dirty="0">
                <a:solidFill>
                  <a:srgbClr val="002060"/>
                </a:solidFill>
              </a:rPr>
            </a:br>
            <a:r>
              <a:rPr lang="fr-FR" sz="1200" dirty="0">
                <a:solidFill>
                  <a:srgbClr val="002060"/>
                </a:solidFill>
              </a:rPr>
              <a:t>Justifier</a:t>
            </a:r>
          </a:p>
        </p:txBody>
      </p:sp>
      <p:cxnSp>
        <p:nvCxnSpPr>
          <p:cNvPr id="71" name="Connecteur droit 70">
            <a:extLst>
              <a:ext uri="{FF2B5EF4-FFF2-40B4-BE49-F238E27FC236}">
                <a16:creationId xmlns:a16="http://schemas.microsoft.com/office/drawing/2014/main" id="{F9CDC4CF-84CC-FBFA-018D-5A1E45A23D91}"/>
              </a:ext>
            </a:extLst>
          </p:cNvPr>
          <p:cNvCxnSpPr>
            <a:cxnSpLocks/>
          </p:cNvCxnSpPr>
          <p:nvPr/>
        </p:nvCxnSpPr>
        <p:spPr>
          <a:xfrm>
            <a:off x="5649946" y="568876"/>
            <a:ext cx="0" cy="672095"/>
          </a:xfrm>
          <a:prstGeom prst="line">
            <a:avLst/>
          </a:prstGeom>
        </p:spPr>
        <p:style>
          <a:lnRef idx="2">
            <a:schemeClr val="accent1"/>
          </a:lnRef>
          <a:fillRef idx="0">
            <a:schemeClr val="accent1"/>
          </a:fillRef>
          <a:effectRef idx="1">
            <a:schemeClr val="accent1"/>
          </a:effectRef>
          <a:fontRef idx="minor">
            <a:schemeClr val="tx1"/>
          </a:fontRef>
        </p:style>
      </p:cxnSp>
      <p:cxnSp>
        <p:nvCxnSpPr>
          <p:cNvPr id="73" name="Connecteur droit avec flèche 72">
            <a:extLst>
              <a:ext uri="{FF2B5EF4-FFF2-40B4-BE49-F238E27FC236}">
                <a16:creationId xmlns:a16="http://schemas.microsoft.com/office/drawing/2014/main" id="{08A67D8A-DCF3-449E-FFB6-DB15A951EDD8}"/>
              </a:ext>
            </a:extLst>
          </p:cNvPr>
          <p:cNvCxnSpPr>
            <a:cxnSpLocks/>
            <a:stCxn id="70" idx="1"/>
          </p:cNvCxnSpPr>
          <p:nvPr/>
        </p:nvCxnSpPr>
        <p:spPr>
          <a:xfrm rot="10800000" flipV="1">
            <a:off x="5421862" y="916503"/>
            <a:ext cx="211641" cy="1945939"/>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5" name="Connecteur droit 74">
            <a:extLst>
              <a:ext uri="{FF2B5EF4-FFF2-40B4-BE49-F238E27FC236}">
                <a16:creationId xmlns:a16="http://schemas.microsoft.com/office/drawing/2014/main" id="{53A767CB-747C-21DA-F4D8-FBF0041BFAC4}"/>
              </a:ext>
            </a:extLst>
          </p:cNvPr>
          <p:cNvCxnSpPr>
            <a:cxnSpLocks/>
          </p:cNvCxnSpPr>
          <p:nvPr/>
        </p:nvCxnSpPr>
        <p:spPr>
          <a:xfrm flipH="1">
            <a:off x="6096000" y="2881674"/>
            <a:ext cx="482082" cy="0"/>
          </a:xfrm>
          <a:prstGeom prst="line">
            <a:avLst/>
          </a:prstGeom>
        </p:spPr>
        <p:style>
          <a:lnRef idx="2">
            <a:schemeClr val="accent1"/>
          </a:lnRef>
          <a:fillRef idx="0">
            <a:schemeClr val="accent1"/>
          </a:fillRef>
          <a:effectRef idx="1">
            <a:schemeClr val="accent1"/>
          </a:effectRef>
          <a:fontRef idx="minor">
            <a:schemeClr val="tx1"/>
          </a:fontRef>
        </p:style>
      </p:cxnSp>
      <p:sp>
        <p:nvSpPr>
          <p:cNvPr id="77" name="ZoneTexte 76">
            <a:extLst>
              <a:ext uri="{FF2B5EF4-FFF2-40B4-BE49-F238E27FC236}">
                <a16:creationId xmlns:a16="http://schemas.microsoft.com/office/drawing/2014/main" id="{3A024854-6979-FD57-664A-C8C382926399}"/>
              </a:ext>
            </a:extLst>
          </p:cNvPr>
          <p:cNvSpPr txBox="1"/>
          <p:nvPr/>
        </p:nvSpPr>
        <p:spPr>
          <a:xfrm>
            <a:off x="6444683" y="1512475"/>
            <a:ext cx="1466050" cy="461665"/>
          </a:xfrm>
          <a:prstGeom prst="rect">
            <a:avLst/>
          </a:prstGeom>
          <a:noFill/>
        </p:spPr>
        <p:txBody>
          <a:bodyPr wrap="square">
            <a:spAutoFit/>
          </a:bodyPr>
          <a:lstStyle/>
          <a:p>
            <a:r>
              <a:rPr lang="fr-FR" sz="1200" dirty="0">
                <a:solidFill>
                  <a:srgbClr val="002060"/>
                </a:solidFill>
              </a:rPr>
              <a:t>Liste numérotée</a:t>
            </a:r>
            <a:br>
              <a:rPr lang="fr-FR" sz="1200" dirty="0">
                <a:solidFill>
                  <a:srgbClr val="002060"/>
                </a:solidFill>
              </a:rPr>
            </a:br>
            <a:r>
              <a:rPr lang="fr-FR" sz="1200" dirty="0">
                <a:solidFill>
                  <a:srgbClr val="002060"/>
                </a:solidFill>
              </a:rPr>
              <a:t>Liste à puces</a:t>
            </a:r>
          </a:p>
        </p:txBody>
      </p:sp>
      <p:cxnSp>
        <p:nvCxnSpPr>
          <p:cNvPr id="78" name="Connecteur droit 77">
            <a:extLst>
              <a:ext uri="{FF2B5EF4-FFF2-40B4-BE49-F238E27FC236}">
                <a16:creationId xmlns:a16="http://schemas.microsoft.com/office/drawing/2014/main" id="{F2BEB229-1FCE-708E-7DD3-8A07812D3742}"/>
              </a:ext>
            </a:extLst>
          </p:cNvPr>
          <p:cNvCxnSpPr>
            <a:cxnSpLocks/>
          </p:cNvCxnSpPr>
          <p:nvPr/>
        </p:nvCxnSpPr>
        <p:spPr>
          <a:xfrm>
            <a:off x="6471038" y="1553424"/>
            <a:ext cx="0" cy="336048"/>
          </a:xfrm>
          <a:prstGeom prst="line">
            <a:avLst/>
          </a:prstGeom>
        </p:spPr>
        <p:style>
          <a:lnRef idx="2">
            <a:schemeClr val="accent1"/>
          </a:lnRef>
          <a:fillRef idx="0">
            <a:schemeClr val="accent1"/>
          </a:fillRef>
          <a:effectRef idx="1">
            <a:schemeClr val="accent1"/>
          </a:effectRef>
          <a:fontRef idx="minor">
            <a:schemeClr val="tx1"/>
          </a:fontRef>
        </p:style>
      </p:cxnSp>
      <p:cxnSp>
        <p:nvCxnSpPr>
          <p:cNvPr id="80" name="Connecteur droit avec flèche 72">
            <a:extLst>
              <a:ext uri="{FF2B5EF4-FFF2-40B4-BE49-F238E27FC236}">
                <a16:creationId xmlns:a16="http://schemas.microsoft.com/office/drawing/2014/main" id="{15C6B4F3-6169-B076-5B28-551B46582552}"/>
              </a:ext>
            </a:extLst>
          </p:cNvPr>
          <p:cNvCxnSpPr>
            <a:cxnSpLocks/>
            <a:stCxn id="77" idx="1"/>
          </p:cNvCxnSpPr>
          <p:nvPr/>
        </p:nvCxnSpPr>
        <p:spPr>
          <a:xfrm rot="10800000" flipV="1">
            <a:off x="6204815" y="1743307"/>
            <a:ext cx="239868" cy="1157891"/>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245049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CEA5A61-087E-0012-2456-15EA97BB48A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6BFA224-0359-FBEE-52A8-C4553EAE2B0A}"/>
              </a:ext>
            </a:extLst>
          </p:cNvPr>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7" name="Rectangle 6">
            <a:extLst>
              <a:ext uri="{FF2B5EF4-FFF2-40B4-BE49-F238E27FC236}">
                <a16:creationId xmlns:a16="http://schemas.microsoft.com/office/drawing/2014/main" id="{445DB236-2976-BAFB-1454-3EB0D31B6F89}"/>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2">
            <a:extLst>
              <a:ext uri="{FF2B5EF4-FFF2-40B4-BE49-F238E27FC236}">
                <a16:creationId xmlns:a16="http://schemas.microsoft.com/office/drawing/2014/main" id="{52F98030-8185-E1B1-AA6A-66CA6DD11F73}"/>
              </a:ext>
            </a:extLst>
          </p:cNvPr>
          <p:cNvSpPr txBox="1"/>
          <p:nvPr/>
        </p:nvSpPr>
        <p:spPr>
          <a:xfrm>
            <a:off x="8760542" y="914400"/>
            <a:ext cx="3352800" cy="1323439"/>
          </a:xfrm>
          <a:prstGeom prst="rect">
            <a:avLst/>
          </a:prstGeom>
          <a:noFill/>
        </p:spPr>
        <p:txBody>
          <a:bodyPr wrap="square">
            <a:spAutoFit/>
          </a:bodyPr>
          <a:lstStyle/>
          <a:p>
            <a:pPr>
              <a:defRPr sz="1600" b="1">
                <a:solidFill>
                  <a:srgbClr val="FFFFFF"/>
                </a:solidFill>
              </a:defRPr>
            </a:pPr>
            <a:r>
              <a:rPr lang="fr-FR" sz="3200" dirty="0"/>
              <a:t>Créer un article</a:t>
            </a:r>
          </a:p>
          <a:p>
            <a:pPr>
              <a:defRPr sz="1600" b="1">
                <a:solidFill>
                  <a:srgbClr val="FFFFFF"/>
                </a:solidFill>
              </a:defRPr>
            </a:pPr>
            <a:endParaRPr lang="fr-FR" sz="2400" dirty="0"/>
          </a:p>
          <a:p>
            <a:pPr>
              <a:defRPr sz="1600" b="1">
                <a:solidFill>
                  <a:srgbClr val="FFFFFF"/>
                </a:solidFill>
              </a:defRPr>
            </a:pPr>
            <a:r>
              <a:rPr lang="fr-FR" sz="2400" dirty="0"/>
              <a:t>Les icones</a:t>
            </a:r>
          </a:p>
        </p:txBody>
      </p:sp>
      <p:pic>
        <p:nvPicPr>
          <p:cNvPr id="10" name="Image 9">
            <a:extLst>
              <a:ext uri="{FF2B5EF4-FFF2-40B4-BE49-F238E27FC236}">
                <a16:creationId xmlns:a16="http://schemas.microsoft.com/office/drawing/2014/main" id="{EC7DE236-C2B0-661C-8DCC-9D3CD841BB3B}"/>
              </a:ext>
            </a:extLst>
          </p:cNvPr>
          <p:cNvPicPr>
            <a:picLocks noChangeAspect="1"/>
          </p:cNvPicPr>
          <p:nvPr/>
        </p:nvPicPr>
        <p:blipFill>
          <a:blip r:embed="rId2"/>
          <a:stretch>
            <a:fillRect/>
          </a:stretch>
        </p:blipFill>
        <p:spPr>
          <a:xfrm>
            <a:off x="164592" y="2339539"/>
            <a:ext cx="8202170" cy="1600423"/>
          </a:xfrm>
          <a:prstGeom prst="rect">
            <a:avLst/>
          </a:prstGeom>
        </p:spPr>
      </p:pic>
      <p:cxnSp>
        <p:nvCxnSpPr>
          <p:cNvPr id="11" name="Connecteur droit avec flèche 10">
            <a:extLst>
              <a:ext uri="{FF2B5EF4-FFF2-40B4-BE49-F238E27FC236}">
                <a16:creationId xmlns:a16="http://schemas.microsoft.com/office/drawing/2014/main" id="{F6DD2AAE-95C5-E153-1410-F71775DEF7E8}"/>
              </a:ext>
            </a:extLst>
          </p:cNvPr>
          <p:cNvCxnSpPr>
            <a:cxnSpLocks/>
          </p:cNvCxnSpPr>
          <p:nvPr/>
        </p:nvCxnSpPr>
        <p:spPr>
          <a:xfrm>
            <a:off x="899300" y="1091682"/>
            <a:ext cx="0" cy="242595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2" name="ZoneTexte 11">
            <a:extLst>
              <a:ext uri="{FF2B5EF4-FFF2-40B4-BE49-F238E27FC236}">
                <a16:creationId xmlns:a16="http://schemas.microsoft.com/office/drawing/2014/main" id="{E699FC5F-FF89-1E84-4385-D30BFB95D03B}"/>
              </a:ext>
            </a:extLst>
          </p:cNvPr>
          <p:cNvSpPr txBox="1"/>
          <p:nvPr/>
        </p:nvSpPr>
        <p:spPr>
          <a:xfrm>
            <a:off x="629286" y="814683"/>
            <a:ext cx="1618934" cy="276999"/>
          </a:xfrm>
          <a:prstGeom prst="rect">
            <a:avLst/>
          </a:prstGeom>
          <a:noFill/>
        </p:spPr>
        <p:txBody>
          <a:bodyPr wrap="square">
            <a:spAutoFit/>
          </a:bodyPr>
          <a:lstStyle/>
          <a:p>
            <a:r>
              <a:rPr lang="fr-FR" sz="1200" dirty="0">
                <a:solidFill>
                  <a:srgbClr val="002060"/>
                </a:solidFill>
              </a:rPr>
              <a:t>Styles</a:t>
            </a:r>
          </a:p>
        </p:txBody>
      </p:sp>
      <p:cxnSp>
        <p:nvCxnSpPr>
          <p:cNvPr id="15" name="Connecteur droit avec flèche 14">
            <a:extLst>
              <a:ext uri="{FF2B5EF4-FFF2-40B4-BE49-F238E27FC236}">
                <a16:creationId xmlns:a16="http://schemas.microsoft.com/office/drawing/2014/main" id="{6C045E9C-2236-BA9E-25C5-C6387D61C640}"/>
              </a:ext>
            </a:extLst>
          </p:cNvPr>
          <p:cNvCxnSpPr>
            <a:cxnSpLocks/>
          </p:cNvCxnSpPr>
          <p:nvPr/>
        </p:nvCxnSpPr>
        <p:spPr>
          <a:xfrm rot="10800000">
            <a:off x="1754733" y="3752141"/>
            <a:ext cx="0" cy="124434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6" name="ZoneTexte 15">
            <a:extLst>
              <a:ext uri="{FF2B5EF4-FFF2-40B4-BE49-F238E27FC236}">
                <a16:creationId xmlns:a16="http://schemas.microsoft.com/office/drawing/2014/main" id="{69DF1266-0834-25B6-405E-169DD17BCF6C}"/>
              </a:ext>
            </a:extLst>
          </p:cNvPr>
          <p:cNvSpPr txBox="1"/>
          <p:nvPr/>
        </p:nvSpPr>
        <p:spPr>
          <a:xfrm>
            <a:off x="1532524" y="4983482"/>
            <a:ext cx="1077642" cy="461665"/>
          </a:xfrm>
          <a:prstGeom prst="rect">
            <a:avLst/>
          </a:prstGeom>
          <a:noFill/>
        </p:spPr>
        <p:txBody>
          <a:bodyPr wrap="square">
            <a:spAutoFit/>
          </a:bodyPr>
          <a:lstStyle/>
          <a:p>
            <a:r>
              <a:rPr lang="fr-FR" sz="1200" dirty="0">
                <a:solidFill>
                  <a:srgbClr val="002060"/>
                </a:solidFill>
              </a:rPr>
              <a:t>Taille </a:t>
            </a:r>
            <a:br>
              <a:rPr lang="fr-FR" sz="1200" dirty="0">
                <a:solidFill>
                  <a:srgbClr val="002060"/>
                </a:solidFill>
              </a:rPr>
            </a:br>
            <a:r>
              <a:rPr lang="fr-FR" sz="1200" dirty="0">
                <a:solidFill>
                  <a:srgbClr val="002060"/>
                </a:solidFill>
              </a:rPr>
              <a:t>de caractères</a:t>
            </a:r>
          </a:p>
        </p:txBody>
      </p:sp>
      <p:cxnSp>
        <p:nvCxnSpPr>
          <p:cNvPr id="18" name="Connecteur droit avec flèche 17">
            <a:extLst>
              <a:ext uri="{FF2B5EF4-FFF2-40B4-BE49-F238E27FC236}">
                <a16:creationId xmlns:a16="http://schemas.microsoft.com/office/drawing/2014/main" id="{D9DA4DE2-D764-8C80-8830-517BC372395A}"/>
              </a:ext>
            </a:extLst>
          </p:cNvPr>
          <p:cNvCxnSpPr>
            <a:cxnSpLocks/>
          </p:cNvCxnSpPr>
          <p:nvPr/>
        </p:nvCxnSpPr>
        <p:spPr>
          <a:xfrm>
            <a:off x="2746761" y="1091682"/>
            <a:ext cx="0" cy="242595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9" name="ZoneTexte 18">
            <a:extLst>
              <a:ext uri="{FF2B5EF4-FFF2-40B4-BE49-F238E27FC236}">
                <a16:creationId xmlns:a16="http://schemas.microsoft.com/office/drawing/2014/main" id="{280D7E71-AE0C-B428-B1E6-983410C8AC3D}"/>
              </a:ext>
            </a:extLst>
          </p:cNvPr>
          <p:cNvSpPr txBox="1"/>
          <p:nvPr/>
        </p:nvSpPr>
        <p:spPr>
          <a:xfrm>
            <a:off x="2367682" y="775900"/>
            <a:ext cx="1618934" cy="276999"/>
          </a:xfrm>
          <a:prstGeom prst="rect">
            <a:avLst/>
          </a:prstGeom>
          <a:noFill/>
        </p:spPr>
        <p:txBody>
          <a:bodyPr wrap="square">
            <a:spAutoFit/>
          </a:bodyPr>
          <a:lstStyle/>
          <a:p>
            <a:r>
              <a:rPr lang="fr-FR" sz="1200" dirty="0">
                <a:solidFill>
                  <a:srgbClr val="002060"/>
                </a:solidFill>
              </a:rPr>
              <a:t>Polices de caractères</a:t>
            </a:r>
          </a:p>
        </p:txBody>
      </p:sp>
      <p:sp>
        <p:nvSpPr>
          <p:cNvPr id="20" name="ZoneTexte 19">
            <a:extLst>
              <a:ext uri="{FF2B5EF4-FFF2-40B4-BE49-F238E27FC236}">
                <a16:creationId xmlns:a16="http://schemas.microsoft.com/office/drawing/2014/main" id="{8CF513A8-DF8C-E281-7B94-683620CC3047}"/>
              </a:ext>
            </a:extLst>
          </p:cNvPr>
          <p:cNvSpPr txBox="1"/>
          <p:nvPr/>
        </p:nvSpPr>
        <p:spPr>
          <a:xfrm>
            <a:off x="3406592" y="4983482"/>
            <a:ext cx="1265078" cy="276999"/>
          </a:xfrm>
          <a:prstGeom prst="rect">
            <a:avLst/>
          </a:prstGeom>
          <a:noFill/>
        </p:spPr>
        <p:txBody>
          <a:bodyPr wrap="square">
            <a:spAutoFit/>
          </a:bodyPr>
          <a:lstStyle/>
          <a:p>
            <a:r>
              <a:rPr lang="fr-FR" sz="1200" dirty="0">
                <a:solidFill>
                  <a:srgbClr val="002060"/>
                </a:solidFill>
              </a:rPr>
              <a:t>Hauteur de ligne</a:t>
            </a:r>
          </a:p>
        </p:txBody>
      </p:sp>
      <p:cxnSp>
        <p:nvCxnSpPr>
          <p:cNvPr id="21" name="Connecteur droit avec flèche 20">
            <a:extLst>
              <a:ext uri="{FF2B5EF4-FFF2-40B4-BE49-F238E27FC236}">
                <a16:creationId xmlns:a16="http://schemas.microsoft.com/office/drawing/2014/main" id="{5FCFF6E6-180D-978A-D512-13D0A812CA27}"/>
              </a:ext>
            </a:extLst>
          </p:cNvPr>
          <p:cNvCxnSpPr>
            <a:cxnSpLocks/>
          </p:cNvCxnSpPr>
          <p:nvPr/>
        </p:nvCxnSpPr>
        <p:spPr>
          <a:xfrm rot="10800000">
            <a:off x="4039131" y="3752141"/>
            <a:ext cx="0" cy="124434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8" name="Rectangle : coins arrondis 27">
            <a:extLst>
              <a:ext uri="{FF2B5EF4-FFF2-40B4-BE49-F238E27FC236}">
                <a16:creationId xmlns:a16="http://schemas.microsoft.com/office/drawing/2014/main" id="{A654DEA3-555B-E2B7-77A2-F9672FF157DA}"/>
              </a:ext>
            </a:extLst>
          </p:cNvPr>
          <p:cNvSpPr/>
          <p:nvPr/>
        </p:nvSpPr>
        <p:spPr>
          <a:xfrm>
            <a:off x="5028851" y="4504491"/>
            <a:ext cx="3278315" cy="1667710"/>
          </a:xfrm>
          <a:prstGeom prst="roundRect">
            <a:avLst/>
          </a:prstGeom>
          <a:solidFill>
            <a:srgbClr val="141991"/>
          </a:solidFill>
        </p:spPr>
        <p:style>
          <a:lnRef idx="1">
            <a:schemeClr val="accent1"/>
          </a:lnRef>
          <a:fillRef idx="3">
            <a:schemeClr val="accent1"/>
          </a:fillRef>
          <a:effectRef idx="2">
            <a:schemeClr val="accent1"/>
          </a:effectRef>
          <a:fontRef idx="minor">
            <a:schemeClr val="lt1"/>
          </a:fontRef>
        </p:style>
        <p:txBody>
          <a:bodyPr rtlCol="0" anchor="ctr"/>
          <a:lstStyle/>
          <a:p>
            <a:r>
              <a:rPr lang="fr-FR" sz="1400" dirty="0"/>
              <a:t>Il est recommandé de saisir le texte sans mise en forme préalable, puis d’appliquer les styles de l’éditeur. Il recommande également de supprimer le formatage lors d’un copier-coller depuis Word</a:t>
            </a:r>
          </a:p>
        </p:txBody>
      </p:sp>
    </p:spTree>
    <p:extLst>
      <p:ext uri="{BB962C8B-B14F-4D97-AF65-F5344CB8AC3E}">
        <p14:creationId xmlns:p14="http://schemas.microsoft.com/office/powerpoint/2010/main" val="40888818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D2AADA2-E226-CE2D-C457-B9237B226C4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59EC66C-A47E-BC15-8740-30023BC73FE1}"/>
              </a:ext>
            </a:extLst>
          </p:cNvPr>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7" name="Rectangle 6">
            <a:extLst>
              <a:ext uri="{FF2B5EF4-FFF2-40B4-BE49-F238E27FC236}">
                <a16:creationId xmlns:a16="http://schemas.microsoft.com/office/drawing/2014/main" id="{24B22EAF-534B-9BDB-E088-ECC3DD676FF3}"/>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2">
            <a:extLst>
              <a:ext uri="{FF2B5EF4-FFF2-40B4-BE49-F238E27FC236}">
                <a16:creationId xmlns:a16="http://schemas.microsoft.com/office/drawing/2014/main" id="{5DBD2191-8479-715B-CAA9-7DE2A026ADEE}"/>
              </a:ext>
            </a:extLst>
          </p:cNvPr>
          <p:cNvSpPr txBox="1"/>
          <p:nvPr/>
        </p:nvSpPr>
        <p:spPr>
          <a:xfrm>
            <a:off x="8760542" y="914400"/>
            <a:ext cx="3352800" cy="1323439"/>
          </a:xfrm>
          <a:prstGeom prst="rect">
            <a:avLst/>
          </a:prstGeom>
          <a:noFill/>
        </p:spPr>
        <p:txBody>
          <a:bodyPr wrap="square">
            <a:spAutoFit/>
          </a:bodyPr>
          <a:lstStyle/>
          <a:p>
            <a:pPr>
              <a:defRPr sz="1600" b="1">
                <a:solidFill>
                  <a:srgbClr val="FFFFFF"/>
                </a:solidFill>
              </a:defRPr>
            </a:pPr>
            <a:r>
              <a:rPr lang="fr-FR" sz="3200" dirty="0"/>
              <a:t>Créer un article</a:t>
            </a:r>
          </a:p>
          <a:p>
            <a:pPr>
              <a:defRPr sz="1600" b="1">
                <a:solidFill>
                  <a:srgbClr val="FFFFFF"/>
                </a:solidFill>
              </a:defRPr>
            </a:pPr>
            <a:endParaRPr lang="fr-FR" sz="2400" dirty="0"/>
          </a:p>
          <a:p>
            <a:pPr>
              <a:defRPr sz="1600" b="1">
                <a:solidFill>
                  <a:srgbClr val="FFFFFF"/>
                </a:solidFill>
              </a:defRPr>
            </a:pPr>
            <a:r>
              <a:rPr lang="fr-FR" sz="2400" dirty="0"/>
              <a:t>L’éditeur de texte</a:t>
            </a:r>
          </a:p>
        </p:txBody>
      </p:sp>
      <p:sp>
        <p:nvSpPr>
          <p:cNvPr id="4" name="TextBox 3">
            <a:extLst>
              <a:ext uri="{FF2B5EF4-FFF2-40B4-BE49-F238E27FC236}">
                <a16:creationId xmlns:a16="http://schemas.microsoft.com/office/drawing/2014/main" id="{DB5B215C-74B1-C858-CAF0-BBF94A9AFC89}"/>
              </a:ext>
            </a:extLst>
          </p:cNvPr>
          <p:cNvSpPr txBox="1"/>
          <p:nvPr/>
        </p:nvSpPr>
        <p:spPr>
          <a:xfrm>
            <a:off x="502920" y="569914"/>
            <a:ext cx="7667897" cy="5860579"/>
          </a:xfrm>
          <a:prstGeom prst="rect">
            <a:avLst/>
          </a:prstGeom>
          <a:noFill/>
        </p:spPr>
        <p:txBody>
          <a:bodyPr wrap="square">
            <a:spAutoFit/>
          </a:bodyPr>
          <a:lstStyle/>
          <a:p>
            <a:pPr>
              <a:spcAft>
                <a:spcPts val="1100"/>
              </a:spcAft>
              <a:defRPr sz="1800">
                <a:solidFill>
                  <a:srgbClr val="23232D"/>
                </a:solidFill>
              </a:defRPr>
            </a:pPr>
            <a:r>
              <a:rPr lang="fr-FR" sz="1600" noProof="0" dirty="0">
                <a:solidFill>
                  <a:srgbClr val="002060"/>
                </a:solidFill>
              </a:rPr>
              <a:t>L’éditeur Bokeh permet de produire des contenus rédactionnels sans avoir à maîtriser le langage HTML. Il propose une barre d’outils pour mettre en forme le texte, insérer des illustrations, créer des liens et intégrer des contenus documentaires.</a:t>
            </a:r>
            <a:endParaRPr lang="fr-FR" sz="1600" dirty="0">
              <a:solidFill>
                <a:srgbClr val="002060"/>
              </a:solidFill>
            </a:endParaRPr>
          </a:p>
          <a:p>
            <a:pPr>
              <a:spcAft>
                <a:spcPts val="1100"/>
              </a:spcAft>
              <a:defRPr sz="1800">
                <a:solidFill>
                  <a:srgbClr val="23232D"/>
                </a:solidFill>
              </a:defRPr>
            </a:pPr>
            <a:r>
              <a:rPr lang="fr-FR" sz="1600" b="1" noProof="0" dirty="0">
                <a:solidFill>
                  <a:srgbClr val="002060"/>
                </a:solidFill>
              </a:rPr>
              <a:t>Les principales fonctionnalités à maîtriser</a:t>
            </a:r>
          </a:p>
          <a:p>
            <a:pPr>
              <a:spcAft>
                <a:spcPts val="1100"/>
              </a:spcAft>
              <a:defRPr sz="1800">
                <a:solidFill>
                  <a:srgbClr val="23232D"/>
                </a:solidFill>
              </a:defRPr>
            </a:pPr>
            <a:r>
              <a:rPr lang="fr-FR" sz="1400" b="1" dirty="0">
                <a:solidFill>
                  <a:srgbClr val="002060"/>
                </a:solidFill>
              </a:rPr>
              <a:t>Structurer le texte</a:t>
            </a:r>
          </a:p>
          <a:p>
            <a:pPr>
              <a:spcAft>
                <a:spcPts val="1100"/>
              </a:spcAft>
              <a:defRPr sz="1800">
                <a:solidFill>
                  <a:srgbClr val="23232D"/>
                </a:solidFill>
              </a:defRPr>
            </a:pPr>
            <a:r>
              <a:rPr lang="fr-FR" sz="1400" dirty="0">
                <a:solidFill>
                  <a:srgbClr val="002060"/>
                </a:solidFill>
              </a:rPr>
              <a:t>Utiliser les styles de titres, les paragraphes, le gras et les listes pour organiser les informations. Privilégier les styles prédéfinis plutôt que les modifications manuelles de taille et de police.</a:t>
            </a:r>
          </a:p>
          <a:p>
            <a:pPr>
              <a:spcAft>
                <a:spcPts val="1100"/>
              </a:spcAft>
              <a:defRPr sz="1800">
                <a:solidFill>
                  <a:srgbClr val="23232D"/>
                </a:solidFill>
              </a:defRPr>
            </a:pPr>
            <a:r>
              <a:rPr lang="fr-FR" sz="1400" b="1" dirty="0">
                <a:solidFill>
                  <a:srgbClr val="002060"/>
                </a:solidFill>
              </a:rPr>
              <a:t>Insérer des liens</a:t>
            </a:r>
          </a:p>
          <a:p>
            <a:pPr>
              <a:spcAft>
                <a:spcPts val="1100"/>
              </a:spcAft>
              <a:defRPr sz="1800">
                <a:solidFill>
                  <a:srgbClr val="23232D"/>
                </a:solidFill>
              </a:defRPr>
            </a:pPr>
            <a:r>
              <a:rPr lang="fr-FR" sz="1400" dirty="0">
                <a:solidFill>
                  <a:srgbClr val="002060"/>
                </a:solidFill>
              </a:rPr>
              <a:t>Créer des liens vers une page de BIBDOC, une ressource extérieure ou un document PDF. Utiliser un intitulé explicite et vérifier la destination du lien.</a:t>
            </a:r>
          </a:p>
          <a:p>
            <a:pPr>
              <a:spcAft>
                <a:spcPts val="1100"/>
              </a:spcAft>
              <a:defRPr sz="1800">
                <a:solidFill>
                  <a:srgbClr val="23232D"/>
                </a:solidFill>
              </a:defRPr>
            </a:pPr>
            <a:r>
              <a:rPr lang="fr-FR" sz="1400" b="1" dirty="0">
                <a:solidFill>
                  <a:srgbClr val="002060"/>
                </a:solidFill>
              </a:rPr>
              <a:t>Ajouter des images</a:t>
            </a:r>
          </a:p>
          <a:p>
            <a:pPr>
              <a:spcAft>
                <a:spcPts val="1100"/>
              </a:spcAft>
              <a:defRPr sz="1800">
                <a:solidFill>
                  <a:srgbClr val="23232D"/>
                </a:solidFill>
              </a:defRPr>
            </a:pPr>
            <a:r>
              <a:rPr lang="fr-FR" sz="1400" dirty="0">
                <a:solidFill>
                  <a:srgbClr val="002060"/>
                </a:solidFill>
              </a:rPr>
              <a:t>Sélectionner ou téléverser une image depuis l’explorateur de fichiers, adapter ses dimensions, renseigner un texte alternatif pertinent et contrôler son affichage.</a:t>
            </a:r>
          </a:p>
          <a:p>
            <a:pPr>
              <a:spcAft>
                <a:spcPts val="1100"/>
              </a:spcAft>
              <a:defRPr sz="1800">
                <a:solidFill>
                  <a:srgbClr val="23232D"/>
                </a:solidFill>
              </a:defRPr>
            </a:pPr>
            <a:r>
              <a:rPr lang="fr-FR" sz="1400" b="1" dirty="0">
                <a:solidFill>
                  <a:srgbClr val="002060"/>
                </a:solidFill>
              </a:rPr>
              <a:t>Insérer un tableau</a:t>
            </a:r>
          </a:p>
          <a:p>
            <a:pPr>
              <a:spcAft>
                <a:spcPts val="1100"/>
              </a:spcAft>
              <a:defRPr sz="1800">
                <a:solidFill>
                  <a:srgbClr val="23232D"/>
                </a:solidFill>
              </a:defRPr>
            </a:pPr>
            <a:r>
              <a:rPr lang="fr-FR" sz="1400" dirty="0">
                <a:solidFill>
                  <a:srgbClr val="002060"/>
                </a:solidFill>
              </a:rPr>
              <a:t>Présenter des informations réellement tabulaires. Éviter d’utiliser les tableaux uniquement pour construire la mise en page.</a:t>
            </a:r>
          </a:p>
          <a:p>
            <a:pPr>
              <a:spcAft>
                <a:spcPts val="1100"/>
              </a:spcAft>
              <a:defRPr sz="1800">
                <a:solidFill>
                  <a:srgbClr val="23232D"/>
                </a:solidFill>
              </a:defRPr>
            </a:pPr>
            <a:r>
              <a:rPr lang="fr-FR" sz="1400" b="1" dirty="0">
                <a:solidFill>
                  <a:srgbClr val="002060"/>
                </a:solidFill>
              </a:rPr>
              <a:t>Intégrer un kiosque de notices</a:t>
            </a:r>
          </a:p>
          <a:p>
            <a:pPr>
              <a:spcAft>
                <a:spcPts val="1100"/>
              </a:spcAft>
              <a:defRPr sz="1800">
                <a:solidFill>
                  <a:srgbClr val="23232D"/>
                </a:solidFill>
              </a:defRPr>
            </a:pPr>
            <a:r>
              <a:rPr lang="fr-FR" sz="1400" dirty="0">
                <a:solidFill>
                  <a:srgbClr val="002060"/>
                </a:solidFill>
              </a:rPr>
              <a:t>Sélectionner un panier ou un domaine documentaire, puis choisir la présentation des notices : mur, carrousel, nombre de documents et informations affichées.</a:t>
            </a:r>
          </a:p>
        </p:txBody>
      </p:sp>
    </p:spTree>
    <p:extLst>
      <p:ext uri="{BB962C8B-B14F-4D97-AF65-F5344CB8AC3E}">
        <p14:creationId xmlns:p14="http://schemas.microsoft.com/office/powerpoint/2010/main" val="42271689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AEF9F9B-19CA-D96B-A108-642C57C4299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39359EB-B03D-493A-2FF8-840B8B7E886A}"/>
              </a:ext>
            </a:extLst>
          </p:cNvPr>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7" name="Rectangle 6">
            <a:extLst>
              <a:ext uri="{FF2B5EF4-FFF2-40B4-BE49-F238E27FC236}">
                <a16:creationId xmlns:a16="http://schemas.microsoft.com/office/drawing/2014/main" id="{6B4E8786-B27D-B65D-9E12-044777AEE41E}"/>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2">
            <a:extLst>
              <a:ext uri="{FF2B5EF4-FFF2-40B4-BE49-F238E27FC236}">
                <a16:creationId xmlns:a16="http://schemas.microsoft.com/office/drawing/2014/main" id="{D2DD4A17-4E9A-C9B4-9AF7-32C8892AF642}"/>
              </a:ext>
            </a:extLst>
          </p:cNvPr>
          <p:cNvSpPr txBox="1"/>
          <p:nvPr/>
        </p:nvSpPr>
        <p:spPr>
          <a:xfrm>
            <a:off x="8760542" y="914400"/>
            <a:ext cx="3352800" cy="2062103"/>
          </a:xfrm>
          <a:prstGeom prst="rect">
            <a:avLst/>
          </a:prstGeom>
          <a:noFill/>
        </p:spPr>
        <p:txBody>
          <a:bodyPr wrap="square">
            <a:spAutoFit/>
          </a:bodyPr>
          <a:lstStyle/>
          <a:p>
            <a:pPr>
              <a:defRPr sz="1600" b="1">
                <a:solidFill>
                  <a:srgbClr val="FFFFFF"/>
                </a:solidFill>
              </a:defRPr>
            </a:pPr>
            <a:r>
              <a:rPr lang="fr-FR" sz="3200" dirty="0"/>
              <a:t>Créer un article</a:t>
            </a:r>
          </a:p>
          <a:p>
            <a:pPr>
              <a:defRPr sz="1600" b="1">
                <a:solidFill>
                  <a:srgbClr val="FFFFFF"/>
                </a:solidFill>
              </a:defRPr>
            </a:pPr>
            <a:endParaRPr lang="fr-FR" sz="2400" dirty="0"/>
          </a:p>
          <a:p>
            <a:pPr>
              <a:defRPr sz="1600" b="1">
                <a:solidFill>
                  <a:srgbClr val="FFFFFF"/>
                </a:solidFill>
              </a:defRPr>
            </a:pPr>
            <a:r>
              <a:rPr lang="fr-FR" sz="2400" dirty="0"/>
              <a:t>Exercice pratique : </a:t>
            </a:r>
            <a:br>
              <a:rPr lang="fr-FR" sz="2400" dirty="0"/>
            </a:br>
            <a:r>
              <a:rPr lang="fr-FR" sz="2400" dirty="0"/>
              <a:t>Créer une actualité BIBDOC</a:t>
            </a:r>
          </a:p>
        </p:txBody>
      </p:sp>
      <p:sp>
        <p:nvSpPr>
          <p:cNvPr id="4" name="TextBox 3">
            <a:extLst>
              <a:ext uri="{FF2B5EF4-FFF2-40B4-BE49-F238E27FC236}">
                <a16:creationId xmlns:a16="http://schemas.microsoft.com/office/drawing/2014/main" id="{5F3E4AE4-15A3-F847-047D-6FEC361AD903}"/>
              </a:ext>
            </a:extLst>
          </p:cNvPr>
          <p:cNvSpPr txBox="1"/>
          <p:nvPr/>
        </p:nvSpPr>
        <p:spPr>
          <a:xfrm>
            <a:off x="502920" y="569914"/>
            <a:ext cx="7667897" cy="2521203"/>
          </a:xfrm>
          <a:prstGeom prst="rect">
            <a:avLst/>
          </a:prstGeom>
          <a:noFill/>
        </p:spPr>
        <p:txBody>
          <a:bodyPr wrap="square">
            <a:spAutoFit/>
          </a:bodyPr>
          <a:lstStyle/>
          <a:p>
            <a:pPr>
              <a:spcAft>
                <a:spcPts val="1100"/>
              </a:spcAft>
              <a:defRPr sz="1800">
                <a:solidFill>
                  <a:srgbClr val="23232D"/>
                </a:solidFill>
              </a:defRPr>
            </a:pPr>
            <a:r>
              <a:rPr lang="fr-FR" sz="1600" b="1" dirty="0">
                <a:solidFill>
                  <a:srgbClr val="002060"/>
                </a:solidFill>
              </a:rPr>
              <a:t>P</a:t>
            </a:r>
            <a:r>
              <a:rPr lang="fr-FR" sz="1600" b="1" noProof="0" dirty="0" err="1">
                <a:solidFill>
                  <a:srgbClr val="002060"/>
                </a:solidFill>
              </a:rPr>
              <a:t>ublier</a:t>
            </a:r>
            <a:r>
              <a:rPr lang="fr-FR" sz="1600" b="1" noProof="0" dirty="0">
                <a:solidFill>
                  <a:srgbClr val="002060"/>
                </a:solidFill>
              </a:rPr>
              <a:t> une actualité documentaire </a:t>
            </a:r>
            <a:br>
              <a:rPr lang="fr-FR" sz="1600" b="1" noProof="0" dirty="0">
                <a:solidFill>
                  <a:srgbClr val="002060"/>
                </a:solidFill>
              </a:rPr>
            </a:br>
            <a:r>
              <a:rPr lang="fr-FR" sz="1600" b="1" noProof="0" dirty="0">
                <a:solidFill>
                  <a:srgbClr val="002060"/>
                </a:solidFill>
              </a:rPr>
              <a:t>20 minutes</a:t>
            </a:r>
          </a:p>
          <a:p>
            <a:pPr>
              <a:spcAft>
                <a:spcPts val="1100"/>
              </a:spcAft>
              <a:defRPr sz="1800">
                <a:solidFill>
                  <a:srgbClr val="23232D"/>
                </a:solidFill>
              </a:defRPr>
            </a:pPr>
            <a:r>
              <a:rPr lang="fr-FR" sz="1600" noProof="0" dirty="0">
                <a:solidFill>
                  <a:srgbClr val="002060"/>
                </a:solidFill>
              </a:rPr>
              <a:t>Créer un article dans la bonne catégorie</a:t>
            </a:r>
          </a:p>
          <a:p>
            <a:pPr>
              <a:spcAft>
                <a:spcPts val="1100"/>
              </a:spcAft>
              <a:defRPr sz="1800">
                <a:solidFill>
                  <a:srgbClr val="23232D"/>
                </a:solidFill>
              </a:defRPr>
            </a:pPr>
            <a:r>
              <a:rPr lang="fr-FR" sz="1600" noProof="0" dirty="0">
                <a:solidFill>
                  <a:srgbClr val="002060"/>
                </a:solidFill>
              </a:rPr>
              <a:t>Rédiger un titre et deux paragraphes</a:t>
            </a:r>
          </a:p>
          <a:p>
            <a:pPr>
              <a:spcAft>
                <a:spcPts val="1100"/>
              </a:spcAft>
              <a:defRPr sz="1800">
                <a:solidFill>
                  <a:srgbClr val="23232D"/>
                </a:solidFill>
              </a:defRPr>
            </a:pPr>
            <a:r>
              <a:rPr lang="fr-FR" sz="1600" noProof="0" dirty="0">
                <a:solidFill>
                  <a:srgbClr val="002060"/>
                </a:solidFill>
              </a:rPr>
              <a:t>Appliquer les styles de titres et de texte</a:t>
            </a:r>
          </a:p>
          <a:p>
            <a:pPr>
              <a:spcAft>
                <a:spcPts val="1100"/>
              </a:spcAft>
              <a:defRPr sz="1800">
                <a:solidFill>
                  <a:srgbClr val="23232D"/>
                </a:solidFill>
              </a:defRPr>
            </a:pPr>
            <a:r>
              <a:rPr lang="fr-FR" sz="1600" noProof="0" dirty="0">
                <a:solidFill>
                  <a:srgbClr val="002060"/>
                </a:solidFill>
              </a:rPr>
              <a:t>Insérer une image et un lien</a:t>
            </a:r>
          </a:p>
          <a:p>
            <a:pPr>
              <a:spcAft>
                <a:spcPts val="1100"/>
              </a:spcAft>
              <a:defRPr sz="1800">
                <a:solidFill>
                  <a:srgbClr val="23232D"/>
                </a:solidFill>
              </a:defRPr>
            </a:pPr>
            <a:r>
              <a:rPr lang="fr-FR" sz="1600" noProof="0" dirty="0">
                <a:solidFill>
                  <a:srgbClr val="002060"/>
                </a:solidFill>
              </a:rPr>
              <a:t>Prévisualiser et demander la validation</a:t>
            </a:r>
            <a:endParaRPr lang="fr-FR" sz="1400" dirty="0">
              <a:solidFill>
                <a:srgbClr val="002060"/>
              </a:solidFill>
            </a:endParaRPr>
          </a:p>
        </p:txBody>
      </p:sp>
    </p:spTree>
    <p:extLst>
      <p:ext uri="{BB962C8B-B14F-4D97-AF65-F5344CB8AC3E}">
        <p14:creationId xmlns:p14="http://schemas.microsoft.com/office/powerpoint/2010/main" val="27610199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6450E28-AE4C-7C8A-9E52-86C6C469DD6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C975B1F-F84D-DBC5-617C-8293527C4594}"/>
              </a:ext>
            </a:extLst>
          </p:cNvPr>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7" name="Rectangle 6">
            <a:extLst>
              <a:ext uri="{FF2B5EF4-FFF2-40B4-BE49-F238E27FC236}">
                <a16:creationId xmlns:a16="http://schemas.microsoft.com/office/drawing/2014/main" id="{367C1F1A-58F2-352D-9497-6DE219E7E6AE}"/>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2">
            <a:extLst>
              <a:ext uri="{FF2B5EF4-FFF2-40B4-BE49-F238E27FC236}">
                <a16:creationId xmlns:a16="http://schemas.microsoft.com/office/drawing/2014/main" id="{E3A32B4E-CAB3-94AC-6BC5-E58B9C2F4042}"/>
              </a:ext>
            </a:extLst>
          </p:cNvPr>
          <p:cNvSpPr txBox="1"/>
          <p:nvPr/>
        </p:nvSpPr>
        <p:spPr>
          <a:xfrm>
            <a:off x="8760542" y="914400"/>
            <a:ext cx="3352800" cy="2431435"/>
          </a:xfrm>
          <a:prstGeom prst="rect">
            <a:avLst/>
          </a:prstGeom>
          <a:noFill/>
        </p:spPr>
        <p:txBody>
          <a:bodyPr wrap="square">
            <a:spAutoFit/>
          </a:bodyPr>
          <a:lstStyle/>
          <a:p>
            <a:pPr>
              <a:defRPr sz="1600" b="1">
                <a:solidFill>
                  <a:srgbClr val="FFFFFF"/>
                </a:solidFill>
              </a:defRPr>
            </a:pPr>
            <a:r>
              <a:rPr lang="fr-FR" sz="3200" dirty="0"/>
              <a:t>Comprendre </a:t>
            </a:r>
            <a:br>
              <a:rPr lang="fr-FR" sz="3200" dirty="0"/>
            </a:br>
            <a:r>
              <a:rPr lang="fr-FR" sz="3200" dirty="0"/>
              <a:t>les contenus bibliographiques : </a:t>
            </a:r>
          </a:p>
          <a:p>
            <a:pPr>
              <a:defRPr sz="1600" b="1">
                <a:solidFill>
                  <a:srgbClr val="FFFFFF"/>
                </a:solidFill>
              </a:defRPr>
            </a:pPr>
            <a:endParaRPr lang="fr-FR" sz="3200" dirty="0"/>
          </a:p>
          <a:p>
            <a:pPr>
              <a:defRPr sz="1600" b="1">
                <a:solidFill>
                  <a:srgbClr val="FFFFFF"/>
                </a:solidFill>
              </a:defRPr>
            </a:pPr>
            <a:r>
              <a:rPr lang="fr-FR" sz="2400" dirty="0"/>
              <a:t>Les domaines</a:t>
            </a:r>
            <a:endParaRPr lang="fr-FR" dirty="0"/>
          </a:p>
        </p:txBody>
      </p:sp>
      <p:sp>
        <p:nvSpPr>
          <p:cNvPr id="4" name="TextBox 3">
            <a:extLst>
              <a:ext uri="{FF2B5EF4-FFF2-40B4-BE49-F238E27FC236}">
                <a16:creationId xmlns:a16="http://schemas.microsoft.com/office/drawing/2014/main" id="{EC617AF0-C57B-170D-0D32-3E34C91AE673}"/>
              </a:ext>
            </a:extLst>
          </p:cNvPr>
          <p:cNvSpPr txBox="1"/>
          <p:nvPr/>
        </p:nvSpPr>
        <p:spPr>
          <a:xfrm>
            <a:off x="502920" y="569914"/>
            <a:ext cx="7667897" cy="2800767"/>
          </a:xfrm>
          <a:prstGeom prst="rect">
            <a:avLst/>
          </a:prstGeom>
          <a:noFill/>
        </p:spPr>
        <p:txBody>
          <a:bodyPr wrap="square">
            <a:spAutoFit/>
          </a:bodyPr>
          <a:lstStyle/>
          <a:p>
            <a:pPr>
              <a:spcAft>
                <a:spcPts val="1100"/>
              </a:spcAft>
              <a:defRPr sz="1800">
                <a:solidFill>
                  <a:srgbClr val="23232D"/>
                </a:solidFill>
              </a:defRPr>
            </a:pPr>
            <a:r>
              <a:rPr lang="fr-FR" sz="1600" noProof="0" dirty="0">
                <a:solidFill>
                  <a:srgbClr val="002060"/>
                </a:solidFill>
              </a:rPr>
              <a:t>Dans Bokeh, un domaine permet de constituer une sélection de notices bibliographiques à partir de critères de recherche définis à l’avance. </a:t>
            </a:r>
            <a:br>
              <a:rPr lang="fr-FR" sz="1600" noProof="0" dirty="0">
                <a:solidFill>
                  <a:srgbClr val="002060"/>
                </a:solidFill>
              </a:rPr>
            </a:br>
            <a:br>
              <a:rPr lang="fr-FR" sz="1600" noProof="0" dirty="0">
                <a:solidFill>
                  <a:srgbClr val="002060"/>
                </a:solidFill>
              </a:rPr>
            </a:br>
            <a:r>
              <a:rPr lang="fr-FR" sz="1600" noProof="0" dirty="0">
                <a:solidFill>
                  <a:srgbClr val="002060"/>
                </a:solidFill>
              </a:rPr>
              <a:t>Il sert à organiser et à valoriser les ressources du catalogue sur le portail BIBDOC, sans avoir à sélectionner manuellement chaque document.</a:t>
            </a:r>
            <a:br>
              <a:rPr lang="fr-FR" sz="1600" noProof="0" dirty="0">
                <a:solidFill>
                  <a:srgbClr val="002060"/>
                </a:solidFill>
              </a:rPr>
            </a:br>
            <a:br>
              <a:rPr lang="fr-FR" sz="1600" noProof="0" dirty="0">
                <a:solidFill>
                  <a:srgbClr val="002060"/>
                </a:solidFill>
              </a:rPr>
            </a:br>
            <a:r>
              <a:rPr lang="fr-FR" sz="1600" noProof="0" dirty="0">
                <a:solidFill>
                  <a:srgbClr val="002060"/>
                </a:solidFill>
              </a:rPr>
              <a:t>Un domaine peut être construit à partir de plusieurs critères : type de document, indexation, autorités, bibliothèque ou localisation. Il peut également être configuré pour présenter uniquement des nouveautés. </a:t>
            </a:r>
            <a:br>
              <a:rPr lang="fr-FR" sz="1600" noProof="0" dirty="0">
                <a:solidFill>
                  <a:srgbClr val="002060"/>
                </a:solidFill>
              </a:rPr>
            </a:br>
            <a:br>
              <a:rPr lang="fr-FR" sz="1600" noProof="0" dirty="0">
                <a:solidFill>
                  <a:srgbClr val="002060"/>
                </a:solidFill>
              </a:rPr>
            </a:br>
            <a:r>
              <a:rPr lang="fr-FR" sz="1600" noProof="0" dirty="0">
                <a:solidFill>
                  <a:srgbClr val="002060"/>
                </a:solidFill>
              </a:rPr>
              <a:t>Les critères disponibles dépendent des données et du paramétrage du portail.</a:t>
            </a:r>
            <a:endParaRPr lang="fr-FR" sz="1400" dirty="0">
              <a:solidFill>
                <a:srgbClr val="002060"/>
              </a:solidFill>
            </a:endParaRPr>
          </a:p>
        </p:txBody>
      </p:sp>
    </p:spTree>
    <p:extLst>
      <p:ext uri="{BB962C8B-B14F-4D97-AF65-F5344CB8AC3E}">
        <p14:creationId xmlns:p14="http://schemas.microsoft.com/office/powerpoint/2010/main" val="28459446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FC84096-200D-A572-E174-E69E26F428D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EF60316-9043-E9E0-2D2F-EA2AEF7ACE80}"/>
              </a:ext>
            </a:extLst>
          </p:cNvPr>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7" name="Rectangle 6">
            <a:extLst>
              <a:ext uri="{FF2B5EF4-FFF2-40B4-BE49-F238E27FC236}">
                <a16:creationId xmlns:a16="http://schemas.microsoft.com/office/drawing/2014/main" id="{7F06AD49-E13E-9BAE-E89E-B9E44738AA00}"/>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2">
            <a:extLst>
              <a:ext uri="{FF2B5EF4-FFF2-40B4-BE49-F238E27FC236}">
                <a16:creationId xmlns:a16="http://schemas.microsoft.com/office/drawing/2014/main" id="{00D888D1-FD80-0CAA-A66D-5B054D6162EA}"/>
              </a:ext>
            </a:extLst>
          </p:cNvPr>
          <p:cNvSpPr txBox="1"/>
          <p:nvPr/>
        </p:nvSpPr>
        <p:spPr>
          <a:xfrm>
            <a:off x="8760542" y="914400"/>
            <a:ext cx="3352800" cy="2431435"/>
          </a:xfrm>
          <a:prstGeom prst="rect">
            <a:avLst/>
          </a:prstGeom>
          <a:noFill/>
        </p:spPr>
        <p:txBody>
          <a:bodyPr wrap="square">
            <a:spAutoFit/>
          </a:bodyPr>
          <a:lstStyle/>
          <a:p>
            <a:pPr>
              <a:defRPr sz="1600" b="1">
                <a:solidFill>
                  <a:srgbClr val="FFFFFF"/>
                </a:solidFill>
              </a:defRPr>
            </a:pPr>
            <a:r>
              <a:rPr lang="fr-FR" sz="3200" dirty="0"/>
              <a:t>Comprendre </a:t>
            </a:r>
            <a:br>
              <a:rPr lang="fr-FR" sz="3200" dirty="0"/>
            </a:br>
            <a:r>
              <a:rPr lang="fr-FR" sz="3200" dirty="0"/>
              <a:t>les contenus bibliographiques : </a:t>
            </a:r>
          </a:p>
          <a:p>
            <a:pPr>
              <a:defRPr sz="1600" b="1">
                <a:solidFill>
                  <a:srgbClr val="FFFFFF"/>
                </a:solidFill>
              </a:defRPr>
            </a:pPr>
            <a:endParaRPr lang="fr-FR" sz="3200" dirty="0"/>
          </a:p>
          <a:p>
            <a:pPr>
              <a:defRPr sz="1600" b="1">
                <a:solidFill>
                  <a:srgbClr val="FFFFFF"/>
                </a:solidFill>
              </a:defRPr>
            </a:pPr>
            <a:r>
              <a:rPr lang="fr-FR" sz="2400" dirty="0"/>
              <a:t>Les domaines</a:t>
            </a:r>
            <a:endParaRPr lang="fr-FR" sz="3200" dirty="0"/>
          </a:p>
        </p:txBody>
      </p:sp>
      <p:pic>
        <p:nvPicPr>
          <p:cNvPr id="4" name="Image 3">
            <a:extLst>
              <a:ext uri="{FF2B5EF4-FFF2-40B4-BE49-F238E27FC236}">
                <a16:creationId xmlns:a16="http://schemas.microsoft.com/office/drawing/2014/main" id="{A743D36E-C03A-410B-ECC4-4164D5CE967F}"/>
              </a:ext>
            </a:extLst>
          </p:cNvPr>
          <p:cNvPicPr>
            <a:picLocks noChangeAspect="1"/>
          </p:cNvPicPr>
          <p:nvPr/>
        </p:nvPicPr>
        <p:blipFill>
          <a:blip r:embed="rId2"/>
          <a:stretch>
            <a:fillRect/>
          </a:stretch>
        </p:blipFill>
        <p:spPr>
          <a:xfrm>
            <a:off x="164592" y="1405795"/>
            <a:ext cx="8302938" cy="3629550"/>
          </a:xfrm>
          <a:prstGeom prst="rect">
            <a:avLst/>
          </a:prstGeom>
        </p:spPr>
      </p:pic>
    </p:spTree>
    <p:extLst>
      <p:ext uri="{BB962C8B-B14F-4D97-AF65-F5344CB8AC3E}">
        <p14:creationId xmlns:p14="http://schemas.microsoft.com/office/powerpoint/2010/main" val="27393285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80689F6-0E99-AB86-AA18-91B89B78D7B7}"/>
            </a:ext>
          </a:extLst>
        </p:cNvPr>
        <p:cNvGrpSpPr/>
        <p:nvPr/>
      </p:nvGrpSpPr>
      <p:grpSpPr>
        <a:xfrm>
          <a:off x="0" y="0"/>
          <a:ext cx="0" cy="0"/>
          <a:chOff x="0" y="0"/>
          <a:chExt cx="0" cy="0"/>
        </a:xfrm>
      </p:grpSpPr>
      <p:sp>
        <p:nvSpPr>
          <p:cNvPr id="17" name="Ellipse 16">
            <a:extLst>
              <a:ext uri="{FF2B5EF4-FFF2-40B4-BE49-F238E27FC236}">
                <a16:creationId xmlns:a16="http://schemas.microsoft.com/office/drawing/2014/main" id="{48D1C8F6-CD35-D6CA-BC19-1DABB91A06A3}"/>
              </a:ext>
            </a:extLst>
          </p:cNvPr>
          <p:cNvSpPr/>
          <p:nvPr/>
        </p:nvSpPr>
        <p:spPr>
          <a:xfrm>
            <a:off x="7307492" y="909584"/>
            <a:ext cx="166330" cy="166330"/>
          </a:xfrm>
          <a:prstGeom prst="ellipse">
            <a:avLst/>
          </a:prstGeom>
          <a:solidFill>
            <a:schemeClr val="bg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 name="Rectangle 1">
            <a:extLst>
              <a:ext uri="{FF2B5EF4-FFF2-40B4-BE49-F238E27FC236}">
                <a16:creationId xmlns:a16="http://schemas.microsoft.com/office/drawing/2014/main" id="{F393F5B5-B870-8978-982E-5532884FFF05}"/>
              </a:ext>
            </a:extLst>
          </p:cNvPr>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7" name="Rectangle 6">
            <a:extLst>
              <a:ext uri="{FF2B5EF4-FFF2-40B4-BE49-F238E27FC236}">
                <a16:creationId xmlns:a16="http://schemas.microsoft.com/office/drawing/2014/main" id="{CF610FEC-6805-BA3E-EEFB-AC7A4C37B3B2}"/>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2">
            <a:extLst>
              <a:ext uri="{FF2B5EF4-FFF2-40B4-BE49-F238E27FC236}">
                <a16:creationId xmlns:a16="http://schemas.microsoft.com/office/drawing/2014/main" id="{8D6826F6-FFA9-1793-622F-69529B70DB16}"/>
              </a:ext>
            </a:extLst>
          </p:cNvPr>
          <p:cNvSpPr txBox="1"/>
          <p:nvPr/>
        </p:nvSpPr>
        <p:spPr>
          <a:xfrm>
            <a:off x="8760542" y="914400"/>
            <a:ext cx="3352800" cy="2431435"/>
          </a:xfrm>
          <a:prstGeom prst="rect">
            <a:avLst/>
          </a:prstGeom>
          <a:noFill/>
        </p:spPr>
        <p:txBody>
          <a:bodyPr wrap="square">
            <a:spAutoFit/>
          </a:bodyPr>
          <a:lstStyle/>
          <a:p>
            <a:pPr>
              <a:defRPr sz="1600" b="1">
                <a:solidFill>
                  <a:srgbClr val="FFFFFF"/>
                </a:solidFill>
              </a:defRPr>
            </a:pPr>
            <a:r>
              <a:rPr lang="fr-FR" sz="3200" dirty="0"/>
              <a:t>Comprendre </a:t>
            </a:r>
            <a:br>
              <a:rPr lang="fr-FR" sz="3200" dirty="0"/>
            </a:br>
            <a:r>
              <a:rPr lang="fr-FR" sz="3200" dirty="0"/>
              <a:t>les contenus bibliographiques : </a:t>
            </a:r>
          </a:p>
          <a:p>
            <a:pPr>
              <a:defRPr sz="1600" b="1">
                <a:solidFill>
                  <a:srgbClr val="FFFFFF"/>
                </a:solidFill>
              </a:defRPr>
            </a:pPr>
            <a:endParaRPr lang="fr-FR" sz="3200" dirty="0"/>
          </a:p>
          <a:p>
            <a:pPr>
              <a:defRPr sz="1600" b="1">
                <a:solidFill>
                  <a:srgbClr val="FFFFFF"/>
                </a:solidFill>
              </a:defRPr>
            </a:pPr>
            <a:r>
              <a:rPr lang="fr-FR" sz="2400" dirty="0"/>
              <a:t>Les domaines</a:t>
            </a:r>
            <a:endParaRPr lang="fr-FR" sz="3200" dirty="0"/>
          </a:p>
        </p:txBody>
      </p:sp>
      <p:pic>
        <p:nvPicPr>
          <p:cNvPr id="4" name="Image 3">
            <a:extLst>
              <a:ext uri="{FF2B5EF4-FFF2-40B4-BE49-F238E27FC236}">
                <a16:creationId xmlns:a16="http://schemas.microsoft.com/office/drawing/2014/main" id="{1DDC7323-AD7F-90F5-A853-88528420F323}"/>
              </a:ext>
            </a:extLst>
          </p:cNvPr>
          <p:cNvPicPr>
            <a:picLocks noChangeAspect="1"/>
          </p:cNvPicPr>
          <p:nvPr/>
        </p:nvPicPr>
        <p:blipFill>
          <a:blip r:embed="rId2"/>
          <a:stretch>
            <a:fillRect/>
          </a:stretch>
        </p:blipFill>
        <p:spPr>
          <a:xfrm>
            <a:off x="494523" y="919876"/>
            <a:ext cx="7744408" cy="188571"/>
          </a:xfrm>
          <a:prstGeom prst="rect">
            <a:avLst/>
          </a:prstGeom>
        </p:spPr>
      </p:pic>
      <p:pic>
        <p:nvPicPr>
          <p:cNvPr id="8" name="Image 7">
            <a:extLst>
              <a:ext uri="{FF2B5EF4-FFF2-40B4-BE49-F238E27FC236}">
                <a16:creationId xmlns:a16="http://schemas.microsoft.com/office/drawing/2014/main" id="{329C0565-5723-F4E2-56EE-511C109371B5}"/>
              </a:ext>
            </a:extLst>
          </p:cNvPr>
          <p:cNvPicPr>
            <a:picLocks noChangeAspect="1"/>
          </p:cNvPicPr>
          <p:nvPr/>
        </p:nvPicPr>
        <p:blipFill>
          <a:blip r:embed="rId2"/>
          <a:srcRect l="80843" t="1" r="9949" b="-1"/>
          <a:stretch>
            <a:fillRect/>
          </a:stretch>
        </p:blipFill>
        <p:spPr>
          <a:xfrm>
            <a:off x="494523" y="2099389"/>
            <a:ext cx="1715277" cy="453620"/>
          </a:xfrm>
          <a:prstGeom prst="rect">
            <a:avLst/>
          </a:prstGeom>
        </p:spPr>
      </p:pic>
      <p:cxnSp>
        <p:nvCxnSpPr>
          <p:cNvPr id="11" name="Connecteur droit avec flèche 10">
            <a:extLst>
              <a:ext uri="{FF2B5EF4-FFF2-40B4-BE49-F238E27FC236}">
                <a16:creationId xmlns:a16="http://schemas.microsoft.com/office/drawing/2014/main" id="{ACEA4499-76E4-376F-AC8D-BE2267EA8867}"/>
              </a:ext>
            </a:extLst>
          </p:cNvPr>
          <p:cNvCxnSpPr>
            <a:cxnSpLocks/>
            <a:stCxn id="17" idx="4"/>
            <a:endCxn id="8" idx="0"/>
          </p:cNvCxnSpPr>
          <p:nvPr/>
        </p:nvCxnSpPr>
        <p:spPr>
          <a:xfrm rot="5400000">
            <a:off x="3859673" y="-1431596"/>
            <a:ext cx="1023475" cy="6038495"/>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 name="Connecteur droit avec flèche 12">
            <a:extLst>
              <a:ext uri="{FF2B5EF4-FFF2-40B4-BE49-F238E27FC236}">
                <a16:creationId xmlns:a16="http://schemas.microsoft.com/office/drawing/2014/main" id="{6658682E-151B-B35F-5F54-463917ED7309}"/>
              </a:ext>
            </a:extLst>
          </p:cNvPr>
          <p:cNvCxnSpPr>
            <a:cxnSpLocks/>
          </p:cNvCxnSpPr>
          <p:nvPr/>
        </p:nvCxnSpPr>
        <p:spPr>
          <a:xfrm>
            <a:off x="786882" y="2553009"/>
            <a:ext cx="0" cy="192081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1" name="Connecteur droit avec flèche 20">
            <a:extLst>
              <a:ext uri="{FF2B5EF4-FFF2-40B4-BE49-F238E27FC236}">
                <a16:creationId xmlns:a16="http://schemas.microsoft.com/office/drawing/2014/main" id="{1CA65C11-6F84-2A40-E670-F16A59FD0AF3}"/>
              </a:ext>
            </a:extLst>
          </p:cNvPr>
          <p:cNvCxnSpPr>
            <a:cxnSpLocks/>
          </p:cNvCxnSpPr>
          <p:nvPr/>
        </p:nvCxnSpPr>
        <p:spPr>
          <a:xfrm>
            <a:off x="1140173" y="2468592"/>
            <a:ext cx="0" cy="96040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4" name="Connecteur droit avec flèche 23">
            <a:extLst>
              <a:ext uri="{FF2B5EF4-FFF2-40B4-BE49-F238E27FC236}">
                <a16:creationId xmlns:a16="http://schemas.microsoft.com/office/drawing/2014/main" id="{3CB265B6-0548-8E5A-AE0C-F9DB43C9D3F0}"/>
              </a:ext>
            </a:extLst>
          </p:cNvPr>
          <p:cNvCxnSpPr>
            <a:cxnSpLocks/>
          </p:cNvCxnSpPr>
          <p:nvPr/>
        </p:nvCxnSpPr>
        <p:spPr>
          <a:xfrm>
            <a:off x="1588042" y="2468592"/>
            <a:ext cx="0" cy="323241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2" name="ZoneTexte 11">
            <a:extLst>
              <a:ext uri="{FF2B5EF4-FFF2-40B4-BE49-F238E27FC236}">
                <a16:creationId xmlns:a16="http://schemas.microsoft.com/office/drawing/2014/main" id="{84430881-2E4A-4561-FEE1-CBB00EFCFB19}"/>
              </a:ext>
            </a:extLst>
          </p:cNvPr>
          <p:cNvSpPr txBox="1"/>
          <p:nvPr/>
        </p:nvSpPr>
        <p:spPr>
          <a:xfrm>
            <a:off x="330706" y="4473825"/>
            <a:ext cx="1618934" cy="523220"/>
          </a:xfrm>
          <a:prstGeom prst="rect">
            <a:avLst/>
          </a:prstGeom>
          <a:solidFill>
            <a:schemeClr val="bg1"/>
          </a:solidFill>
        </p:spPr>
        <p:txBody>
          <a:bodyPr wrap="square">
            <a:spAutoFit/>
          </a:bodyPr>
          <a:lstStyle/>
          <a:p>
            <a:r>
              <a:rPr lang="fr-FR" sz="1400" dirty="0">
                <a:solidFill>
                  <a:srgbClr val="002060"/>
                </a:solidFill>
              </a:rPr>
              <a:t>Indexer les notices du domaine</a:t>
            </a:r>
          </a:p>
        </p:txBody>
      </p:sp>
      <p:sp>
        <p:nvSpPr>
          <p:cNvPr id="23" name="ZoneTexte 22">
            <a:extLst>
              <a:ext uri="{FF2B5EF4-FFF2-40B4-BE49-F238E27FC236}">
                <a16:creationId xmlns:a16="http://schemas.microsoft.com/office/drawing/2014/main" id="{477A7F04-7A9D-AB17-6B1A-B05268C675EC}"/>
              </a:ext>
            </a:extLst>
          </p:cNvPr>
          <p:cNvSpPr txBox="1"/>
          <p:nvPr/>
        </p:nvSpPr>
        <p:spPr>
          <a:xfrm>
            <a:off x="1002511" y="3444312"/>
            <a:ext cx="1618934" cy="523220"/>
          </a:xfrm>
          <a:prstGeom prst="rect">
            <a:avLst/>
          </a:prstGeom>
          <a:solidFill>
            <a:schemeClr val="bg1"/>
          </a:solidFill>
        </p:spPr>
        <p:txBody>
          <a:bodyPr wrap="square">
            <a:spAutoFit/>
          </a:bodyPr>
          <a:lstStyle/>
          <a:p>
            <a:r>
              <a:rPr lang="fr-FR" sz="1400" dirty="0">
                <a:solidFill>
                  <a:srgbClr val="002060"/>
                </a:solidFill>
              </a:rPr>
              <a:t>Modifier les notices du domaine</a:t>
            </a:r>
          </a:p>
        </p:txBody>
      </p:sp>
      <p:sp>
        <p:nvSpPr>
          <p:cNvPr id="26" name="ZoneTexte 25">
            <a:extLst>
              <a:ext uri="{FF2B5EF4-FFF2-40B4-BE49-F238E27FC236}">
                <a16:creationId xmlns:a16="http://schemas.microsoft.com/office/drawing/2014/main" id="{99A5EB05-A7BC-8854-BBB4-3855D6F5E7C8}"/>
              </a:ext>
            </a:extLst>
          </p:cNvPr>
          <p:cNvSpPr txBox="1"/>
          <p:nvPr/>
        </p:nvSpPr>
        <p:spPr>
          <a:xfrm>
            <a:off x="1002511" y="5701004"/>
            <a:ext cx="1618934" cy="523220"/>
          </a:xfrm>
          <a:prstGeom prst="rect">
            <a:avLst/>
          </a:prstGeom>
          <a:solidFill>
            <a:schemeClr val="bg1"/>
          </a:solidFill>
        </p:spPr>
        <p:txBody>
          <a:bodyPr wrap="square">
            <a:spAutoFit/>
          </a:bodyPr>
          <a:lstStyle/>
          <a:p>
            <a:r>
              <a:rPr lang="fr-FR" sz="1400" dirty="0">
                <a:solidFill>
                  <a:srgbClr val="002060"/>
                </a:solidFill>
              </a:rPr>
              <a:t>Dupliquer </a:t>
            </a:r>
            <a:br>
              <a:rPr lang="fr-FR" sz="1400" dirty="0">
                <a:solidFill>
                  <a:srgbClr val="002060"/>
                </a:solidFill>
              </a:rPr>
            </a:br>
            <a:r>
              <a:rPr lang="fr-FR" sz="1400" dirty="0">
                <a:solidFill>
                  <a:srgbClr val="002060"/>
                </a:solidFill>
              </a:rPr>
              <a:t>le domaine</a:t>
            </a:r>
          </a:p>
        </p:txBody>
      </p:sp>
      <p:sp>
        <p:nvSpPr>
          <p:cNvPr id="27" name="ZoneTexte 26">
            <a:extLst>
              <a:ext uri="{FF2B5EF4-FFF2-40B4-BE49-F238E27FC236}">
                <a16:creationId xmlns:a16="http://schemas.microsoft.com/office/drawing/2014/main" id="{3C6331F3-6DB6-4211-B61B-A36B8E42C780}"/>
              </a:ext>
            </a:extLst>
          </p:cNvPr>
          <p:cNvSpPr txBox="1"/>
          <p:nvPr/>
        </p:nvSpPr>
        <p:spPr>
          <a:xfrm>
            <a:off x="1725705" y="2818868"/>
            <a:ext cx="1618934" cy="523220"/>
          </a:xfrm>
          <a:prstGeom prst="rect">
            <a:avLst/>
          </a:prstGeom>
          <a:solidFill>
            <a:schemeClr val="bg1"/>
          </a:solidFill>
        </p:spPr>
        <p:txBody>
          <a:bodyPr wrap="square">
            <a:spAutoFit/>
          </a:bodyPr>
          <a:lstStyle/>
          <a:p>
            <a:r>
              <a:rPr lang="fr-FR" sz="1400" dirty="0">
                <a:solidFill>
                  <a:srgbClr val="002060"/>
                </a:solidFill>
              </a:rPr>
              <a:t>Ajouter un sous domaine</a:t>
            </a:r>
          </a:p>
        </p:txBody>
      </p:sp>
      <p:cxnSp>
        <p:nvCxnSpPr>
          <p:cNvPr id="28" name="Connecteur droit avec flèche 27">
            <a:extLst>
              <a:ext uri="{FF2B5EF4-FFF2-40B4-BE49-F238E27FC236}">
                <a16:creationId xmlns:a16="http://schemas.microsoft.com/office/drawing/2014/main" id="{A0E4E140-A478-6310-AF3A-A6F1C9A0CA45}"/>
              </a:ext>
            </a:extLst>
          </p:cNvPr>
          <p:cNvCxnSpPr>
            <a:cxnSpLocks/>
          </p:cNvCxnSpPr>
          <p:nvPr/>
        </p:nvCxnSpPr>
        <p:spPr>
          <a:xfrm>
            <a:off x="2017250" y="2553009"/>
            <a:ext cx="0" cy="35420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1" name="ZoneTexte 30">
            <a:extLst>
              <a:ext uri="{FF2B5EF4-FFF2-40B4-BE49-F238E27FC236}">
                <a16:creationId xmlns:a16="http://schemas.microsoft.com/office/drawing/2014/main" id="{570A5CF1-A13E-D47D-D293-38821C4B3C2C}"/>
              </a:ext>
            </a:extLst>
          </p:cNvPr>
          <p:cNvSpPr txBox="1"/>
          <p:nvPr/>
        </p:nvSpPr>
        <p:spPr>
          <a:xfrm>
            <a:off x="5461033" y="2818868"/>
            <a:ext cx="1618934" cy="307777"/>
          </a:xfrm>
          <a:prstGeom prst="rect">
            <a:avLst/>
          </a:prstGeom>
          <a:solidFill>
            <a:schemeClr val="bg1"/>
          </a:solidFill>
        </p:spPr>
        <p:txBody>
          <a:bodyPr wrap="square">
            <a:spAutoFit/>
          </a:bodyPr>
          <a:lstStyle/>
          <a:p>
            <a:r>
              <a:rPr lang="fr-FR" sz="1400" dirty="0">
                <a:solidFill>
                  <a:srgbClr val="002060"/>
                </a:solidFill>
              </a:rPr>
              <a:t>Panier du domaine</a:t>
            </a:r>
          </a:p>
        </p:txBody>
      </p:sp>
      <p:sp>
        <p:nvSpPr>
          <p:cNvPr id="32" name="ZoneTexte 31">
            <a:extLst>
              <a:ext uri="{FF2B5EF4-FFF2-40B4-BE49-F238E27FC236}">
                <a16:creationId xmlns:a16="http://schemas.microsoft.com/office/drawing/2014/main" id="{16483E6A-E620-67AB-8D7E-849033C214B2}"/>
              </a:ext>
            </a:extLst>
          </p:cNvPr>
          <p:cNvSpPr txBox="1"/>
          <p:nvPr/>
        </p:nvSpPr>
        <p:spPr>
          <a:xfrm>
            <a:off x="5461033" y="3577398"/>
            <a:ext cx="1618934" cy="523220"/>
          </a:xfrm>
          <a:prstGeom prst="rect">
            <a:avLst/>
          </a:prstGeom>
          <a:solidFill>
            <a:schemeClr val="bg1"/>
          </a:solidFill>
        </p:spPr>
        <p:txBody>
          <a:bodyPr wrap="square">
            <a:spAutoFit/>
          </a:bodyPr>
          <a:lstStyle/>
          <a:p>
            <a:r>
              <a:rPr lang="fr-FR" sz="1400" dirty="0">
                <a:solidFill>
                  <a:srgbClr val="002060"/>
                </a:solidFill>
              </a:rPr>
              <a:t>Supprimer un domaine</a:t>
            </a:r>
          </a:p>
        </p:txBody>
      </p:sp>
      <p:sp>
        <p:nvSpPr>
          <p:cNvPr id="33" name="ZoneTexte 32">
            <a:extLst>
              <a:ext uri="{FF2B5EF4-FFF2-40B4-BE49-F238E27FC236}">
                <a16:creationId xmlns:a16="http://schemas.microsoft.com/office/drawing/2014/main" id="{3DEF7307-4218-94D9-F5A4-549811E36B98}"/>
              </a:ext>
            </a:extLst>
          </p:cNvPr>
          <p:cNvSpPr txBox="1"/>
          <p:nvPr/>
        </p:nvSpPr>
        <p:spPr>
          <a:xfrm>
            <a:off x="5461033" y="4343248"/>
            <a:ext cx="1618934" cy="523220"/>
          </a:xfrm>
          <a:prstGeom prst="rect">
            <a:avLst/>
          </a:prstGeom>
          <a:solidFill>
            <a:schemeClr val="bg1"/>
          </a:solidFill>
        </p:spPr>
        <p:txBody>
          <a:bodyPr wrap="square">
            <a:spAutoFit/>
          </a:bodyPr>
          <a:lstStyle/>
          <a:p>
            <a:r>
              <a:rPr lang="fr-FR" sz="1400" dirty="0">
                <a:solidFill>
                  <a:srgbClr val="002060"/>
                </a:solidFill>
              </a:rPr>
              <a:t>Visualiser </a:t>
            </a:r>
            <a:br>
              <a:rPr lang="fr-FR" sz="1400" dirty="0">
                <a:solidFill>
                  <a:srgbClr val="002060"/>
                </a:solidFill>
              </a:rPr>
            </a:br>
            <a:r>
              <a:rPr lang="fr-FR" sz="1400" dirty="0">
                <a:solidFill>
                  <a:srgbClr val="002060"/>
                </a:solidFill>
              </a:rPr>
              <a:t>le domaine</a:t>
            </a:r>
          </a:p>
        </p:txBody>
      </p:sp>
      <p:sp>
        <p:nvSpPr>
          <p:cNvPr id="34" name="ZoneTexte 33">
            <a:extLst>
              <a:ext uri="{FF2B5EF4-FFF2-40B4-BE49-F238E27FC236}">
                <a16:creationId xmlns:a16="http://schemas.microsoft.com/office/drawing/2014/main" id="{C23515E6-4A3B-692E-D4DE-43DF85DAB8A1}"/>
              </a:ext>
            </a:extLst>
          </p:cNvPr>
          <p:cNvSpPr txBox="1"/>
          <p:nvPr/>
        </p:nvSpPr>
        <p:spPr>
          <a:xfrm>
            <a:off x="5461033" y="5095656"/>
            <a:ext cx="1618934" cy="738664"/>
          </a:xfrm>
          <a:prstGeom prst="rect">
            <a:avLst/>
          </a:prstGeom>
          <a:solidFill>
            <a:schemeClr val="bg1"/>
          </a:solidFill>
        </p:spPr>
        <p:txBody>
          <a:bodyPr wrap="square">
            <a:spAutoFit/>
          </a:bodyPr>
          <a:lstStyle/>
          <a:p>
            <a:r>
              <a:rPr lang="fr-FR" sz="1400" dirty="0">
                <a:solidFill>
                  <a:srgbClr val="002060"/>
                </a:solidFill>
              </a:rPr>
              <a:t>Voir la notice du lien permanent du domaine</a:t>
            </a:r>
          </a:p>
        </p:txBody>
      </p:sp>
      <p:pic>
        <p:nvPicPr>
          <p:cNvPr id="36" name="Image 35">
            <a:extLst>
              <a:ext uri="{FF2B5EF4-FFF2-40B4-BE49-F238E27FC236}">
                <a16:creationId xmlns:a16="http://schemas.microsoft.com/office/drawing/2014/main" id="{65C57589-0466-189C-BCFD-F14309325B36}"/>
              </a:ext>
            </a:extLst>
          </p:cNvPr>
          <p:cNvPicPr>
            <a:picLocks noChangeAspect="1"/>
          </p:cNvPicPr>
          <p:nvPr/>
        </p:nvPicPr>
        <p:blipFill>
          <a:blip r:embed="rId2"/>
          <a:srcRect l="89903" t="1" b="-1"/>
          <a:stretch>
            <a:fillRect/>
          </a:stretch>
        </p:blipFill>
        <p:spPr>
          <a:xfrm>
            <a:off x="3481993" y="2099389"/>
            <a:ext cx="1881076" cy="453620"/>
          </a:xfrm>
          <a:prstGeom prst="rect">
            <a:avLst/>
          </a:prstGeom>
        </p:spPr>
      </p:pic>
      <p:cxnSp>
        <p:nvCxnSpPr>
          <p:cNvPr id="38" name="Connecteur droit avec flèche 37">
            <a:extLst>
              <a:ext uri="{FF2B5EF4-FFF2-40B4-BE49-F238E27FC236}">
                <a16:creationId xmlns:a16="http://schemas.microsoft.com/office/drawing/2014/main" id="{7D8608D8-F833-DF46-8DFF-8BC5718FC72B}"/>
              </a:ext>
            </a:extLst>
          </p:cNvPr>
          <p:cNvCxnSpPr>
            <a:cxnSpLocks/>
            <a:endCxn id="31" idx="1"/>
          </p:cNvCxnSpPr>
          <p:nvPr/>
        </p:nvCxnSpPr>
        <p:spPr>
          <a:xfrm>
            <a:off x="3684760" y="2468592"/>
            <a:ext cx="1776273" cy="504165"/>
          </a:xfrm>
          <a:prstGeom prst="bentConnector3">
            <a:avLst>
              <a:gd name="adj1" fmla="val 97"/>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1" name="Connecteur droit avec flèche 37">
            <a:extLst>
              <a:ext uri="{FF2B5EF4-FFF2-40B4-BE49-F238E27FC236}">
                <a16:creationId xmlns:a16="http://schemas.microsoft.com/office/drawing/2014/main" id="{E9F630B4-4A3A-1F52-13FC-794F96904EDD}"/>
              </a:ext>
            </a:extLst>
          </p:cNvPr>
          <p:cNvCxnSpPr>
            <a:cxnSpLocks/>
            <a:endCxn id="32" idx="1"/>
          </p:cNvCxnSpPr>
          <p:nvPr/>
        </p:nvCxnSpPr>
        <p:spPr>
          <a:xfrm>
            <a:off x="4064894" y="2576238"/>
            <a:ext cx="1396139" cy="1262770"/>
          </a:xfrm>
          <a:prstGeom prst="bentConnector3">
            <a:avLst>
              <a:gd name="adj1" fmla="val 545"/>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6" name="Connecteur droit avec flèche 37">
            <a:extLst>
              <a:ext uri="{FF2B5EF4-FFF2-40B4-BE49-F238E27FC236}">
                <a16:creationId xmlns:a16="http://schemas.microsoft.com/office/drawing/2014/main" id="{28315667-E69A-131A-DEDC-821F305D0B1A}"/>
              </a:ext>
            </a:extLst>
          </p:cNvPr>
          <p:cNvCxnSpPr>
            <a:cxnSpLocks/>
            <a:stCxn id="36" idx="2"/>
            <a:endCxn id="33" idx="1"/>
          </p:cNvCxnSpPr>
          <p:nvPr/>
        </p:nvCxnSpPr>
        <p:spPr>
          <a:xfrm rot="16200000" flipH="1">
            <a:off x="3915858" y="3059682"/>
            <a:ext cx="2051849" cy="1038502"/>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9" name="Connecteur droit avec flèche 37">
            <a:extLst>
              <a:ext uri="{FF2B5EF4-FFF2-40B4-BE49-F238E27FC236}">
                <a16:creationId xmlns:a16="http://schemas.microsoft.com/office/drawing/2014/main" id="{E08852DC-D609-8327-08A3-3FB3884FCCD3}"/>
              </a:ext>
            </a:extLst>
          </p:cNvPr>
          <p:cNvCxnSpPr>
            <a:cxnSpLocks/>
            <a:endCxn id="34" idx="1"/>
          </p:cNvCxnSpPr>
          <p:nvPr/>
        </p:nvCxnSpPr>
        <p:spPr>
          <a:xfrm rot="16200000" flipH="1">
            <a:off x="3749760" y="3753715"/>
            <a:ext cx="2827566" cy="594980"/>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1616090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4BBB9797-915C-5B99-4FFA-53B38AB39149}"/>
            </a:ext>
          </a:extLst>
        </p:cNvPr>
        <p:cNvGrpSpPr/>
        <p:nvPr/>
      </p:nvGrpSpPr>
      <p:grpSpPr>
        <a:xfrm>
          <a:off x="0" y="0"/>
          <a:ext cx="0" cy="0"/>
          <a:chOff x="0" y="0"/>
          <a:chExt cx="0" cy="0"/>
        </a:xfrm>
      </p:grpSpPr>
      <p:pic>
        <p:nvPicPr>
          <p:cNvPr id="12" name="Image 11">
            <a:extLst>
              <a:ext uri="{FF2B5EF4-FFF2-40B4-BE49-F238E27FC236}">
                <a16:creationId xmlns:a16="http://schemas.microsoft.com/office/drawing/2014/main" id="{B7D699B6-E80F-FEDE-F538-CEDDA509A979}"/>
              </a:ext>
            </a:extLst>
          </p:cNvPr>
          <p:cNvPicPr>
            <a:picLocks noChangeAspect="1"/>
          </p:cNvPicPr>
          <p:nvPr/>
        </p:nvPicPr>
        <p:blipFill>
          <a:blip r:embed="rId2"/>
          <a:stretch>
            <a:fillRect/>
          </a:stretch>
        </p:blipFill>
        <p:spPr>
          <a:xfrm>
            <a:off x="339554" y="1374267"/>
            <a:ext cx="7924802" cy="4109466"/>
          </a:xfrm>
          <a:prstGeom prst="rect">
            <a:avLst/>
          </a:prstGeom>
        </p:spPr>
      </p:pic>
      <p:sp>
        <p:nvSpPr>
          <p:cNvPr id="2" name="Rectangle 1">
            <a:extLst>
              <a:ext uri="{FF2B5EF4-FFF2-40B4-BE49-F238E27FC236}">
                <a16:creationId xmlns:a16="http://schemas.microsoft.com/office/drawing/2014/main" id="{DFD7BF06-2223-68D3-D44A-F75864CE8B48}"/>
              </a:ext>
            </a:extLst>
          </p:cNvPr>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7" name="Rectangle 6">
            <a:extLst>
              <a:ext uri="{FF2B5EF4-FFF2-40B4-BE49-F238E27FC236}">
                <a16:creationId xmlns:a16="http://schemas.microsoft.com/office/drawing/2014/main" id="{F4D4296A-FBA0-AD3D-388B-4E240140A712}"/>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2">
            <a:extLst>
              <a:ext uri="{FF2B5EF4-FFF2-40B4-BE49-F238E27FC236}">
                <a16:creationId xmlns:a16="http://schemas.microsoft.com/office/drawing/2014/main" id="{5752FD28-1CD9-281A-571C-06AB3411C5E8}"/>
              </a:ext>
            </a:extLst>
          </p:cNvPr>
          <p:cNvSpPr txBox="1"/>
          <p:nvPr/>
        </p:nvSpPr>
        <p:spPr>
          <a:xfrm>
            <a:off x="8760542" y="914400"/>
            <a:ext cx="3352800" cy="2923877"/>
          </a:xfrm>
          <a:prstGeom prst="rect">
            <a:avLst/>
          </a:prstGeom>
          <a:noFill/>
        </p:spPr>
        <p:txBody>
          <a:bodyPr wrap="square">
            <a:spAutoFit/>
          </a:bodyPr>
          <a:lstStyle/>
          <a:p>
            <a:pPr>
              <a:defRPr sz="1600" b="1">
                <a:solidFill>
                  <a:srgbClr val="FFFFFF"/>
                </a:solidFill>
              </a:defRPr>
            </a:pPr>
            <a:r>
              <a:rPr lang="fr-FR" sz="3200" dirty="0"/>
              <a:t>Créer domaine</a:t>
            </a:r>
          </a:p>
          <a:p>
            <a:pPr>
              <a:defRPr sz="1600" b="1">
                <a:solidFill>
                  <a:srgbClr val="FFFFFF"/>
                </a:solidFill>
              </a:defRPr>
            </a:pPr>
            <a:endParaRPr lang="fr-FR" sz="2400" dirty="0"/>
          </a:p>
          <a:p>
            <a:pPr>
              <a:defRPr sz="1600" b="1">
                <a:solidFill>
                  <a:srgbClr val="FFFFFF"/>
                </a:solidFill>
              </a:defRPr>
            </a:pPr>
            <a:r>
              <a:rPr lang="fr-FR" sz="2400" dirty="0"/>
              <a:t>L’éditeur de domaines</a:t>
            </a:r>
          </a:p>
          <a:p>
            <a:pPr>
              <a:defRPr sz="1600" b="1">
                <a:solidFill>
                  <a:srgbClr val="FFFFFF"/>
                </a:solidFill>
              </a:defRPr>
            </a:pPr>
            <a:endParaRPr lang="fr-FR" sz="2400" dirty="0"/>
          </a:p>
          <a:p>
            <a:pPr>
              <a:defRPr sz="1600" b="1">
                <a:solidFill>
                  <a:srgbClr val="FFFFFF"/>
                </a:solidFill>
              </a:defRPr>
            </a:pPr>
            <a:r>
              <a:rPr lang="fr-FR" dirty="0"/>
              <a:t>Pour l’exemple, on va créer un domaine « Fonction publique » créé sur un critère « Mot matière » </a:t>
            </a:r>
          </a:p>
          <a:p>
            <a:pPr>
              <a:defRPr sz="1600" b="1">
                <a:solidFill>
                  <a:srgbClr val="FFFFFF"/>
                </a:solidFill>
              </a:defRPr>
            </a:pPr>
            <a:endParaRPr lang="fr-FR" dirty="0"/>
          </a:p>
          <a:p>
            <a:pPr>
              <a:defRPr sz="1600" b="1">
                <a:solidFill>
                  <a:srgbClr val="FFFFFF"/>
                </a:solidFill>
              </a:defRPr>
            </a:pPr>
            <a:r>
              <a:rPr lang="fr-FR" dirty="0"/>
              <a:t>Exemplaires de la MPDOC</a:t>
            </a:r>
          </a:p>
        </p:txBody>
      </p:sp>
      <p:cxnSp>
        <p:nvCxnSpPr>
          <p:cNvPr id="5" name="Connecteur droit avec flèche 4">
            <a:extLst>
              <a:ext uri="{FF2B5EF4-FFF2-40B4-BE49-F238E27FC236}">
                <a16:creationId xmlns:a16="http://schemas.microsoft.com/office/drawing/2014/main" id="{578BA2E5-E972-987A-8566-5071DCBA26F4}"/>
              </a:ext>
            </a:extLst>
          </p:cNvPr>
          <p:cNvCxnSpPr>
            <a:cxnSpLocks/>
          </p:cNvCxnSpPr>
          <p:nvPr/>
        </p:nvCxnSpPr>
        <p:spPr>
          <a:xfrm>
            <a:off x="3623388" y="559836"/>
            <a:ext cx="0" cy="117565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 name="ZoneTexte 5">
            <a:extLst>
              <a:ext uri="{FF2B5EF4-FFF2-40B4-BE49-F238E27FC236}">
                <a16:creationId xmlns:a16="http://schemas.microsoft.com/office/drawing/2014/main" id="{AF00B837-B76F-4B7C-4761-DDD41A4DFE4A}"/>
              </a:ext>
            </a:extLst>
          </p:cNvPr>
          <p:cNvSpPr txBox="1"/>
          <p:nvPr/>
        </p:nvSpPr>
        <p:spPr>
          <a:xfrm>
            <a:off x="2783902" y="209735"/>
            <a:ext cx="1618934" cy="523220"/>
          </a:xfrm>
          <a:prstGeom prst="rect">
            <a:avLst/>
          </a:prstGeom>
          <a:solidFill>
            <a:schemeClr val="bg1"/>
          </a:solidFill>
        </p:spPr>
        <p:txBody>
          <a:bodyPr wrap="square">
            <a:spAutoFit/>
          </a:bodyPr>
          <a:lstStyle/>
          <a:p>
            <a:r>
              <a:rPr lang="fr-FR" sz="1400" dirty="0">
                <a:solidFill>
                  <a:srgbClr val="002060"/>
                </a:solidFill>
              </a:rPr>
              <a:t>Titre ou libellé du domaine</a:t>
            </a:r>
          </a:p>
        </p:txBody>
      </p:sp>
      <p:sp>
        <p:nvSpPr>
          <p:cNvPr id="14" name="ZoneTexte 13">
            <a:extLst>
              <a:ext uri="{FF2B5EF4-FFF2-40B4-BE49-F238E27FC236}">
                <a16:creationId xmlns:a16="http://schemas.microsoft.com/office/drawing/2014/main" id="{9FEA4D97-F209-790C-61C0-7C5D58E7A532}"/>
              </a:ext>
            </a:extLst>
          </p:cNvPr>
          <p:cNvSpPr txBox="1"/>
          <p:nvPr/>
        </p:nvSpPr>
        <p:spPr>
          <a:xfrm>
            <a:off x="1084523" y="209735"/>
            <a:ext cx="1618934" cy="738664"/>
          </a:xfrm>
          <a:prstGeom prst="rect">
            <a:avLst/>
          </a:prstGeom>
          <a:solidFill>
            <a:schemeClr val="bg1"/>
          </a:solidFill>
        </p:spPr>
        <p:txBody>
          <a:bodyPr wrap="square">
            <a:spAutoFit/>
          </a:bodyPr>
          <a:lstStyle/>
          <a:p>
            <a:r>
              <a:rPr lang="fr-FR" sz="1400" dirty="0">
                <a:solidFill>
                  <a:srgbClr val="002060"/>
                </a:solidFill>
              </a:rPr>
              <a:t>Domaine parent = Sélections thématiques</a:t>
            </a:r>
          </a:p>
        </p:txBody>
      </p:sp>
      <p:cxnSp>
        <p:nvCxnSpPr>
          <p:cNvPr id="15" name="Connecteur droit avec flèche 14">
            <a:extLst>
              <a:ext uri="{FF2B5EF4-FFF2-40B4-BE49-F238E27FC236}">
                <a16:creationId xmlns:a16="http://schemas.microsoft.com/office/drawing/2014/main" id="{03716EF3-229E-28CA-97CA-7B3BF86BD624}"/>
              </a:ext>
            </a:extLst>
          </p:cNvPr>
          <p:cNvCxnSpPr>
            <a:cxnSpLocks/>
          </p:cNvCxnSpPr>
          <p:nvPr/>
        </p:nvCxnSpPr>
        <p:spPr>
          <a:xfrm>
            <a:off x="2121159" y="948399"/>
            <a:ext cx="0" cy="104835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451036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6B1F404-9266-B796-B1D6-375BDAFAEB7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F744F08-9917-5347-F651-662B77053C9C}"/>
              </a:ext>
            </a:extLst>
          </p:cNvPr>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7" name="Rectangle 6">
            <a:extLst>
              <a:ext uri="{FF2B5EF4-FFF2-40B4-BE49-F238E27FC236}">
                <a16:creationId xmlns:a16="http://schemas.microsoft.com/office/drawing/2014/main" id="{D8CC217E-675D-F033-1F50-F412BB231F35}"/>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2">
            <a:extLst>
              <a:ext uri="{FF2B5EF4-FFF2-40B4-BE49-F238E27FC236}">
                <a16:creationId xmlns:a16="http://schemas.microsoft.com/office/drawing/2014/main" id="{9007C5E9-0813-D346-2074-D3B1DC96ECD6}"/>
              </a:ext>
            </a:extLst>
          </p:cNvPr>
          <p:cNvSpPr txBox="1"/>
          <p:nvPr/>
        </p:nvSpPr>
        <p:spPr>
          <a:xfrm>
            <a:off x="8760542" y="914400"/>
            <a:ext cx="3352800" cy="2677656"/>
          </a:xfrm>
          <a:prstGeom prst="rect">
            <a:avLst/>
          </a:prstGeom>
          <a:noFill/>
        </p:spPr>
        <p:txBody>
          <a:bodyPr wrap="square">
            <a:spAutoFit/>
          </a:bodyPr>
          <a:lstStyle/>
          <a:p>
            <a:pPr>
              <a:defRPr sz="1600" b="1">
                <a:solidFill>
                  <a:srgbClr val="FFFFFF"/>
                </a:solidFill>
              </a:defRPr>
            </a:pPr>
            <a:r>
              <a:rPr lang="fr-FR" sz="3200" dirty="0"/>
              <a:t>Créer domaine</a:t>
            </a:r>
          </a:p>
          <a:p>
            <a:pPr>
              <a:defRPr sz="1600" b="1">
                <a:solidFill>
                  <a:srgbClr val="FFFFFF"/>
                </a:solidFill>
              </a:defRPr>
            </a:pPr>
            <a:endParaRPr lang="fr-FR" sz="3200" dirty="0"/>
          </a:p>
          <a:p>
            <a:pPr>
              <a:defRPr sz="1600" b="1">
                <a:solidFill>
                  <a:srgbClr val="FFFFFF"/>
                </a:solidFill>
              </a:defRPr>
            </a:pPr>
            <a:r>
              <a:rPr lang="fr-FR" sz="2400" b="1" dirty="0">
                <a:solidFill>
                  <a:srgbClr val="FFFFFF"/>
                </a:solidFill>
              </a:rPr>
              <a:t>L’éditeur de domaines</a:t>
            </a:r>
          </a:p>
          <a:p>
            <a:pPr>
              <a:defRPr sz="1600" b="1">
                <a:solidFill>
                  <a:srgbClr val="FFFFFF"/>
                </a:solidFill>
              </a:defRPr>
            </a:pPr>
            <a:endParaRPr lang="fr-FR" sz="3200" dirty="0"/>
          </a:p>
          <a:p>
            <a:pPr>
              <a:defRPr sz="1600" b="1">
                <a:solidFill>
                  <a:srgbClr val="FFFFFF"/>
                </a:solidFill>
              </a:defRPr>
            </a:pPr>
            <a:r>
              <a:rPr lang="fr-FR" sz="1600" b="1" dirty="0">
                <a:solidFill>
                  <a:srgbClr val="FFFFFF"/>
                </a:solidFill>
              </a:rPr>
              <a:t>Pour l’exemple, on va créer un domaine « Fonction publique » créé sur un critère « Mot matière » </a:t>
            </a:r>
          </a:p>
        </p:txBody>
      </p:sp>
      <p:pic>
        <p:nvPicPr>
          <p:cNvPr id="4" name="Image 3">
            <a:extLst>
              <a:ext uri="{FF2B5EF4-FFF2-40B4-BE49-F238E27FC236}">
                <a16:creationId xmlns:a16="http://schemas.microsoft.com/office/drawing/2014/main" id="{C0B6642C-B6CC-5F78-E104-49E8E5104029}"/>
              </a:ext>
            </a:extLst>
          </p:cNvPr>
          <p:cNvPicPr>
            <a:picLocks noChangeAspect="1"/>
          </p:cNvPicPr>
          <p:nvPr/>
        </p:nvPicPr>
        <p:blipFill>
          <a:blip r:embed="rId2"/>
          <a:stretch>
            <a:fillRect/>
          </a:stretch>
        </p:blipFill>
        <p:spPr>
          <a:xfrm>
            <a:off x="423316" y="2118145"/>
            <a:ext cx="7818554" cy="2621710"/>
          </a:xfrm>
          <a:prstGeom prst="rect">
            <a:avLst/>
          </a:prstGeom>
        </p:spPr>
      </p:pic>
      <p:sp>
        <p:nvSpPr>
          <p:cNvPr id="5" name="ZoneTexte 4">
            <a:extLst>
              <a:ext uri="{FF2B5EF4-FFF2-40B4-BE49-F238E27FC236}">
                <a16:creationId xmlns:a16="http://schemas.microsoft.com/office/drawing/2014/main" id="{8F831E99-2A72-DE8B-2AE3-F87F86516127}"/>
              </a:ext>
            </a:extLst>
          </p:cNvPr>
          <p:cNvSpPr txBox="1"/>
          <p:nvPr/>
        </p:nvSpPr>
        <p:spPr>
          <a:xfrm>
            <a:off x="4275591" y="652790"/>
            <a:ext cx="2041231" cy="523220"/>
          </a:xfrm>
          <a:prstGeom prst="rect">
            <a:avLst/>
          </a:prstGeom>
          <a:solidFill>
            <a:schemeClr val="bg1"/>
          </a:solidFill>
        </p:spPr>
        <p:txBody>
          <a:bodyPr wrap="square">
            <a:spAutoFit/>
          </a:bodyPr>
          <a:lstStyle/>
          <a:p>
            <a:r>
              <a:rPr lang="fr-FR" sz="1400" dirty="0">
                <a:solidFill>
                  <a:srgbClr val="002060"/>
                </a:solidFill>
              </a:rPr>
              <a:t>Choix de l’autorité matière</a:t>
            </a:r>
          </a:p>
        </p:txBody>
      </p:sp>
      <p:cxnSp>
        <p:nvCxnSpPr>
          <p:cNvPr id="6" name="Connecteur droit avec flèche 5">
            <a:extLst>
              <a:ext uri="{FF2B5EF4-FFF2-40B4-BE49-F238E27FC236}">
                <a16:creationId xmlns:a16="http://schemas.microsoft.com/office/drawing/2014/main" id="{165D805B-38D5-2B71-A3F0-09368C42FCCB}"/>
              </a:ext>
            </a:extLst>
          </p:cNvPr>
          <p:cNvCxnSpPr>
            <a:cxnSpLocks/>
          </p:cNvCxnSpPr>
          <p:nvPr/>
        </p:nvCxnSpPr>
        <p:spPr>
          <a:xfrm>
            <a:off x="5312228" y="948399"/>
            <a:ext cx="0" cy="336234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1349043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A17CA63-469F-3BF6-DA2B-1639DAC85A4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5E87E16-96FA-B4D0-9A2A-CD55CAFE2416}"/>
              </a:ext>
            </a:extLst>
          </p:cNvPr>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7" name="Rectangle 6">
            <a:extLst>
              <a:ext uri="{FF2B5EF4-FFF2-40B4-BE49-F238E27FC236}">
                <a16:creationId xmlns:a16="http://schemas.microsoft.com/office/drawing/2014/main" id="{78D8635A-EA1C-8B7D-AB19-27674F0B5E73}"/>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2">
            <a:extLst>
              <a:ext uri="{FF2B5EF4-FFF2-40B4-BE49-F238E27FC236}">
                <a16:creationId xmlns:a16="http://schemas.microsoft.com/office/drawing/2014/main" id="{1A1E6D5C-ECB8-5F24-883D-3DA440292F98}"/>
              </a:ext>
            </a:extLst>
          </p:cNvPr>
          <p:cNvSpPr txBox="1"/>
          <p:nvPr/>
        </p:nvSpPr>
        <p:spPr>
          <a:xfrm>
            <a:off x="8760542" y="914400"/>
            <a:ext cx="3352800" cy="2677656"/>
          </a:xfrm>
          <a:prstGeom prst="rect">
            <a:avLst/>
          </a:prstGeom>
          <a:noFill/>
        </p:spPr>
        <p:txBody>
          <a:bodyPr wrap="square">
            <a:spAutoFit/>
          </a:bodyPr>
          <a:lstStyle/>
          <a:p>
            <a:pPr>
              <a:defRPr sz="1600" b="1">
                <a:solidFill>
                  <a:srgbClr val="FFFFFF"/>
                </a:solidFill>
              </a:defRPr>
            </a:pPr>
            <a:r>
              <a:rPr lang="fr-FR" sz="3200" dirty="0"/>
              <a:t>Créer domaine</a:t>
            </a:r>
          </a:p>
          <a:p>
            <a:pPr>
              <a:defRPr sz="1600" b="1">
                <a:solidFill>
                  <a:srgbClr val="FFFFFF"/>
                </a:solidFill>
              </a:defRPr>
            </a:pPr>
            <a:endParaRPr lang="fr-FR" sz="3200" dirty="0"/>
          </a:p>
          <a:p>
            <a:pPr>
              <a:defRPr sz="1600" b="1">
                <a:solidFill>
                  <a:srgbClr val="FFFFFF"/>
                </a:solidFill>
              </a:defRPr>
            </a:pPr>
            <a:r>
              <a:rPr lang="fr-FR" sz="2400" b="1" dirty="0">
                <a:solidFill>
                  <a:srgbClr val="FFFFFF"/>
                </a:solidFill>
              </a:rPr>
              <a:t>L’éditeur de domaines</a:t>
            </a:r>
          </a:p>
          <a:p>
            <a:pPr>
              <a:defRPr sz="1600" b="1">
                <a:solidFill>
                  <a:srgbClr val="FFFFFF"/>
                </a:solidFill>
              </a:defRPr>
            </a:pPr>
            <a:endParaRPr lang="fr-FR" sz="3200" dirty="0"/>
          </a:p>
          <a:p>
            <a:pPr>
              <a:defRPr sz="1600" b="1">
                <a:solidFill>
                  <a:srgbClr val="FFFFFF"/>
                </a:solidFill>
              </a:defRPr>
            </a:pPr>
            <a:r>
              <a:rPr lang="fr-FR" sz="1600" b="1" dirty="0">
                <a:solidFill>
                  <a:srgbClr val="FFFFFF"/>
                </a:solidFill>
              </a:rPr>
              <a:t>Pour l’exemple, on va créer un domaine « Fonction publique » créé sur un critère « Mot matière » </a:t>
            </a:r>
          </a:p>
        </p:txBody>
      </p:sp>
      <p:pic>
        <p:nvPicPr>
          <p:cNvPr id="4" name="Image 3">
            <a:extLst>
              <a:ext uri="{FF2B5EF4-FFF2-40B4-BE49-F238E27FC236}">
                <a16:creationId xmlns:a16="http://schemas.microsoft.com/office/drawing/2014/main" id="{9DB10A1D-7762-4A16-F0CA-F065893D83B4}"/>
              </a:ext>
            </a:extLst>
          </p:cNvPr>
          <p:cNvPicPr>
            <a:picLocks noChangeAspect="1"/>
          </p:cNvPicPr>
          <p:nvPr/>
        </p:nvPicPr>
        <p:blipFill>
          <a:blip r:embed="rId2"/>
          <a:stretch>
            <a:fillRect/>
          </a:stretch>
        </p:blipFill>
        <p:spPr>
          <a:xfrm>
            <a:off x="514650" y="1007706"/>
            <a:ext cx="7915648" cy="4842588"/>
          </a:xfrm>
          <a:prstGeom prst="rect">
            <a:avLst/>
          </a:prstGeom>
        </p:spPr>
      </p:pic>
    </p:spTree>
    <p:extLst>
      <p:ext uri="{BB962C8B-B14F-4D97-AF65-F5344CB8AC3E}">
        <p14:creationId xmlns:p14="http://schemas.microsoft.com/office/powerpoint/2010/main" val="17594503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F60A315-F99B-BB70-8607-42970B8D6BA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4CD3B5D-F504-D323-D5E0-F426D3DA05A3}"/>
              </a:ext>
            </a:extLst>
          </p:cNvPr>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7" name="Rectangle 6">
            <a:extLst>
              <a:ext uri="{FF2B5EF4-FFF2-40B4-BE49-F238E27FC236}">
                <a16:creationId xmlns:a16="http://schemas.microsoft.com/office/drawing/2014/main" id="{0B156385-4D71-5F48-E884-F3055837FDC2}"/>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2">
            <a:extLst>
              <a:ext uri="{FF2B5EF4-FFF2-40B4-BE49-F238E27FC236}">
                <a16:creationId xmlns:a16="http://schemas.microsoft.com/office/drawing/2014/main" id="{A2D872E9-593D-76F3-22B9-4AC5856AEE0D}"/>
              </a:ext>
            </a:extLst>
          </p:cNvPr>
          <p:cNvSpPr txBox="1"/>
          <p:nvPr/>
        </p:nvSpPr>
        <p:spPr>
          <a:xfrm>
            <a:off x="8760542" y="914400"/>
            <a:ext cx="3352800" cy="2185214"/>
          </a:xfrm>
          <a:prstGeom prst="rect">
            <a:avLst/>
          </a:prstGeom>
          <a:noFill/>
        </p:spPr>
        <p:txBody>
          <a:bodyPr wrap="square">
            <a:spAutoFit/>
          </a:bodyPr>
          <a:lstStyle/>
          <a:p>
            <a:pPr>
              <a:defRPr sz="1600" b="1">
                <a:solidFill>
                  <a:srgbClr val="FFFFFF"/>
                </a:solidFill>
              </a:defRPr>
            </a:pPr>
            <a:r>
              <a:rPr lang="fr-FR" sz="3200" dirty="0"/>
              <a:t>Créer domaine</a:t>
            </a:r>
          </a:p>
          <a:p>
            <a:pPr>
              <a:defRPr sz="1600" b="1">
                <a:solidFill>
                  <a:srgbClr val="FFFFFF"/>
                </a:solidFill>
              </a:defRPr>
            </a:pPr>
            <a:endParaRPr lang="fr-FR" sz="3200" dirty="0"/>
          </a:p>
          <a:p>
            <a:pPr>
              <a:defRPr sz="1600" b="1">
                <a:solidFill>
                  <a:srgbClr val="FFFFFF"/>
                </a:solidFill>
              </a:defRPr>
            </a:pPr>
            <a:r>
              <a:rPr lang="fr-FR" sz="2400" b="1" dirty="0">
                <a:solidFill>
                  <a:srgbClr val="FFFFFF"/>
                </a:solidFill>
              </a:rPr>
              <a:t>L’éditeur de domaines</a:t>
            </a:r>
          </a:p>
          <a:p>
            <a:pPr>
              <a:defRPr sz="1600" b="1">
                <a:solidFill>
                  <a:srgbClr val="FFFFFF"/>
                </a:solidFill>
              </a:defRPr>
            </a:pPr>
            <a:endParaRPr lang="fr-FR" sz="3200" dirty="0"/>
          </a:p>
          <a:p>
            <a:pPr>
              <a:defRPr sz="1600" b="1">
                <a:solidFill>
                  <a:srgbClr val="FFFFFF"/>
                </a:solidFill>
              </a:defRPr>
            </a:pPr>
            <a:r>
              <a:rPr lang="fr-FR" sz="1600" b="1" dirty="0">
                <a:solidFill>
                  <a:srgbClr val="FFFFFF"/>
                </a:solidFill>
              </a:rPr>
              <a:t>Critères, Autorités et Localisations.</a:t>
            </a:r>
          </a:p>
        </p:txBody>
      </p:sp>
      <p:sp>
        <p:nvSpPr>
          <p:cNvPr id="4" name="TextBox 3">
            <a:extLst>
              <a:ext uri="{FF2B5EF4-FFF2-40B4-BE49-F238E27FC236}">
                <a16:creationId xmlns:a16="http://schemas.microsoft.com/office/drawing/2014/main" id="{B11F861C-5AF1-D836-9935-960978F84FF2}"/>
              </a:ext>
            </a:extLst>
          </p:cNvPr>
          <p:cNvSpPr txBox="1"/>
          <p:nvPr/>
        </p:nvSpPr>
        <p:spPr>
          <a:xfrm>
            <a:off x="502920" y="569914"/>
            <a:ext cx="7667897" cy="5760551"/>
          </a:xfrm>
          <a:prstGeom prst="rect">
            <a:avLst/>
          </a:prstGeom>
          <a:noFill/>
        </p:spPr>
        <p:txBody>
          <a:bodyPr wrap="square">
            <a:spAutoFit/>
          </a:bodyPr>
          <a:lstStyle/>
          <a:p>
            <a:pPr>
              <a:spcAft>
                <a:spcPts val="1100"/>
              </a:spcAft>
              <a:defRPr sz="1800">
                <a:solidFill>
                  <a:srgbClr val="23232D"/>
                </a:solidFill>
              </a:defRPr>
            </a:pPr>
            <a:r>
              <a:rPr lang="fr-FR" sz="1600" b="1" noProof="0" dirty="0">
                <a:solidFill>
                  <a:srgbClr val="002060"/>
                </a:solidFill>
              </a:rPr>
              <a:t>Critères de création d’un domaine</a:t>
            </a:r>
          </a:p>
          <a:p>
            <a:pPr>
              <a:spcAft>
                <a:spcPts val="1100"/>
              </a:spcAft>
              <a:defRPr sz="1800">
                <a:solidFill>
                  <a:srgbClr val="23232D"/>
                </a:solidFill>
              </a:defRPr>
            </a:pPr>
            <a:r>
              <a:rPr lang="fr-FR" sz="1400" b="1" dirty="0">
                <a:solidFill>
                  <a:srgbClr val="002060"/>
                </a:solidFill>
              </a:rPr>
              <a:t>Critères bibliographiques	</a:t>
            </a:r>
          </a:p>
          <a:p>
            <a:pPr>
              <a:spcAft>
                <a:spcPts val="1100"/>
              </a:spcAft>
              <a:defRPr sz="1800">
                <a:solidFill>
                  <a:srgbClr val="23232D"/>
                </a:solidFill>
              </a:defRPr>
            </a:pPr>
            <a:r>
              <a:rPr lang="fr-FR" sz="1400" dirty="0">
                <a:solidFill>
                  <a:srgbClr val="002060"/>
                </a:solidFill>
              </a:rPr>
              <a:t>Titre, auteur, sujet, type de document, langue, date de publication</a:t>
            </a:r>
          </a:p>
          <a:p>
            <a:pPr>
              <a:spcAft>
                <a:spcPts val="1100"/>
              </a:spcAft>
              <a:defRPr sz="1800">
                <a:solidFill>
                  <a:srgbClr val="23232D"/>
                </a:solidFill>
              </a:defRPr>
            </a:pPr>
            <a:r>
              <a:rPr lang="fr-FR" sz="1400" b="1" dirty="0">
                <a:solidFill>
                  <a:srgbClr val="002060"/>
                </a:solidFill>
              </a:rPr>
              <a:t>Autorités	</a:t>
            </a:r>
          </a:p>
          <a:p>
            <a:pPr>
              <a:spcAft>
                <a:spcPts val="1100"/>
              </a:spcAft>
              <a:defRPr sz="1800">
                <a:solidFill>
                  <a:srgbClr val="23232D"/>
                </a:solidFill>
              </a:defRPr>
            </a:pPr>
            <a:r>
              <a:rPr lang="fr-FR" sz="1400" dirty="0">
                <a:solidFill>
                  <a:srgbClr val="002060"/>
                </a:solidFill>
              </a:rPr>
              <a:t>Auteurs, collectivités, sujets ou autres autorités disponibles</a:t>
            </a:r>
          </a:p>
          <a:p>
            <a:pPr>
              <a:spcAft>
                <a:spcPts val="1100"/>
              </a:spcAft>
              <a:defRPr sz="1800">
                <a:solidFill>
                  <a:srgbClr val="23232D"/>
                </a:solidFill>
              </a:defRPr>
            </a:pPr>
            <a:r>
              <a:rPr lang="fr-FR" sz="1400" b="1" dirty="0">
                <a:solidFill>
                  <a:srgbClr val="002060"/>
                </a:solidFill>
              </a:rPr>
              <a:t>Localisations</a:t>
            </a:r>
          </a:p>
          <a:p>
            <a:pPr>
              <a:spcAft>
                <a:spcPts val="1100"/>
              </a:spcAft>
              <a:defRPr sz="1800">
                <a:solidFill>
                  <a:srgbClr val="23232D"/>
                </a:solidFill>
              </a:defRPr>
            </a:pPr>
            <a:r>
              <a:rPr lang="fr-FR" sz="1400" dirty="0">
                <a:solidFill>
                  <a:srgbClr val="002060"/>
                </a:solidFill>
              </a:rPr>
              <a:t>Bibliothèque, site, localisation des exemplaires</a:t>
            </a:r>
          </a:p>
          <a:p>
            <a:pPr>
              <a:spcAft>
                <a:spcPts val="1100"/>
              </a:spcAft>
              <a:defRPr sz="1800">
                <a:solidFill>
                  <a:srgbClr val="23232D"/>
                </a:solidFill>
              </a:defRPr>
            </a:pPr>
            <a:r>
              <a:rPr lang="fr-FR" sz="1400" b="1" dirty="0">
                <a:solidFill>
                  <a:srgbClr val="002060"/>
                </a:solidFill>
              </a:rPr>
              <a:t>Nouveautés</a:t>
            </a:r>
          </a:p>
          <a:p>
            <a:pPr>
              <a:spcAft>
                <a:spcPts val="1100"/>
              </a:spcAft>
              <a:defRPr sz="1800">
                <a:solidFill>
                  <a:srgbClr val="23232D"/>
                </a:solidFill>
              </a:defRPr>
            </a:pPr>
            <a:r>
              <a:rPr lang="fr-FR" sz="1400" b="1" dirty="0">
                <a:solidFill>
                  <a:srgbClr val="002060"/>
                </a:solidFill>
              </a:rPr>
              <a:t>Indexation</a:t>
            </a:r>
            <a:r>
              <a:rPr lang="fr-FR" sz="1400" dirty="0">
                <a:solidFill>
                  <a:srgbClr val="002060"/>
                </a:solidFill>
              </a:rPr>
              <a:t>	</a:t>
            </a:r>
          </a:p>
          <a:p>
            <a:pPr>
              <a:spcAft>
                <a:spcPts val="1100"/>
              </a:spcAft>
              <a:defRPr sz="1800">
                <a:solidFill>
                  <a:srgbClr val="23232D"/>
                </a:solidFill>
              </a:defRPr>
            </a:pPr>
            <a:r>
              <a:rPr lang="fr-FR" sz="1400" dirty="0">
                <a:solidFill>
                  <a:srgbClr val="002060"/>
                </a:solidFill>
              </a:rPr>
              <a:t>Descripteurs et sujets issus de l'indexation bibliographique</a:t>
            </a:r>
          </a:p>
          <a:p>
            <a:pPr>
              <a:spcAft>
                <a:spcPts val="1100"/>
              </a:spcAft>
              <a:defRPr sz="1800">
                <a:solidFill>
                  <a:srgbClr val="23232D"/>
                </a:solidFill>
              </a:defRPr>
            </a:pPr>
            <a:r>
              <a:rPr lang="fr-FR" sz="1400" b="1" dirty="0">
                <a:solidFill>
                  <a:srgbClr val="002060"/>
                </a:solidFill>
              </a:rPr>
              <a:t>Collections</a:t>
            </a:r>
            <a:r>
              <a:rPr lang="fr-FR" sz="1400" dirty="0">
                <a:solidFill>
                  <a:srgbClr val="002060"/>
                </a:solidFill>
              </a:rPr>
              <a:t>	</a:t>
            </a:r>
          </a:p>
          <a:p>
            <a:pPr>
              <a:spcAft>
                <a:spcPts val="1100"/>
              </a:spcAft>
              <a:defRPr sz="1800">
                <a:solidFill>
                  <a:srgbClr val="23232D"/>
                </a:solidFill>
              </a:defRPr>
            </a:pPr>
            <a:r>
              <a:rPr lang="fr-FR" sz="1400" dirty="0">
                <a:solidFill>
                  <a:srgbClr val="002060"/>
                </a:solidFill>
              </a:rPr>
              <a:t>Collections éditoriales ou ensembles documentaires</a:t>
            </a:r>
          </a:p>
          <a:p>
            <a:pPr>
              <a:spcAft>
                <a:spcPts val="1100"/>
              </a:spcAft>
              <a:defRPr sz="1800">
                <a:solidFill>
                  <a:srgbClr val="23232D"/>
                </a:solidFill>
              </a:defRPr>
            </a:pPr>
            <a:endParaRPr lang="fr-FR" sz="1400" dirty="0">
              <a:solidFill>
                <a:srgbClr val="002060"/>
              </a:solidFill>
            </a:endParaRPr>
          </a:p>
          <a:p>
            <a:pPr>
              <a:spcAft>
                <a:spcPts val="1100"/>
              </a:spcAft>
              <a:defRPr sz="1800">
                <a:solidFill>
                  <a:srgbClr val="23232D"/>
                </a:solidFill>
              </a:defRPr>
            </a:pPr>
            <a:endParaRPr lang="fr-FR" sz="1400" dirty="0">
              <a:solidFill>
                <a:srgbClr val="002060"/>
              </a:solidFill>
            </a:endParaRPr>
          </a:p>
          <a:p>
            <a:pPr>
              <a:spcAft>
                <a:spcPts val="1100"/>
              </a:spcAft>
              <a:defRPr sz="1800">
                <a:solidFill>
                  <a:srgbClr val="23232D"/>
                </a:solidFill>
              </a:defRPr>
            </a:pPr>
            <a:r>
              <a:rPr lang="fr-FR" sz="1400" dirty="0">
                <a:solidFill>
                  <a:srgbClr val="002060"/>
                </a:solidFill>
              </a:rPr>
              <a:t>Un domaine peut combiner plusieurs critères pour créer une sélection documentaire ciblée. La pertinence des résultats dépend directement de la qualité du catalogage, de l’indexation et des données de localisation.</a:t>
            </a:r>
          </a:p>
        </p:txBody>
      </p:sp>
    </p:spTree>
    <p:extLst>
      <p:ext uri="{BB962C8B-B14F-4D97-AF65-F5344CB8AC3E}">
        <p14:creationId xmlns:p14="http://schemas.microsoft.com/office/powerpoint/2010/main" val="195809560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03EC725-F685-A04E-57AC-1F1EDFFC42F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1ADDDAD-9698-08D0-BEA0-3BE13D22ABD4}"/>
              </a:ext>
            </a:extLst>
          </p:cNvPr>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7" name="Rectangle 6">
            <a:extLst>
              <a:ext uri="{FF2B5EF4-FFF2-40B4-BE49-F238E27FC236}">
                <a16:creationId xmlns:a16="http://schemas.microsoft.com/office/drawing/2014/main" id="{A769C52B-6B09-5308-9AEC-DDAD072ACBA9}"/>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2">
            <a:extLst>
              <a:ext uri="{FF2B5EF4-FFF2-40B4-BE49-F238E27FC236}">
                <a16:creationId xmlns:a16="http://schemas.microsoft.com/office/drawing/2014/main" id="{92B7AA3D-9FA9-A270-B1AF-5C4CA533AA84}"/>
              </a:ext>
            </a:extLst>
          </p:cNvPr>
          <p:cNvSpPr txBox="1"/>
          <p:nvPr/>
        </p:nvSpPr>
        <p:spPr>
          <a:xfrm>
            <a:off x="8760542" y="914400"/>
            <a:ext cx="3352800" cy="584775"/>
          </a:xfrm>
          <a:prstGeom prst="rect">
            <a:avLst/>
          </a:prstGeom>
          <a:noFill/>
        </p:spPr>
        <p:txBody>
          <a:bodyPr wrap="square">
            <a:spAutoFit/>
          </a:bodyPr>
          <a:lstStyle/>
          <a:p>
            <a:pPr>
              <a:defRPr sz="1600" b="1">
                <a:solidFill>
                  <a:srgbClr val="FFFFFF"/>
                </a:solidFill>
              </a:defRPr>
            </a:pPr>
            <a:r>
              <a:rPr lang="fr-FR" sz="3200" dirty="0"/>
              <a:t>Créer un panier</a:t>
            </a:r>
          </a:p>
        </p:txBody>
      </p:sp>
      <p:sp>
        <p:nvSpPr>
          <p:cNvPr id="4" name="TextBox 3">
            <a:extLst>
              <a:ext uri="{FF2B5EF4-FFF2-40B4-BE49-F238E27FC236}">
                <a16:creationId xmlns:a16="http://schemas.microsoft.com/office/drawing/2014/main" id="{7B0B379A-C3ED-6984-272D-CBF7847DD416}"/>
              </a:ext>
            </a:extLst>
          </p:cNvPr>
          <p:cNvSpPr txBox="1"/>
          <p:nvPr/>
        </p:nvSpPr>
        <p:spPr>
          <a:xfrm>
            <a:off x="502920" y="569914"/>
            <a:ext cx="7667897" cy="4557658"/>
          </a:xfrm>
          <a:prstGeom prst="rect">
            <a:avLst/>
          </a:prstGeom>
          <a:noFill/>
        </p:spPr>
        <p:txBody>
          <a:bodyPr wrap="square">
            <a:spAutoFit/>
          </a:bodyPr>
          <a:lstStyle/>
          <a:p>
            <a:pPr>
              <a:spcAft>
                <a:spcPts val="1100"/>
              </a:spcAft>
              <a:defRPr sz="1800">
                <a:solidFill>
                  <a:srgbClr val="23232D"/>
                </a:solidFill>
              </a:defRPr>
            </a:pPr>
            <a:r>
              <a:rPr lang="fr-FR" sz="1600" b="1" noProof="0" dirty="0">
                <a:solidFill>
                  <a:srgbClr val="002060"/>
                </a:solidFill>
              </a:rPr>
              <a:t>Créer un panier de notices</a:t>
            </a:r>
          </a:p>
          <a:p>
            <a:pPr>
              <a:spcAft>
                <a:spcPts val="1100"/>
              </a:spcAft>
              <a:defRPr sz="1800">
                <a:solidFill>
                  <a:srgbClr val="23232D"/>
                </a:solidFill>
              </a:defRPr>
            </a:pPr>
            <a:r>
              <a:rPr lang="fr-FR" sz="1400" dirty="0">
                <a:solidFill>
                  <a:srgbClr val="002060"/>
                </a:solidFill>
              </a:rPr>
              <a:t>Dans Bokeh, un panier permet de constituer une sélection de notices bibliographiques choisies individuellement dans le catalogue. </a:t>
            </a:r>
            <a:br>
              <a:rPr lang="fr-FR" sz="1400" dirty="0">
                <a:solidFill>
                  <a:srgbClr val="002060"/>
                </a:solidFill>
              </a:rPr>
            </a:br>
            <a:r>
              <a:rPr lang="fr-FR" sz="1400" dirty="0">
                <a:solidFill>
                  <a:srgbClr val="002060"/>
                </a:solidFill>
              </a:rPr>
              <a:t>Contrairement à un domaine, qui repose sur des critères de recherche prédéfinis, le panier permet de sélectionner précisément les documents que l’on souhaite valoriser.</a:t>
            </a:r>
          </a:p>
          <a:p>
            <a:pPr>
              <a:spcAft>
                <a:spcPts val="1100"/>
              </a:spcAft>
              <a:defRPr sz="1800">
                <a:solidFill>
                  <a:srgbClr val="23232D"/>
                </a:solidFill>
              </a:defRPr>
            </a:pPr>
            <a:r>
              <a:rPr lang="fr-FR" sz="1400" dirty="0">
                <a:solidFill>
                  <a:srgbClr val="002060"/>
                </a:solidFill>
              </a:rPr>
              <a:t>Il est particulièrement adapté à la création de sélections documentaires thématiques, de bibliographies ou de présentations de documents choisis par les documentalistes.</a:t>
            </a:r>
          </a:p>
          <a:p>
            <a:pPr>
              <a:spcAft>
                <a:spcPts val="1100"/>
              </a:spcAft>
              <a:defRPr sz="1800">
                <a:solidFill>
                  <a:srgbClr val="23232D"/>
                </a:solidFill>
              </a:defRPr>
            </a:pPr>
            <a:endParaRPr lang="fr-FR" sz="1400" dirty="0">
              <a:solidFill>
                <a:srgbClr val="002060"/>
              </a:solidFill>
            </a:endParaRPr>
          </a:p>
          <a:p>
            <a:pPr>
              <a:spcAft>
                <a:spcPts val="1100"/>
              </a:spcAft>
              <a:defRPr sz="1800">
                <a:solidFill>
                  <a:srgbClr val="23232D"/>
                </a:solidFill>
              </a:defRPr>
            </a:pPr>
            <a:r>
              <a:rPr lang="fr-FR" sz="1600" b="1" dirty="0">
                <a:solidFill>
                  <a:srgbClr val="002060"/>
                </a:solidFill>
              </a:rPr>
              <a:t>Créer une boîte de notices</a:t>
            </a:r>
          </a:p>
          <a:p>
            <a:pPr>
              <a:spcAft>
                <a:spcPts val="1100"/>
              </a:spcAft>
              <a:defRPr sz="1800">
                <a:solidFill>
                  <a:srgbClr val="23232D"/>
                </a:solidFill>
              </a:defRPr>
            </a:pPr>
            <a:r>
              <a:rPr lang="fr-FR" sz="1400" dirty="0">
                <a:solidFill>
                  <a:srgbClr val="002060"/>
                </a:solidFill>
              </a:rPr>
              <a:t>La boîte de notices est un composant de Bokeh permettant d'afficher une sélection de documents sur le portail. Elle peut être alimentée par un panier de notices ou par un domaine bibliographique.</a:t>
            </a:r>
          </a:p>
          <a:p>
            <a:pPr>
              <a:spcAft>
                <a:spcPts val="1100"/>
              </a:spcAft>
              <a:defRPr sz="1800">
                <a:solidFill>
                  <a:srgbClr val="23232D"/>
                </a:solidFill>
              </a:defRPr>
            </a:pPr>
            <a:r>
              <a:rPr lang="fr-FR" sz="1400" dirty="0">
                <a:solidFill>
                  <a:srgbClr val="002060"/>
                </a:solidFill>
              </a:rPr>
              <a:t>Lors de sa configuration, le contributeur sélectionne la source des notices, puis personnalise leur présentation : titre de la boîte, informations affichées (couverture, titre, auteur…), disposition en mur ou en carrousel et nombre de documents visibles.</a:t>
            </a:r>
          </a:p>
          <a:p>
            <a:pPr>
              <a:spcAft>
                <a:spcPts val="1100"/>
              </a:spcAft>
              <a:defRPr sz="1800">
                <a:solidFill>
                  <a:srgbClr val="23232D"/>
                </a:solidFill>
              </a:defRPr>
            </a:pPr>
            <a:r>
              <a:rPr lang="fr-FR" sz="1400" dirty="0">
                <a:solidFill>
                  <a:srgbClr val="002060"/>
                </a:solidFill>
              </a:rPr>
              <a:t>Il est également possible d'ajouter un lien permettant aux visiteurs de consulter l'ensemble des documents de la sélection.</a:t>
            </a:r>
          </a:p>
        </p:txBody>
      </p:sp>
    </p:spTree>
    <p:extLst>
      <p:ext uri="{BB962C8B-B14F-4D97-AF65-F5344CB8AC3E}">
        <p14:creationId xmlns:p14="http://schemas.microsoft.com/office/powerpoint/2010/main" val="128635825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26EEBCA-4729-7C50-F175-B9BDAC53E8A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2A0532B-5DC7-7429-760F-A42FC7993525}"/>
              </a:ext>
            </a:extLst>
          </p:cNvPr>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7" name="Rectangle 6">
            <a:extLst>
              <a:ext uri="{FF2B5EF4-FFF2-40B4-BE49-F238E27FC236}">
                <a16:creationId xmlns:a16="http://schemas.microsoft.com/office/drawing/2014/main" id="{0EA4786D-52EC-684E-FE0F-913B2F5DB1D8}"/>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2">
            <a:extLst>
              <a:ext uri="{FF2B5EF4-FFF2-40B4-BE49-F238E27FC236}">
                <a16:creationId xmlns:a16="http://schemas.microsoft.com/office/drawing/2014/main" id="{FB05C08E-A6E0-E3BC-8819-9716A92FE94B}"/>
              </a:ext>
            </a:extLst>
          </p:cNvPr>
          <p:cNvSpPr txBox="1"/>
          <p:nvPr/>
        </p:nvSpPr>
        <p:spPr>
          <a:xfrm>
            <a:off x="8760542" y="914400"/>
            <a:ext cx="3352800" cy="584775"/>
          </a:xfrm>
          <a:prstGeom prst="rect">
            <a:avLst/>
          </a:prstGeom>
          <a:noFill/>
        </p:spPr>
        <p:txBody>
          <a:bodyPr wrap="square">
            <a:spAutoFit/>
          </a:bodyPr>
          <a:lstStyle/>
          <a:p>
            <a:pPr>
              <a:defRPr sz="1600" b="1">
                <a:solidFill>
                  <a:srgbClr val="FFFFFF"/>
                </a:solidFill>
              </a:defRPr>
            </a:pPr>
            <a:r>
              <a:rPr lang="fr-FR" sz="3200" dirty="0"/>
              <a:t>Créer un panier</a:t>
            </a:r>
          </a:p>
        </p:txBody>
      </p:sp>
      <p:pic>
        <p:nvPicPr>
          <p:cNvPr id="4" name="Image 3">
            <a:extLst>
              <a:ext uri="{FF2B5EF4-FFF2-40B4-BE49-F238E27FC236}">
                <a16:creationId xmlns:a16="http://schemas.microsoft.com/office/drawing/2014/main" id="{77A95AFD-98EE-2207-3FEC-EEB21E325597}"/>
              </a:ext>
            </a:extLst>
          </p:cNvPr>
          <p:cNvPicPr>
            <a:picLocks noChangeAspect="1"/>
          </p:cNvPicPr>
          <p:nvPr/>
        </p:nvPicPr>
        <p:blipFill>
          <a:blip r:embed="rId2"/>
          <a:stretch>
            <a:fillRect/>
          </a:stretch>
        </p:blipFill>
        <p:spPr>
          <a:xfrm>
            <a:off x="678041" y="1105747"/>
            <a:ext cx="7449590" cy="3172268"/>
          </a:xfrm>
          <a:prstGeom prst="rect">
            <a:avLst/>
          </a:prstGeom>
        </p:spPr>
      </p:pic>
    </p:spTree>
    <p:extLst>
      <p:ext uri="{BB962C8B-B14F-4D97-AF65-F5344CB8AC3E}">
        <p14:creationId xmlns:p14="http://schemas.microsoft.com/office/powerpoint/2010/main" val="233211410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ACCF9AC-CCE4-4ECD-4F30-54D9197AD57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B7767E0-6BA6-75BF-DDB2-AC56ED55E80A}"/>
              </a:ext>
            </a:extLst>
          </p:cNvPr>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7" name="Rectangle 6">
            <a:extLst>
              <a:ext uri="{FF2B5EF4-FFF2-40B4-BE49-F238E27FC236}">
                <a16:creationId xmlns:a16="http://schemas.microsoft.com/office/drawing/2014/main" id="{E8504DC6-899C-C733-6ECA-D5D1E8EE5AB7}"/>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2">
            <a:extLst>
              <a:ext uri="{FF2B5EF4-FFF2-40B4-BE49-F238E27FC236}">
                <a16:creationId xmlns:a16="http://schemas.microsoft.com/office/drawing/2014/main" id="{B1592624-1408-FAE6-7087-5AC9743B8927}"/>
              </a:ext>
            </a:extLst>
          </p:cNvPr>
          <p:cNvSpPr txBox="1"/>
          <p:nvPr/>
        </p:nvSpPr>
        <p:spPr>
          <a:xfrm>
            <a:off x="8760542" y="914400"/>
            <a:ext cx="3352800" cy="584775"/>
          </a:xfrm>
          <a:prstGeom prst="rect">
            <a:avLst/>
          </a:prstGeom>
          <a:noFill/>
        </p:spPr>
        <p:txBody>
          <a:bodyPr wrap="square">
            <a:spAutoFit/>
          </a:bodyPr>
          <a:lstStyle/>
          <a:p>
            <a:pPr>
              <a:defRPr sz="1600" b="1">
                <a:solidFill>
                  <a:srgbClr val="FFFFFF"/>
                </a:solidFill>
              </a:defRPr>
            </a:pPr>
            <a:r>
              <a:rPr lang="fr-FR" sz="3200" dirty="0"/>
              <a:t>Créer un panier</a:t>
            </a:r>
          </a:p>
        </p:txBody>
      </p:sp>
      <p:pic>
        <p:nvPicPr>
          <p:cNvPr id="4" name="Image 3">
            <a:extLst>
              <a:ext uri="{FF2B5EF4-FFF2-40B4-BE49-F238E27FC236}">
                <a16:creationId xmlns:a16="http://schemas.microsoft.com/office/drawing/2014/main" id="{472964E6-E43A-E49D-C49F-A203570FC8A5}"/>
              </a:ext>
            </a:extLst>
          </p:cNvPr>
          <p:cNvPicPr>
            <a:picLocks noChangeAspect="1"/>
          </p:cNvPicPr>
          <p:nvPr/>
        </p:nvPicPr>
        <p:blipFill>
          <a:blip r:embed="rId2"/>
          <a:srcRect l="66046" t="14377" r="7012" b="16123"/>
          <a:stretch>
            <a:fillRect/>
          </a:stretch>
        </p:blipFill>
        <p:spPr>
          <a:xfrm>
            <a:off x="2915632" y="260089"/>
            <a:ext cx="5649838" cy="4554506"/>
          </a:xfrm>
          <a:prstGeom prst="rect">
            <a:avLst/>
          </a:prstGeom>
        </p:spPr>
      </p:pic>
      <p:sp>
        <p:nvSpPr>
          <p:cNvPr id="5" name="ZoneTexte 4">
            <a:extLst>
              <a:ext uri="{FF2B5EF4-FFF2-40B4-BE49-F238E27FC236}">
                <a16:creationId xmlns:a16="http://schemas.microsoft.com/office/drawing/2014/main" id="{868C361C-964D-6EF9-DF0D-BC4EF3865048}"/>
              </a:ext>
            </a:extLst>
          </p:cNvPr>
          <p:cNvSpPr txBox="1"/>
          <p:nvPr/>
        </p:nvSpPr>
        <p:spPr>
          <a:xfrm>
            <a:off x="585956" y="1068288"/>
            <a:ext cx="2041231" cy="1169551"/>
          </a:xfrm>
          <a:prstGeom prst="rect">
            <a:avLst/>
          </a:prstGeom>
          <a:solidFill>
            <a:schemeClr val="bg1"/>
          </a:solidFill>
        </p:spPr>
        <p:txBody>
          <a:bodyPr wrap="square">
            <a:spAutoFit/>
          </a:bodyPr>
          <a:lstStyle/>
          <a:p>
            <a:r>
              <a:rPr lang="fr-FR" sz="1400" dirty="0">
                <a:solidFill>
                  <a:srgbClr val="002060"/>
                </a:solidFill>
              </a:rPr>
              <a:t>Faire une recherche dans BOKEH</a:t>
            </a:r>
            <a:br>
              <a:rPr lang="fr-FR" sz="1400" dirty="0">
                <a:solidFill>
                  <a:srgbClr val="002060"/>
                </a:solidFill>
              </a:rPr>
            </a:br>
            <a:r>
              <a:rPr lang="fr-FR" sz="1400" dirty="0">
                <a:solidFill>
                  <a:srgbClr val="002060"/>
                </a:solidFill>
              </a:rPr>
              <a:t>Cliquer sur « Plus d’actions »</a:t>
            </a:r>
            <a:br>
              <a:rPr lang="fr-FR" sz="1400" dirty="0">
                <a:solidFill>
                  <a:srgbClr val="002060"/>
                </a:solidFill>
              </a:rPr>
            </a:br>
            <a:r>
              <a:rPr lang="fr-FR" sz="1400" dirty="0">
                <a:solidFill>
                  <a:srgbClr val="002060"/>
                </a:solidFill>
              </a:rPr>
              <a:t>Cliquer sur «Ajouter »</a:t>
            </a:r>
          </a:p>
        </p:txBody>
      </p:sp>
      <p:cxnSp>
        <p:nvCxnSpPr>
          <p:cNvPr id="6" name="Connecteur droit avec flèche 5">
            <a:extLst>
              <a:ext uri="{FF2B5EF4-FFF2-40B4-BE49-F238E27FC236}">
                <a16:creationId xmlns:a16="http://schemas.microsoft.com/office/drawing/2014/main" id="{26F4D7E4-112E-0E4D-4C88-DB123BC0CCAC}"/>
              </a:ext>
            </a:extLst>
          </p:cNvPr>
          <p:cNvCxnSpPr>
            <a:cxnSpLocks/>
            <a:stCxn id="5" idx="3"/>
          </p:cNvCxnSpPr>
          <p:nvPr/>
        </p:nvCxnSpPr>
        <p:spPr>
          <a:xfrm flipV="1">
            <a:off x="2627187" y="503853"/>
            <a:ext cx="3468813" cy="114921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14" name="Image 13">
            <a:extLst>
              <a:ext uri="{FF2B5EF4-FFF2-40B4-BE49-F238E27FC236}">
                <a16:creationId xmlns:a16="http://schemas.microsoft.com/office/drawing/2014/main" id="{37ED537E-A148-BE8A-4E5D-619EE619AA70}"/>
              </a:ext>
            </a:extLst>
          </p:cNvPr>
          <p:cNvPicPr>
            <a:picLocks noChangeAspect="1"/>
          </p:cNvPicPr>
          <p:nvPr/>
        </p:nvPicPr>
        <p:blipFill>
          <a:blip r:embed="rId3"/>
          <a:stretch>
            <a:fillRect/>
          </a:stretch>
        </p:blipFill>
        <p:spPr>
          <a:xfrm>
            <a:off x="3281945" y="4937056"/>
            <a:ext cx="4917212" cy="1695590"/>
          </a:xfrm>
          <a:prstGeom prst="rect">
            <a:avLst/>
          </a:prstGeom>
        </p:spPr>
      </p:pic>
      <p:sp>
        <p:nvSpPr>
          <p:cNvPr id="15" name="ZoneTexte 14">
            <a:extLst>
              <a:ext uri="{FF2B5EF4-FFF2-40B4-BE49-F238E27FC236}">
                <a16:creationId xmlns:a16="http://schemas.microsoft.com/office/drawing/2014/main" id="{2F63CE68-6DA3-E2D3-F362-DE8168D606E9}"/>
              </a:ext>
            </a:extLst>
          </p:cNvPr>
          <p:cNvSpPr txBox="1"/>
          <p:nvPr/>
        </p:nvSpPr>
        <p:spPr>
          <a:xfrm>
            <a:off x="585956" y="5204936"/>
            <a:ext cx="2041231" cy="523220"/>
          </a:xfrm>
          <a:prstGeom prst="rect">
            <a:avLst/>
          </a:prstGeom>
          <a:solidFill>
            <a:schemeClr val="bg1"/>
          </a:solidFill>
        </p:spPr>
        <p:txBody>
          <a:bodyPr wrap="square">
            <a:spAutoFit/>
          </a:bodyPr>
          <a:lstStyle/>
          <a:p>
            <a:r>
              <a:rPr lang="fr-FR" sz="1400" dirty="0">
                <a:solidFill>
                  <a:srgbClr val="002060"/>
                </a:solidFill>
              </a:rPr>
              <a:t>Ajouter un document dans un nouveau panier </a:t>
            </a:r>
          </a:p>
        </p:txBody>
      </p:sp>
    </p:spTree>
    <p:extLst>
      <p:ext uri="{BB962C8B-B14F-4D97-AF65-F5344CB8AC3E}">
        <p14:creationId xmlns:p14="http://schemas.microsoft.com/office/powerpoint/2010/main" val="229191923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B6DD1D6-2DDF-8D5F-79A9-3895CB10D23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E719A82-404E-BBFD-683A-8120B1173A52}"/>
              </a:ext>
            </a:extLst>
          </p:cNvPr>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7" name="Rectangle 6">
            <a:extLst>
              <a:ext uri="{FF2B5EF4-FFF2-40B4-BE49-F238E27FC236}">
                <a16:creationId xmlns:a16="http://schemas.microsoft.com/office/drawing/2014/main" id="{0A77D417-BFDC-E48E-9D9F-31BEC7AB409E}"/>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2">
            <a:extLst>
              <a:ext uri="{FF2B5EF4-FFF2-40B4-BE49-F238E27FC236}">
                <a16:creationId xmlns:a16="http://schemas.microsoft.com/office/drawing/2014/main" id="{2DC7307C-B97D-F821-5C67-FAD31C0C17EA}"/>
              </a:ext>
            </a:extLst>
          </p:cNvPr>
          <p:cNvSpPr txBox="1"/>
          <p:nvPr/>
        </p:nvSpPr>
        <p:spPr>
          <a:xfrm>
            <a:off x="8760542" y="914400"/>
            <a:ext cx="3352800" cy="584775"/>
          </a:xfrm>
          <a:prstGeom prst="rect">
            <a:avLst/>
          </a:prstGeom>
          <a:noFill/>
        </p:spPr>
        <p:txBody>
          <a:bodyPr wrap="square">
            <a:spAutoFit/>
          </a:bodyPr>
          <a:lstStyle/>
          <a:p>
            <a:pPr>
              <a:defRPr sz="1600" b="1">
                <a:solidFill>
                  <a:srgbClr val="FFFFFF"/>
                </a:solidFill>
              </a:defRPr>
            </a:pPr>
            <a:r>
              <a:rPr lang="fr-FR" sz="3200" dirty="0"/>
              <a:t>Créer un panier</a:t>
            </a:r>
          </a:p>
        </p:txBody>
      </p:sp>
      <p:pic>
        <p:nvPicPr>
          <p:cNvPr id="4" name="Image 3">
            <a:extLst>
              <a:ext uri="{FF2B5EF4-FFF2-40B4-BE49-F238E27FC236}">
                <a16:creationId xmlns:a16="http://schemas.microsoft.com/office/drawing/2014/main" id="{77ECF7C7-7386-1A00-22EA-943C527FCFC8}"/>
              </a:ext>
            </a:extLst>
          </p:cNvPr>
          <p:cNvPicPr>
            <a:picLocks noChangeAspect="1"/>
          </p:cNvPicPr>
          <p:nvPr/>
        </p:nvPicPr>
        <p:blipFill>
          <a:blip r:embed="rId2"/>
          <a:stretch>
            <a:fillRect/>
          </a:stretch>
        </p:blipFill>
        <p:spPr>
          <a:xfrm>
            <a:off x="3326987" y="868636"/>
            <a:ext cx="5090156" cy="5120728"/>
          </a:xfrm>
          <a:prstGeom prst="rect">
            <a:avLst/>
          </a:prstGeom>
        </p:spPr>
      </p:pic>
      <p:sp>
        <p:nvSpPr>
          <p:cNvPr id="5" name="ZoneTexte 4">
            <a:extLst>
              <a:ext uri="{FF2B5EF4-FFF2-40B4-BE49-F238E27FC236}">
                <a16:creationId xmlns:a16="http://schemas.microsoft.com/office/drawing/2014/main" id="{4C9C2FAA-5758-60DA-A590-3E453793F66C}"/>
              </a:ext>
            </a:extLst>
          </p:cNvPr>
          <p:cNvSpPr txBox="1"/>
          <p:nvPr/>
        </p:nvSpPr>
        <p:spPr>
          <a:xfrm>
            <a:off x="585956" y="1264235"/>
            <a:ext cx="2041231" cy="738664"/>
          </a:xfrm>
          <a:prstGeom prst="rect">
            <a:avLst/>
          </a:prstGeom>
          <a:solidFill>
            <a:schemeClr val="bg1"/>
          </a:solidFill>
        </p:spPr>
        <p:txBody>
          <a:bodyPr wrap="square">
            <a:spAutoFit/>
          </a:bodyPr>
          <a:lstStyle/>
          <a:p>
            <a:r>
              <a:rPr lang="fr-FR" sz="1400" dirty="0">
                <a:solidFill>
                  <a:srgbClr val="002060"/>
                </a:solidFill>
              </a:rPr>
              <a:t>Ajouter un titre au panier et sélectionner la position du panier</a:t>
            </a:r>
          </a:p>
        </p:txBody>
      </p:sp>
      <p:cxnSp>
        <p:nvCxnSpPr>
          <p:cNvPr id="6" name="Connecteur droit avec flèche 5">
            <a:extLst>
              <a:ext uri="{FF2B5EF4-FFF2-40B4-BE49-F238E27FC236}">
                <a16:creationId xmlns:a16="http://schemas.microsoft.com/office/drawing/2014/main" id="{C26AB07C-0CF7-027E-0DA1-64B2DF289D52}"/>
              </a:ext>
            </a:extLst>
          </p:cNvPr>
          <p:cNvCxnSpPr>
            <a:cxnSpLocks/>
            <a:stCxn id="5" idx="3"/>
          </p:cNvCxnSpPr>
          <p:nvPr/>
        </p:nvCxnSpPr>
        <p:spPr>
          <a:xfrm>
            <a:off x="2627187" y="1633567"/>
            <a:ext cx="287787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1" name="ZoneTexte 10">
            <a:extLst>
              <a:ext uri="{FF2B5EF4-FFF2-40B4-BE49-F238E27FC236}">
                <a16:creationId xmlns:a16="http://schemas.microsoft.com/office/drawing/2014/main" id="{B9EA553F-75B5-B09A-00A0-886BAAABBDA7}"/>
              </a:ext>
            </a:extLst>
          </p:cNvPr>
          <p:cNvSpPr txBox="1"/>
          <p:nvPr/>
        </p:nvSpPr>
        <p:spPr>
          <a:xfrm>
            <a:off x="585956" y="3811465"/>
            <a:ext cx="2041231" cy="523220"/>
          </a:xfrm>
          <a:prstGeom prst="rect">
            <a:avLst/>
          </a:prstGeom>
          <a:solidFill>
            <a:schemeClr val="bg1"/>
          </a:solidFill>
        </p:spPr>
        <p:txBody>
          <a:bodyPr wrap="square">
            <a:spAutoFit/>
          </a:bodyPr>
          <a:lstStyle/>
          <a:p>
            <a:r>
              <a:rPr lang="fr-FR" sz="1400" dirty="0">
                <a:solidFill>
                  <a:srgbClr val="002060"/>
                </a:solidFill>
              </a:rPr>
              <a:t>Sélectionner un emplacement</a:t>
            </a:r>
          </a:p>
        </p:txBody>
      </p:sp>
      <p:cxnSp>
        <p:nvCxnSpPr>
          <p:cNvPr id="12" name="Connecteur droit avec flèche 11">
            <a:extLst>
              <a:ext uri="{FF2B5EF4-FFF2-40B4-BE49-F238E27FC236}">
                <a16:creationId xmlns:a16="http://schemas.microsoft.com/office/drawing/2014/main" id="{B9680F09-AB08-2CBD-E9F7-4592B0475A8A}"/>
              </a:ext>
            </a:extLst>
          </p:cNvPr>
          <p:cNvCxnSpPr>
            <a:cxnSpLocks/>
          </p:cNvCxnSpPr>
          <p:nvPr/>
        </p:nvCxnSpPr>
        <p:spPr>
          <a:xfrm>
            <a:off x="1888050" y="4050196"/>
            <a:ext cx="165758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5236264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F8146E1-71A9-A0FA-7481-FAE9BE6BCA7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F81C68B-4002-2F17-2CE1-90130075C118}"/>
              </a:ext>
            </a:extLst>
          </p:cNvPr>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7" name="Rectangle 6">
            <a:extLst>
              <a:ext uri="{FF2B5EF4-FFF2-40B4-BE49-F238E27FC236}">
                <a16:creationId xmlns:a16="http://schemas.microsoft.com/office/drawing/2014/main" id="{5F8B6764-3D36-2ACD-2FF7-EC62B796CE03}"/>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2">
            <a:extLst>
              <a:ext uri="{FF2B5EF4-FFF2-40B4-BE49-F238E27FC236}">
                <a16:creationId xmlns:a16="http://schemas.microsoft.com/office/drawing/2014/main" id="{62258DE3-D6CC-A9A0-7BBD-403E7A63C0B3}"/>
              </a:ext>
            </a:extLst>
          </p:cNvPr>
          <p:cNvSpPr txBox="1"/>
          <p:nvPr/>
        </p:nvSpPr>
        <p:spPr>
          <a:xfrm>
            <a:off x="8760542" y="914400"/>
            <a:ext cx="3352800" cy="584775"/>
          </a:xfrm>
          <a:prstGeom prst="rect">
            <a:avLst/>
          </a:prstGeom>
          <a:noFill/>
        </p:spPr>
        <p:txBody>
          <a:bodyPr wrap="square">
            <a:spAutoFit/>
          </a:bodyPr>
          <a:lstStyle/>
          <a:p>
            <a:pPr>
              <a:defRPr sz="1600" b="1">
                <a:solidFill>
                  <a:srgbClr val="FFFFFF"/>
                </a:solidFill>
              </a:defRPr>
            </a:pPr>
            <a:r>
              <a:rPr lang="fr-FR" sz="3200" dirty="0"/>
              <a:t>Créer un panier</a:t>
            </a:r>
          </a:p>
        </p:txBody>
      </p:sp>
      <p:pic>
        <p:nvPicPr>
          <p:cNvPr id="4" name="Image 3">
            <a:extLst>
              <a:ext uri="{FF2B5EF4-FFF2-40B4-BE49-F238E27FC236}">
                <a16:creationId xmlns:a16="http://schemas.microsoft.com/office/drawing/2014/main" id="{0A315695-84C1-6D7A-0332-49E27E0A721B}"/>
              </a:ext>
            </a:extLst>
          </p:cNvPr>
          <p:cNvPicPr>
            <a:picLocks noChangeAspect="1"/>
          </p:cNvPicPr>
          <p:nvPr/>
        </p:nvPicPr>
        <p:blipFill>
          <a:blip r:embed="rId2"/>
          <a:stretch>
            <a:fillRect/>
          </a:stretch>
        </p:blipFill>
        <p:spPr>
          <a:xfrm>
            <a:off x="3163077" y="444845"/>
            <a:ext cx="5250024" cy="1192830"/>
          </a:xfrm>
          <a:prstGeom prst="rect">
            <a:avLst/>
          </a:prstGeom>
        </p:spPr>
      </p:pic>
      <p:sp>
        <p:nvSpPr>
          <p:cNvPr id="5" name="ZoneTexte 4">
            <a:extLst>
              <a:ext uri="{FF2B5EF4-FFF2-40B4-BE49-F238E27FC236}">
                <a16:creationId xmlns:a16="http://schemas.microsoft.com/office/drawing/2014/main" id="{DA3EF954-48F1-7746-9D23-026A1006C141}"/>
              </a:ext>
            </a:extLst>
          </p:cNvPr>
          <p:cNvSpPr txBox="1"/>
          <p:nvPr/>
        </p:nvSpPr>
        <p:spPr>
          <a:xfrm>
            <a:off x="396026" y="1292574"/>
            <a:ext cx="1591399" cy="307777"/>
          </a:xfrm>
          <a:prstGeom prst="rect">
            <a:avLst/>
          </a:prstGeom>
          <a:solidFill>
            <a:schemeClr val="bg1"/>
          </a:solidFill>
        </p:spPr>
        <p:txBody>
          <a:bodyPr wrap="square">
            <a:spAutoFit/>
          </a:bodyPr>
          <a:lstStyle/>
          <a:p>
            <a:r>
              <a:rPr lang="fr-FR" sz="1400" dirty="0">
                <a:solidFill>
                  <a:srgbClr val="002060"/>
                </a:solidFill>
              </a:rPr>
              <a:t>Accéder au panier </a:t>
            </a:r>
          </a:p>
        </p:txBody>
      </p:sp>
      <p:cxnSp>
        <p:nvCxnSpPr>
          <p:cNvPr id="6" name="Connecteur droit avec flèche 5">
            <a:extLst>
              <a:ext uri="{FF2B5EF4-FFF2-40B4-BE49-F238E27FC236}">
                <a16:creationId xmlns:a16="http://schemas.microsoft.com/office/drawing/2014/main" id="{DC55687F-E6F3-AD36-1937-B1F800E6FBBE}"/>
              </a:ext>
            </a:extLst>
          </p:cNvPr>
          <p:cNvCxnSpPr>
            <a:cxnSpLocks/>
            <a:stCxn id="5" idx="3"/>
          </p:cNvCxnSpPr>
          <p:nvPr/>
        </p:nvCxnSpPr>
        <p:spPr>
          <a:xfrm>
            <a:off x="1987425" y="1446463"/>
            <a:ext cx="128762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12" name="Image 11">
            <a:extLst>
              <a:ext uri="{FF2B5EF4-FFF2-40B4-BE49-F238E27FC236}">
                <a16:creationId xmlns:a16="http://schemas.microsoft.com/office/drawing/2014/main" id="{5389FE6C-7B3D-F50B-8090-CEEEF2A0717D}"/>
              </a:ext>
            </a:extLst>
          </p:cNvPr>
          <p:cNvPicPr>
            <a:picLocks noChangeAspect="1"/>
          </p:cNvPicPr>
          <p:nvPr/>
        </p:nvPicPr>
        <p:blipFill>
          <a:blip r:embed="rId3"/>
          <a:stretch>
            <a:fillRect/>
          </a:stretch>
        </p:blipFill>
        <p:spPr>
          <a:xfrm>
            <a:off x="1520889" y="1754240"/>
            <a:ext cx="6892212" cy="4883146"/>
          </a:xfrm>
          <a:prstGeom prst="rect">
            <a:avLst/>
          </a:prstGeom>
        </p:spPr>
      </p:pic>
    </p:spTree>
    <p:extLst>
      <p:ext uri="{BB962C8B-B14F-4D97-AF65-F5344CB8AC3E}">
        <p14:creationId xmlns:p14="http://schemas.microsoft.com/office/powerpoint/2010/main" val="428718942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A39B909-308B-48FA-E056-C868238D0CD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E99083A-7AC7-8F0F-BD26-A5F80CD295E9}"/>
              </a:ext>
            </a:extLst>
          </p:cNvPr>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7" name="Rectangle 6">
            <a:extLst>
              <a:ext uri="{FF2B5EF4-FFF2-40B4-BE49-F238E27FC236}">
                <a16:creationId xmlns:a16="http://schemas.microsoft.com/office/drawing/2014/main" id="{05980F84-A199-1930-0442-19A5D1FB53E6}"/>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2">
            <a:extLst>
              <a:ext uri="{FF2B5EF4-FFF2-40B4-BE49-F238E27FC236}">
                <a16:creationId xmlns:a16="http://schemas.microsoft.com/office/drawing/2014/main" id="{7FAEFCFE-37CA-970B-BB6E-88B90D022716}"/>
              </a:ext>
            </a:extLst>
          </p:cNvPr>
          <p:cNvSpPr txBox="1"/>
          <p:nvPr/>
        </p:nvSpPr>
        <p:spPr>
          <a:xfrm>
            <a:off x="8760542" y="914400"/>
            <a:ext cx="3352800" cy="1077218"/>
          </a:xfrm>
          <a:prstGeom prst="rect">
            <a:avLst/>
          </a:prstGeom>
          <a:noFill/>
        </p:spPr>
        <p:txBody>
          <a:bodyPr wrap="square">
            <a:spAutoFit/>
          </a:bodyPr>
          <a:lstStyle/>
          <a:p>
            <a:pPr>
              <a:defRPr sz="1600" b="1">
                <a:solidFill>
                  <a:srgbClr val="FFFFFF"/>
                </a:solidFill>
              </a:defRPr>
            </a:pPr>
            <a:r>
              <a:rPr lang="fr-FR" sz="3200" dirty="0"/>
              <a:t>Créer une boite </a:t>
            </a:r>
            <a:br>
              <a:rPr lang="fr-FR" sz="3200" dirty="0"/>
            </a:br>
            <a:r>
              <a:rPr lang="fr-FR" sz="3200" dirty="0"/>
              <a:t>de </a:t>
            </a:r>
            <a:r>
              <a:rPr lang="fr-FR" sz="3200" b="1" dirty="0">
                <a:solidFill>
                  <a:srgbClr val="FFFFFF"/>
                </a:solidFill>
              </a:rPr>
              <a:t>notices</a:t>
            </a:r>
          </a:p>
        </p:txBody>
      </p:sp>
      <p:pic>
        <p:nvPicPr>
          <p:cNvPr id="4" name="Image 3">
            <a:extLst>
              <a:ext uri="{FF2B5EF4-FFF2-40B4-BE49-F238E27FC236}">
                <a16:creationId xmlns:a16="http://schemas.microsoft.com/office/drawing/2014/main" id="{60AAC322-027A-3359-0C04-D3827D01EB75}"/>
              </a:ext>
            </a:extLst>
          </p:cNvPr>
          <p:cNvPicPr>
            <a:picLocks noChangeAspect="1"/>
          </p:cNvPicPr>
          <p:nvPr/>
        </p:nvPicPr>
        <p:blipFill>
          <a:blip r:embed="rId2"/>
          <a:stretch>
            <a:fillRect/>
          </a:stretch>
        </p:blipFill>
        <p:spPr>
          <a:xfrm>
            <a:off x="486134" y="686771"/>
            <a:ext cx="7911416" cy="1976144"/>
          </a:xfrm>
          <a:prstGeom prst="rect">
            <a:avLst/>
          </a:prstGeom>
        </p:spPr>
      </p:pic>
      <p:sp>
        <p:nvSpPr>
          <p:cNvPr id="5" name="ZoneTexte 4">
            <a:extLst>
              <a:ext uri="{FF2B5EF4-FFF2-40B4-BE49-F238E27FC236}">
                <a16:creationId xmlns:a16="http://schemas.microsoft.com/office/drawing/2014/main" id="{E5897BBC-A416-4D70-CEC1-C01B8C320616}"/>
              </a:ext>
            </a:extLst>
          </p:cNvPr>
          <p:cNvSpPr txBox="1"/>
          <p:nvPr/>
        </p:nvSpPr>
        <p:spPr>
          <a:xfrm>
            <a:off x="2090995" y="2757196"/>
            <a:ext cx="2041231" cy="523220"/>
          </a:xfrm>
          <a:prstGeom prst="rect">
            <a:avLst/>
          </a:prstGeom>
          <a:solidFill>
            <a:schemeClr val="bg1"/>
          </a:solidFill>
        </p:spPr>
        <p:txBody>
          <a:bodyPr wrap="square">
            <a:spAutoFit/>
          </a:bodyPr>
          <a:lstStyle/>
          <a:p>
            <a:r>
              <a:rPr lang="fr-FR" sz="1400" dirty="0">
                <a:solidFill>
                  <a:srgbClr val="002060"/>
                </a:solidFill>
              </a:rPr>
              <a:t>Dans un article, insérer un kiosque de notices </a:t>
            </a:r>
          </a:p>
        </p:txBody>
      </p:sp>
      <p:cxnSp>
        <p:nvCxnSpPr>
          <p:cNvPr id="6" name="Connecteur droit avec flèche 5">
            <a:extLst>
              <a:ext uri="{FF2B5EF4-FFF2-40B4-BE49-F238E27FC236}">
                <a16:creationId xmlns:a16="http://schemas.microsoft.com/office/drawing/2014/main" id="{A9654C08-2841-EA0B-2C6D-BA45D2856F94}"/>
              </a:ext>
            </a:extLst>
          </p:cNvPr>
          <p:cNvCxnSpPr>
            <a:cxnSpLocks/>
          </p:cNvCxnSpPr>
          <p:nvPr/>
        </p:nvCxnSpPr>
        <p:spPr>
          <a:xfrm flipH="1" flipV="1">
            <a:off x="3111610" y="1530220"/>
            <a:ext cx="1" cy="124097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15" name="Image 14">
            <a:extLst>
              <a:ext uri="{FF2B5EF4-FFF2-40B4-BE49-F238E27FC236}">
                <a16:creationId xmlns:a16="http://schemas.microsoft.com/office/drawing/2014/main" id="{52E53769-2C17-8404-7C0A-FB442BBFA201}"/>
              </a:ext>
            </a:extLst>
          </p:cNvPr>
          <p:cNvPicPr>
            <a:picLocks noChangeAspect="1"/>
          </p:cNvPicPr>
          <p:nvPr/>
        </p:nvPicPr>
        <p:blipFill>
          <a:blip r:embed="rId3"/>
          <a:stretch>
            <a:fillRect/>
          </a:stretch>
        </p:blipFill>
        <p:spPr>
          <a:xfrm>
            <a:off x="4423229" y="1991618"/>
            <a:ext cx="3731286" cy="4406936"/>
          </a:xfrm>
          <a:prstGeom prst="rect">
            <a:avLst/>
          </a:prstGeom>
        </p:spPr>
      </p:pic>
      <p:sp>
        <p:nvSpPr>
          <p:cNvPr id="16" name="ZoneTexte 15">
            <a:extLst>
              <a:ext uri="{FF2B5EF4-FFF2-40B4-BE49-F238E27FC236}">
                <a16:creationId xmlns:a16="http://schemas.microsoft.com/office/drawing/2014/main" id="{773AD51C-6CF1-28EE-6EBC-D05AA073C595}"/>
              </a:ext>
            </a:extLst>
          </p:cNvPr>
          <p:cNvSpPr txBox="1"/>
          <p:nvPr/>
        </p:nvSpPr>
        <p:spPr>
          <a:xfrm>
            <a:off x="2090995" y="4007514"/>
            <a:ext cx="2041231" cy="307777"/>
          </a:xfrm>
          <a:prstGeom prst="rect">
            <a:avLst/>
          </a:prstGeom>
          <a:solidFill>
            <a:schemeClr val="bg1"/>
          </a:solidFill>
        </p:spPr>
        <p:txBody>
          <a:bodyPr wrap="square">
            <a:spAutoFit/>
          </a:bodyPr>
          <a:lstStyle/>
          <a:p>
            <a:r>
              <a:rPr lang="fr-FR" sz="1400" dirty="0">
                <a:solidFill>
                  <a:srgbClr val="002060"/>
                </a:solidFill>
              </a:rPr>
              <a:t>Choisir le panier</a:t>
            </a:r>
          </a:p>
        </p:txBody>
      </p:sp>
      <p:cxnSp>
        <p:nvCxnSpPr>
          <p:cNvPr id="17" name="Connecteur droit avec flèche 16">
            <a:extLst>
              <a:ext uri="{FF2B5EF4-FFF2-40B4-BE49-F238E27FC236}">
                <a16:creationId xmlns:a16="http://schemas.microsoft.com/office/drawing/2014/main" id="{06FB98AE-B29F-C56E-F893-C57E8C5DBEE0}"/>
              </a:ext>
            </a:extLst>
          </p:cNvPr>
          <p:cNvCxnSpPr>
            <a:cxnSpLocks/>
          </p:cNvCxnSpPr>
          <p:nvPr/>
        </p:nvCxnSpPr>
        <p:spPr>
          <a:xfrm>
            <a:off x="3936664" y="4269125"/>
            <a:ext cx="43909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5033074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275DBAB-E8D1-A99D-DB73-5FB4B40898B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922D602-60DE-770E-A5FA-98E05F50FDD5}"/>
              </a:ext>
            </a:extLst>
          </p:cNvPr>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7" name="Rectangle 6">
            <a:extLst>
              <a:ext uri="{FF2B5EF4-FFF2-40B4-BE49-F238E27FC236}">
                <a16:creationId xmlns:a16="http://schemas.microsoft.com/office/drawing/2014/main" id="{FC23FF97-3E44-9AD4-E113-24F0FBB63BD7}"/>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2">
            <a:extLst>
              <a:ext uri="{FF2B5EF4-FFF2-40B4-BE49-F238E27FC236}">
                <a16:creationId xmlns:a16="http://schemas.microsoft.com/office/drawing/2014/main" id="{64BBFB3B-7554-28E4-EC4C-F39033400AD1}"/>
              </a:ext>
            </a:extLst>
          </p:cNvPr>
          <p:cNvSpPr txBox="1"/>
          <p:nvPr/>
        </p:nvSpPr>
        <p:spPr>
          <a:xfrm>
            <a:off x="8760542" y="914400"/>
            <a:ext cx="3352800" cy="1077218"/>
          </a:xfrm>
          <a:prstGeom prst="rect">
            <a:avLst/>
          </a:prstGeom>
          <a:noFill/>
        </p:spPr>
        <p:txBody>
          <a:bodyPr wrap="square">
            <a:spAutoFit/>
          </a:bodyPr>
          <a:lstStyle/>
          <a:p>
            <a:pPr>
              <a:defRPr sz="1600" b="1">
                <a:solidFill>
                  <a:srgbClr val="FFFFFF"/>
                </a:solidFill>
              </a:defRPr>
            </a:pPr>
            <a:r>
              <a:rPr lang="fr-FR" sz="3200" dirty="0"/>
              <a:t>Créer une boite </a:t>
            </a:r>
            <a:br>
              <a:rPr lang="fr-FR" sz="3200" dirty="0"/>
            </a:br>
            <a:r>
              <a:rPr lang="fr-FR" sz="3200" dirty="0"/>
              <a:t>de </a:t>
            </a:r>
            <a:r>
              <a:rPr lang="fr-FR" sz="3200" b="1" dirty="0">
                <a:solidFill>
                  <a:srgbClr val="FFFFFF"/>
                </a:solidFill>
              </a:rPr>
              <a:t>notices</a:t>
            </a:r>
          </a:p>
        </p:txBody>
      </p:sp>
      <p:pic>
        <p:nvPicPr>
          <p:cNvPr id="4" name="Image 3">
            <a:extLst>
              <a:ext uri="{FF2B5EF4-FFF2-40B4-BE49-F238E27FC236}">
                <a16:creationId xmlns:a16="http://schemas.microsoft.com/office/drawing/2014/main" id="{1358BA9D-FE64-93D5-F53B-032CC3F3FAA8}"/>
              </a:ext>
            </a:extLst>
          </p:cNvPr>
          <p:cNvPicPr>
            <a:picLocks noChangeAspect="1"/>
          </p:cNvPicPr>
          <p:nvPr/>
        </p:nvPicPr>
        <p:blipFill>
          <a:blip r:embed="rId2"/>
          <a:stretch>
            <a:fillRect/>
          </a:stretch>
        </p:blipFill>
        <p:spPr>
          <a:xfrm>
            <a:off x="774441" y="353519"/>
            <a:ext cx="7396064" cy="6150962"/>
          </a:xfrm>
          <a:prstGeom prst="rect">
            <a:avLst/>
          </a:prstGeom>
        </p:spPr>
      </p:pic>
    </p:spTree>
    <p:extLst>
      <p:ext uri="{BB962C8B-B14F-4D97-AF65-F5344CB8AC3E}">
        <p14:creationId xmlns:p14="http://schemas.microsoft.com/office/powerpoint/2010/main" val="377426660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EC6B4DA-5267-93DC-25D5-64FDFC0E3ED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095E2D5-8C55-0B75-51B2-1E57E232C0EE}"/>
              </a:ext>
            </a:extLst>
          </p:cNvPr>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7" name="Rectangle 6">
            <a:extLst>
              <a:ext uri="{FF2B5EF4-FFF2-40B4-BE49-F238E27FC236}">
                <a16:creationId xmlns:a16="http://schemas.microsoft.com/office/drawing/2014/main" id="{5056390B-BE9B-4BDD-0560-CC9CDC57E05E}"/>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2">
            <a:extLst>
              <a:ext uri="{FF2B5EF4-FFF2-40B4-BE49-F238E27FC236}">
                <a16:creationId xmlns:a16="http://schemas.microsoft.com/office/drawing/2014/main" id="{6CD9E104-CBBF-BCF1-6330-E3B234A0A962}"/>
              </a:ext>
            </a:extLst>
          </p:cNvPr>
          <p:cNvSpPr txBox="1"/>
          <p:nvPr/>
        </p:nvSpPr>
        <p:spPr>
          <a:xfrm>
            <a:off x="8760542" y="914400"/>
            <a:ext cx="3352800" cy="2308324"/>
          </a:xfrm>
          <a:prstGeom prst="rect">
            <a:avLst/>
          </a:prstGeom>
          <a:noFill/>
        </p:spPr>
        <p:txBody>
          <a:bodyPr wrap="square">
            <a:spAutoFit/>
          </a:bodyPr>
          <a:lstStyle/>
          <a:p>
            <a:pPr>
              <a:defRPr sz="1600" b="1">
                <a:solidFill>
                  <a:srgbClr val="FFFFFF"/>
                </a:solidFill>
              </a:defRPr>
            </a:pPr>
            <a:r>
              <a:rPr lang="fr-FR" sz="3200" dirty="0"/>
              <a:t>Créer une boite </a:t>
            </a:r>
            <a:br>
              <a:rPr lang="fr-FR" sz="3200" dirty="0"/>
            </a:br>
            <a:r>
              <a:rPr lang="fr-FR" sz="3200" dirty="0"/>
              <a:t>de </a:t>
            </a:r>
            <a:r>
              <a:rPr lang="fr-FR" sz="3200" b="1" dirty="0">
                <a:solidFill>
                  <a:srgbClr val="FFFFFF"/>
                </a:solidFill>
              </a:rPr>
              <a:t>notices</a:t>
            </a:r>
          </a:p>
          <a:p>
            <a:pPr>
              <a:defRPr sz="1600" b="1">
                <a:solidFill>
                  <a:srgbClr val="FFFFFF"/>
                </a:solidFill>
              </a:defRPr>
            </a:pPr>
            <a:endParaRPr lang="fr-FR" sz="3200" b="1" dirty="0">
              <a:solidFill>
                <a:srgbClr val="FFFFFF"/>
              </a:solidFill>
            </a:endParaRPr>
          </a:p>
          <a:p>
            <a:pPr>
              <a:defRPr sz="1600" b="1">
                <a:solidFill>
                  <a:srgbClr val="FFFFFF"/>
                </a:solidFill>
              </a:defRPr>
            </a:pPr>
            <a:r>
              <a:rPr lang="fr-FR" sz="2400" b="1" dirty="0">
                <a:solidFill>
                  <a:srgbClr val="FFFFFF"/>
                </a:solidFill>
              </a:rPr>
              <a:t>Modifier l’affichage du kiosque de notices</a:t>
            </a:r>
          </a:p>
        </p:txBody>
      </p:sp>
      <p:pic>
        <p:nvPicPr>
          <p:cNvPr id="4" name="Image 3">
            <a:extLst>
              <a:ext uri="{FF2B5EF4-FFF2-40B4-BE49-F238E27FC236}">
                <a16:creationId xmlns:a16="http://schemas.microsoft.com/office/drawing/2014/main" id="{4EF6A484-2E1C-BB6F-3172-F92B7EFBA2E6}"/>
              </a:ext>
            </a:extLst>
          </p:cNvPr>
          <p:cNvPicPr>
            <a:picLocks noChangeAspect="1"/>
          </p:cNvPicPr>
          <p:nvPr/>
        </p:nvPicPr>
        <p:blipFill>
          <a:blip r:embed="rId2"/>
          <a:srcRect l="63060" t="32245" r="2960" b="6530"/>
          <a:stretch>
            <a:fillRect/>
          </a:stretch>
        </p:blipFill>
        <p:spPr>
          <a:xfrm>
            <a:off x="450614" y="1203649"/>
            <a:ext cx="7904444" cy="4450702"/>
          </a:xfrm>
          <a:prstGeom prst="rect">
            <a:avLst/>
          </a:prstGeom>
        </p:spPr>
      </p:pic>
    </p:spTree>
    <p:extLst>
      <p:ext uri="{BB962C8B-B14F-4D97-AF65-F5344CB8AC3E}">
        <p14:creationId xmlns:p14="http://schemas.microsoft.com/office/powerpoint/2010/main" val="293366525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4700D2C5-8433-F16F-180B-862393550FA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F98D7BD-6140-EC4E-6A9F-3D29FDA8B4E5}"/>
              </a:ext>
            </a:extLst>
          </p:cNvPr>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7" name="Rectangle 6">
            <a:extLst>
              <a:ext uri="{FF2B5EF4-FFF2-40B4-BE49-F238E27FC236}">
                <a16:creationId xmlns:a16="http://schemas.microsoft.com/office/drawing/2014/main" id="{0F3816B4-EC11-9E03-14E5-21DB33A8B350}"/>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2">
            <a:extLst>
              <a:ext uri="{FF2B5EF4-FFF2-40B4-BE49-F238E27FC236}">
                <a16:creationId xmlns:a16="http://schemas.microsoft.com/office/drawing/2014/main" id="{106EB611-F982-375D-2785-AFC6E31CF571}"/>
              </a:ext>
            </a:extLst>
          </p:cNvPr>
          <p:cNvSpPr txBox="1"/>
          <p:nvPr/>
        </p:nvSpPr>
        <p:spPr>
          <a:xfrm>
            <a:off x="8760542" y="914400"/>
            <a:ext cx="3352800" cy="1077218"/>
          </a:xfrm>
          <a:prstGeom prst="rect">
            <a:avLst/>
          </a:prstGeom>
          <a:noFill/>
        </p:spPr>
        <p:txBody>
          <a:bodyPr wrap="square">
            <a:spAutoFit/>
          </a:bodyPr>
          <a:lstStyle/>
          <a:p>
            <a:pPr>
              <a:defRPr sz="1600" b="1">
                <a:solidFill>
                  <a:srgbClr val="FFFFFF"/>
                </a:solidFill>
              </a:defRPr>
            </a:pPr>
            <a:r>
              <a:rPr lang="fr-FR" sz="3200" dirty="0"/>
              <a:t>Créer une boite </a:t>
            </a:r>
            <a:br>
              <a:rPr lang="fr-FR" sz="3200" dirty="0"/>
            </a:br>
            <a:r>
              <a:rPr lang="fr-FR" sz="3200" dirty="0"/>
              <a:t>de </a:t>
            </a:r>
            <a:r>
              <a:rPr lang="fr-FR" sz="3200" b="1" dirty="0">
                <a:solidFill>
                  <a:srgbClr val="FFFFFF"/>
                </a:solidFill>
              </a:rPr>
              <a:t>notices</a:t>
            </a:r>
          </a:p>
        </p:txBody>
      </p:sp>
      <p:pic>
        <p:nvPicPr>
          <p:cNvPr id="4" name="Image 3">
            <a:extLst>
              <a:ext uri="{FF2B5EF4-FFF2-40B4-BE49-F238E27FC236}">
                <a16:creationId xmlns:a16="http://schemas.microsoft.com/office/drawing/2014/main" id="{583EC9F0-41E3-B73A-9E37-CAF82B56CCEE}"/>
              </a:ext>
            </a:extLst>
          </p:cNvPr>
          <p:cNvPicPr>
            <a:picLocks noChangeAspect="1"/>
          </p:cNvPicPr>
          <p:nvPr/>
        </p:nvPicPr>
        <p:blipFill>
          <a:blip r:embed="rId2"/>
          <a:stretch>
            <a:fillRect/>
          </a:stretch>
        </p:blipFill>
        <p:spPr>
          <a:xfrm>
            <a:off x="382556" y="317723"/>
            <a:ext cx="5921826" cy="3740612"/>
          </a:xfrm>
          <a:prstGeom prst="rect">
            <a:avLst/>
          </a:prstGeom>
        </p:spPr>
      </p:pic>
      <p:pic>
        <p:nvPicPr>
          <p:cNvPr id="6" name="Image 5">
            <a:extLst>
              <a:ext uri="{FF2B5EF4-FFF2-40B4-BE49-F238E27FC236}">
                <a16:creationId xmlns:a16="http://schemas.microsoft.com/office/drawing/2014/main" id="{FA2904F3-1BF0-951D-A337-5AB892E62ADC}"/>
              </a:ext>
            </a:extLst>
          </p:cNvPr>
          <p:cNvPicPr>
            <a:picLocks noChangeAspect="1"/>
          </p:cNvPicPr>
          <p:nvPr/>
        </p:nvPicPr>
        <p:blipFill>
          <a:blip r:embed="rId3"/>
          <a:stretch>
            <a:fillRect/>
          </a:stretch>
        </p:blipFill>
        <p:spPr>
          <a:xfrm>
            <a:off x="2313992" y="3396483"/>
            <a:ext cx="6556308" cy="2939800"/>
          </a:xfrm>
          <a:prstGeom prst="rect">
            <a:avLst/>
          </a:prstGeom>
        </p:spPr>
      </p:pic>
      <p:sp>
        <p:nvSpPr>
          <p:cNvPr id="10" name="ZoneTexte 9">
            <a:extLst>
              <a:ext uri="{FF2B5EF4-FFF2-40B4-BE49-F238E27FC236}">
                <a16:creationId xmlns:a16="http://schemas.microsoft.com/office/drawing/2014/main" id="{CB3C40A4-36E5-D1FF-94C1-18FD9C5537B5}"/>
              </a:ext>
            </a:extLst>
          </p:cNvPr>
          <p:cNvSpPr txBox="1"/>
          <p:nvPr/>
        </p:nvSpPr>
        <p:spPr>
          <a:xfrm>
            <a:off x="6304382" y="741783"/>
            <a:ext cx="2041231" cy="738664"/>
          </a:xfrm>
          <a:prstGeom prst="rect">
            <a:avLst/>
          </a:prstGeom>
          <a:solidFill>
            <a:schemeClr val="bg1"/>
          </a:solidFill>
        </p:spPr>
        <p:txBody>
          <a:bodyPr wrap="square">
            <a:spAutoFit/>
          </a:bodyPr>
          <a:lstStyle/>
          <a:p>
            <a:r>
              <a:rPr lang="fr-FR" sz="1400" b="1" dirty="0">
                <a:solidFill>
                  <a:srgbClr val="002060"/>
                </a:solidFill>
              </a:rPr>
              <a:t>Carrousel à 5 colonnes</a:t>
            </a:r>
            <a:br>
              <a:rPr lang="fr-FR" sz="1400" dirty="0">
                <a:solidFill>
                  <a:srgbClr val="002060"/>
                </a:solidFill>
              </a:rPr>
            </a:br>
            <a:r>
              <a:rPr lang="fr-FR" sz="1400" dirty="0">
                <a:solidFill>
                  <a:srgbClr val="002060"/>
                </a:solidFill>
              </a:rPr>
              <a:t>C’est l’affichage choisi dans Bibdoc </a:t>
            </a:r>
          </a:p>
        </p:txBody>
      </p:sp>
      <p:sp>
        <p:nvSpPr>
          <p:cNvPr id="11" name="ZoneTexte 10">
            <a:extLst>
              <a:ext uri="{FF2B5EF4-FFF2-40B4-BE49-F238E27FC236}">
                <a16:creationId xmlns:a16="http://schemas.microsoft.com/office/drawing/2014/main" id="{0D379DBD-0DAB-492A-7B12-3C59B9BAED03}"/>
              </a:ext>
            </a:extLst>
          </p:cNvPr>
          <p:cNvSpPr txBox="1"/>
          <p:nvPr/>
        </p:nvSpPr>
        <p:spPr>
          <a:xfrm>
            <a:off x="1464906" y="4730746"/>
            <a:ext cx="1004847" cy="307777"/>
          </a:xfrm>
          <a:prstGeom prst="rect">
            <a:avLst/>
          </a:prstGeom>
          <a:solidFill>
            <a:schemeClr val="bg1"/>
          </a:solidFill>
        </p:spPr>
        <p:txBody>
          <a:bodyPr wrap="square">
            <a:spAutoFit/>
          </a:bodyPr>
          <a:lstStyle/>
          <a:p>
            <a:r>
              <a:rPr lang="fr-FR" sz="1400" b="1" dirty="0">
                <a:solidFill>
                  <a:srgbClr val="002060"/>
                </a:solidFill>
              </a:rPr>
              <a:t>Accordéon</a:t>
            </a:r>
            <a:endParaRPr lang="fr-FR" sz="1400" dirty="0">
              <a:solidFill>
                <a:srgbClr val="002060"/>
              </a:solidFill>
            </a:endParaRPr>
          </a:p>
        </p:txBody>
      </p:sp>
    </p:spTree>
    <p:extLst>
      <p:ext uri="{BB962C8B-B14F-4D97-AF65-F5344CB8AC3E}">
        <p14:creationId xmlns:p14="http://schemas.microsoft.com/office/powerpoint/2010/main" val="372269843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2E353510-53D1-F7FB-FCA3-EB86C6EC435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E4EA2B9-CB65-096A-C6B8-B0E1C6CCC9DC}"/>
              </a:ext>
            </a:extLst>
          </p:cNvPr>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7" name="Rectangle 6">
            <a:extLst>
              <a:ext uri="{FF2B5EF4-FFF2-40B4-BE49-F238E27FC236}">
                <a16:creationId xmlns:a16="http://schemas.microsoft.com/office/drawing/2014/main" id="{D375FC02-D084-F333-EF2A-A87160925D1A}"/>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2">
            <a:extLst>
              <a:ext uri="{FF2B5EF4-FFF2-40B4-BE49-F238E27FC236}">
                <a16:creationId xmlns:a16="http://schemas.microsoft.com/office/drawing/2014/main" id="{13B53847-ED04-3B2B-C000-A67050829B0C}"/>
              </a:ext>
            </a:extLst>
          </p:cNvPr>
          <p:cNvSpPr txBox="1"/>
          <p:nvPr/>
        </p:nvSpPr>
        <p:spPr>
          <a:xfrm>
            <a:off x="8760542" y="914400"/>
            <a:ext cx="3352800" cy="1077218"/>
          </a:xfrm>
          <a:prstGeom prst="rect">
            <a:avLst/>
          </a:prstGeom>
          <a:noFill/>
        </p:spPr>
        <p:txBody>
          <a:bodyPr wrap="square">
            <a:spAutoFit/>
          </a:bodyPr>
          <a:lstStyle/>
          <a:p>
            <a:pPr>
              <a:defRPr sz="1600" b="1">
                <a:solidFill>
                  <a:srgbClr val="FFFFFF"/>
                </a:solidFill>
              </a:defRPr>
            </a:pPr>
            <a:r>
              <a:rPr lang="fr-FR" sz="3200" dirty="0"/>
              <a:t>Créer une boite </a:t>
            </a:r>
            <a:br>
              <a:rPr lang="fr-FR" sz="3200" dirty="0"/>
            </a:br>
            <a:r>
              <a:rPr lang="fr-FR" sz="3200" dirty="0"/>
              <a:t>de </a:t>
            </a:r>
            <a:r>
              <a:rPr lang="fr-FR" sz="3200" b="1" dirty="0">
                <a:solidFill>
                  <a:srgbClr val="FFFFFF"/>
                </a:solidFill>
              </a:rPr>
              <a:t>notices</a:t>
            </a:r>
          </a:p>
        </p:txBody>
      </p:sp>
      <p:sp>
        <p:nvSpPr>
          <p:cNvPr id="10" name="ZoneTexte 9">
            <a:extLst>
              <a:ext uri="{FF2B5EF4-FFF2-40B4-BE49-F238E27FC236}">
                <a16:creationId xmlns:a16="http://schemas.microsoft.com/office/drawing/2014/main" id="{3CE31B60-E98E-826F-3C9A-B9EBC159DB98}"/>
              </a:ext>
            </a:extLst>
          </p:cNvPr>
          <p:cNvSpPr txBox="1"/>
          <p:nvPr/>
        </p:nvSpPr>
        <p:spPr>
          <a:xfrm>
            <a:off x="7065076" y="741783"/>
            <a:ext cx="1280537" cy="307777"/>
          </a:xfrm>
          <a:prstGeom prst="rect">
            <a:avLst/>
          </a:prstGeom>
          <a:solidFill>
            <a:schemeClr val="bg1"/>
          </a:solidFill>
        </p:spPr>
        <p:txBody>
          <a:bodyPr wrap="square">
            <a:spAutoFit/>
          </a:bodyPr>
          <a:lstStyle/>
          <a:p>
            <a:r>
              <a:rPr lang="fr-FR" sz="1400" b="1" dirty="0">
                <a:solidFill>
                  <a:srgbClr val="002060"/>
                </a:solidFill>
              </a:rPr>
              <a:t>Tableau</a:t>
            </a:r>
            <a:endParaRPr lang="fr-FR" sz="1400" dirty="0">
              <a:solidFill>
                <a:srgbClr val="002060"/>
              </a:solidFill>
            </a:endParaRPr>
          </a:p>
        </p:txBody>
      </p:sp>
      <p:pic>
        <p:nvPicPr>
          <p:cNvPr id="5" name="Image 4">
            <a:extLst>
              <a:ext uri="{FF2B5EF4-FFF2-40B4-BE49-F238E27FC236}">
                <a16:creationId xmlns:a16="http://schemas.microsoft.com/office/drawing/2014/main" id="{85211819-CB86-A427-544C-B7EB88EF3682}"/>
              </a:ext>
            </a:extLst>
          </p:cNvPr>
          <p:cNvPicPr>
            <a:picLocks noChangeAspect="1"/>
          </p:cNvPicPr>
          <p:nvPr/>
        </p:nvPicPr>
        <p:blipFill>
          <a:blip r:embed="rId2"/>
          <a:stretch>
            <a:fillRect/>
          </a:stretch>
        </p:blipFill>
        <p:spPr>
          <a:xfrm>
            <a:off x="284054" y="283100"/>
            <a:ext cx="6661560" cy="3884504"/>
          </a:xfrm>
          <a:prstGeom prst="rect">
            <a:avLst/>
          </a:prstGeom>
        </p:spPr>
      </p:pic>
      <p:pic>
        <p:nvPicPr>
          <p:cNvPr id="12" name="Image 11">
            <a:extLst>
              <a:ext uri="{FF2B5EF4-FFF2-40B4-BE49-F238E27FC236}">
                <a16:creationId xmlns:a16="http://schemas.microsoft.com/office/drawing/2014/main" id="{DD0119C1-AC2D-6777-7E9A-FB15C79607EB}"/>
              </a:ext>
            </a:extLst>
          </p:cNvPr>
          <p:cNvPicPr>
            <a:picLocks noChangeAspect="1"/>
          </p:cNvPicPr>
          <p:nvPr/>
        </p:nvPicPr>
        <p:blipFill>
          <a:blip r:embed="rId3"/>
          <a:stretch>
            <a:fillRect/>
          </a:stretch>
        </p:blipFill>
        <p:spPr>
          <a:xfrm>
            <a:off x="3550924" y="2695446"/>
            <a:ext cx="5090156" cy="4023696"/>
          </a:xfrm>
          <a:prstGeom prst="rect">
            <a:avLst/>
          </a:prstGeom>
        </p:spPr>
      </p:pic>
      <p:sp>
        <p:nvSpPr>
          <p:cNvPr id="13" name="ZoneTexte 12">
            <a:extLst>
              <a:ext uri="{FF2B5EF4-FFF2-40B4-BE49-F238E27FC236}">
                <a16:creationId xmlns:a16="http://schemas.microsoft.com/office/drawing/2014/main" id="{992F04E3-E365-A27F-6AA4-817FF06B89AF}"/>
              </a:ext>
            </a:extLst>
          </p:cNvPr>
          <p:cNvSpPr txBox="1"/>
          <p:nvPr/>
        </p:nvSpPr>
        <p:spPr>
          <a:xfrm>
            <a:off x="2388638" y="4707294"/>
            <a:ext cx="1438658" cy="523220"/>
          </a:xfrm>
          <a:prstGeom prst="rect">
            <a:avLst/>
          </a:prstGeom>
          <a:solidFill>
            <a:schemeClr val="bg1"/>
          </a:solidFill>
        </p:spPr>
        <p:txBody>
          <a:bodyPr wrap="square">
            <a:spAutoFit/>
          </a:bodyPr>
          <a:lstStyle/>
          <a:p>
            <a:r>
              <a:rPr lang="fr-FR" sz="1400" b="1" dirty="0">
                <a:solidFill>
                  <a:srgbClr val="002060"/>
                </a:solidFill>
              </a:rPr>
              <a:t>Liste verticale avec interactions</a:t>
            </a:r>
            <a:endParaRPr lang="fr-FR" sz="1400" dirty="0">
              <a:solidFill>
                <a:srgbClr val="002060"/>
              </a:solidFill>
            </a:endParaRPr>
          </a:p>
        </p:txBody>
      </p:sp>
    </p:spTree>
    <p:extLst>
      <p:ext uri="{BB962C8B-B14F-4D97-AF65-F5344CB8AC3E}">
        <p14:creationId xmlns:p14="http://schemas.microsoft.com/office/powerpoint/2010/main" val="193893912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94C2A1E-256F-ABAA-CABC-DE07C3AD791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0B4A6CC-B0D3-0AA0-0960-2F8D40950A35}"/>
              </a:ext>
            </a:extLst>
          </p:cNvPr>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7" name="Rectangle 6">
            <a:extLst>
              <a:ext uri="{FF2B5EF4-FFF2-40B4-BE49-F238E27FC236}">
                <a16:creationId xmlns:a16="http://schemas.microsoft.com/office/drawing/2014/main" id="{C97CF208-18AB-59D6-3F38-08792C899CDA}"/>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2">
            <a:extLst>
              <a:ext uri="{FF2B5EF4-FFF2-40B4-BE49-F238E27FC236}">
                <a16:creationId xmlns:a16="http://schemas.microsoft.com/office/drawing/2014/main" id="{D1B39FB1-FA6B-8706-29A2-60803FF58CF0}"/>
              </a:ext>
            </a:extLst>
          </p:cNvPr>
          <p:cNvSpPr txBox="1"/>
          <p:nvPr/>
        </p:nvSpPr>
        <p:spPr>
          <a:xfrm>
            <a:off x="8760542" y="914400"/>
            <a:ext cx="3352800" cy="2062103"/>
          </a:xfrm>
          <a:prstGeom prst="rect">
            <a:avLst/>
          </a:prstGeom>
          <a:noFill/>
        </p:spPr>
        <p:txBody>
          <a:bodyPr wrap="square">
            <a:spAutoFit/>
          </a:bodyPr>
          <a:lstStyle/>
          <a:p>
            <a:pPr>
              <a:defRPr sz="1600" b="1">
                <a:solidFill>
                  <a:srgbClr val="FFFFFF"/>
                </a:solidFill>
              </a:defRPr>
            </a:pPr>
            <a:r>
              <a:rPr lang="fr-FR" sz="3200" dirty="0"/>
              <a:t>Gouvernance éditoriale du portail mutualisé BIBDOC</a:t>
            </a:r>
            <a:endParaRPr lang="fr-FR" sz="3200" b="1" dirty="0">
              <a:solidFill>
                <a:srgbClr val="FFFFFF"/>
              </a:solidFill>
            </a:endParaRPr>
          </a:p>
        </p:txBody>
      </p:sp>
      <p:sp>
        <p:nvSpPr>
          <p:cNvPr id="6" name="TextBox 3">
            <a:extLst>
              <a:ext uri="{FF2B5EF4-FFF2-40B4-BE49-F238E27FC236}">
                <a16:creationId xmlns:a16="http://schemas.microsoft.com/office/drawing/2014/main" id="{EF9A1C6B-0179-D2E2-DE16-59C8E91C192E}"/>
              </a:ext>
            </a:extLst>
          </p:cNvPr>
          <p:cNvSpPr txBox="1"/>
          <p:nvPr/>
        </p:nvSpPr>
        <p:spPr>
          <a:xfrm>
            <a:off x="502920" y="569914"/>
            <a:ext cx="7667897" cy="4165243"/>
          </a:xfrm>
          <a:prstGeom prst="rect">
            <a:avLst/>
          </a:prstGeom>
          <a:noFill/>
        </p:spPr>
        <p:txBody>
          <a:bodyPr wrap="square">
            <a:spAutoFit/>
          </a:bodyPr>
          <a:lstStyle/>
          <a:p>
            <a:r>
              <a:rPr lang="fr-FR" sz="1600" b="1" dirty="0">
                <a:solidFill>
                  <a:srgbClr val="002060"/>
                </a:solidFill>
              </a:rPr>
              <a:t>Gouvernance éditoriale du portail mutualisé BIBDOC</a:t>
            </a:r>
          </a:p>
          <a:p>
            <a:br>
              <a:rPr lang="fr-FR" sz="1400" dirty="0"/>
            </a:br>
            <a:r>
              <a:rPr lang="fr-FR" sz="1400" dirty="0">
                <a:solidFill>
                  <a:srgbClr val="002060"/>
                </a:solidFill>
              </a:rPr>
              <a:t>Le portail BIBDOC est un espace documentaire mutualisé qui rassemble et valorise les collections de plusieurs structures du ministère de la Culture. Son fonctionnement repose sur un principe essentiel : permettre à chaque structure de contribuer à la richesse du portail tout en garantissant la cohérence de l'ensemble.</a:t>
            </a:r>
          </a:p>
          <a:p>
            <a:r>
              <a:rPr lang="fr-FR" sz="1400" dirty="0">
                <a:solidFill>
                  <a:srgbClr val="002060"/>
                </a:solidFill>
              </a:rPr>
              <a:t>La gouvernance éditoriale définit les responsabilités, les règles de publication et les modalités de coordination entre les contributeurs locaux et l'administration centrale du portail.</a:t>
            </a:r>
          </a:p>
          <a:p>
            <a:pPr>
              <a:spcAft>
                <a:spcPts val="1100"/>
              </a:spcAft>
              <a:defRPr sz="1800">
                <a:solidFill>
                  <a:srgbClr val="23232D"/>
                </a:solidFill>
              </a:defRPr>
            </a:pPr>
            <a:endParaRPr lang="fr-FR" sz="1400" dirty="0">
              <a:solidFill>
                <a:srgbClr val="002060"/>
              </a:solidFill>
            </a:endParaRPr>
          </a:p>
          <a:p>
            <a:pPr>
              <a:spcAft>
                <a:spcPts val="1100"/>
              </a:spcAft>
              <a:defRPr sz="1800">
                <a:solidFill>
                  <a:srgbClr val="23232D"/>
                </a:solidFill>
              </a:defRPr>
            </a:pPr>
            <a:r>
              <a:rPr lang="fr-FR" sz="1600" b="1" dirty="0">
                <a:solidFill>
                  <a:srgbClr val="002060"/>
                </a:solidFill>
              </a:rPr>
              <a:t>Une organisation fondée sur des responsabilités partagées</a:t>
            </a:r>
          </a:p>
          <a:p>
            <a:pPr>
              <a:spcAft>
                <a:spcPts val="1100"/>
              </a:spcAft>
              <a:defRPr sz="1800">
                <a:solidFill>
                  <a:srgbClr val="23232D"/>
                </a:solidFill>
              </a:defRPr>
            </a:pPr>
            <a:r>
              <a:rPr lang="fr-FR" sz="1400" dirty="0">
                <a:solidFill>
                  <a:srgbClr val="002060"/>
                </a:solidFill>
              </a:rPr>
              <a:t>Les contributeurs locaux (DRAC et autres structures) rédigent les actualités, créent des sélections documentaires, valorisent leurs collections et veillent à l'exactitude des informations publiées.</a:t>
            </a:r>
          </a:p>
          <a:p>
            <a:pPr>
              <a:spcAft>
                <a:spcPts val="1100"/>
              </a:spcAft>
              <a:defRPr sz="1800">
                <a:solidFill>
                  <a:srgbClr val="23232D"/>
                </a:solidFill>
              </a:defRPr>
            </a:pPr>
            <a:r>
              <a:rPr lang="fr-FR" sz="1400" dirty="0">
                <a:solidFill>
                  <a:srgbClr val="002060"/>
                </a:solidFill>
              </a:rPr>
              <a:t>Les référents locaux accompagnent les contributeurs, coordonnent les publications de leur structure, vérifient leur qualité éditoriale et assurent le lien avec l'équipe centrale.</a:t>
            </a:r>
          </a:p>
          <a:p>
            <a:pPr>
              <a:spcAft>
                <a:spcPts val="1100"/>
              </a:spcAft>
              <a:defRPr sz="1800">
                <a:solidFill>
                  <a:srgbClr val="23232D"/>
                </a:solidFill>
              </a:defRPr>
            </a:pPr>
            <a:r>
              <a:rPr lang="fr-FR" sz="1400" dirty="0">
                <a:solidFill>
                  <a:srgbClr val="002060"/>
                </a:solidFill>
              </a:rPr>
              <a:t>L'administration centrale du portail garantit la cohérence générale de BIBDOC, définit les règles communes, administre les fonctionnalités partagées et coordonne les évolutions du portail.</a:t>
            </a:r>
          </a:p>
        </p:txBody>
      </p:sp>
      <p:sp>
        <p:nvSpPr>
          <p:cNvPr id="10" name="Rectangle : coins arrondis 9">
            <a:extLst>
              <a:ext uri="{FF2B5EF4-FFF2-40B4-BE49-F238E27FC236}">
                <a16:creationId xmlns:a16="http://schemas.microsoft.com/office/drawing/2014/main" id="{2366F63B-9302-5F58-94BF-AE427E7CEF11}"/>
              </a:ext>
            </a:extLst>
          </p:cNvPr>
          <p:cNvSpPr/>
          <p:nvPr/>
        </p:nvSpPr>
        <p:spPr>
          <a:xfrm>
            <a:off x="4572001" y="5027006"/>
            <a:ext cx="3735166" cy="1667710"/>
          </a:xfrm>
          <a:prstGeom prst="roundRect">
            <a:avLst/>
          </a:prstGeom>
          <a:solidFill>
            <a:srgbClr val="141991"/>
          </a:solidFill>
        </p:spPr>
        <p:style>
          <a:lnRef idx="1">
            <a:schemeClr val="accent1"/>
          </a:lnRef>
          <a:fillRef idx="3">
            <a:schemeClr val="accent1"/>
          </a:fillRef>
          <a:effectRef idx="2">
            <a:schemeClr val="accent1"/>
          </a:effectRef>
          <a:fontRef idx="minor">
            <a:schemeClr val="lt1"/>
          </a:fontRef>
        </p:style>
        <p:txBody>
          <a:bodyPr rtlCol="0" anchor="ctr"/>
          <a:lstStyle/>
          <a:p>
            <a:r>
              <a:rPr lang="fr-FR" sz="1400" dirty="0"/>
              <a:t>La gouvernance éditoriale de BIBDOC repose sur un équilibre entre </a:t>
            </a:r>
            <a:r>
              <a:rPr lang="fr-FR" sz="1400" b="1" dirty="0"/>
              <a:t>autonomie des structures, responsabilités partagées et cohérence collective</a:t>
            </a:r>
            <a:r>
              <a:rPr lang="fr-FR" sz="1400" dirty="0"/>
              <a:t>. Chaque contributeur participe à la qualité et à la visibilité du portail mutualisé.</a:t>
            </a:r>
          </a:p>
        </p:txBody>
      </p:sp>
    </p:spTree>
    <p:extLst>
      <p:ext uri="{BB962C8B-B14F-4D97-AF65-F5344CB8AC3E}">
        <p14:creationId xmlns:p14="http://schemas.microsoft.com/office/powerpoint/2010/main" val="340711940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6B581FC-BB90-42A6-3BF6-EF78A682FB7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DF700EB-4180-3B9C-E476-B1A3BF22153E}"/>
              </a:ext>
            </a:extLst>
          </p:cNvPr>
          <p:cNvSpPr/>
          <p:nvPr/>
        </p:nvSpPr>
        <p:spPr>
          <a:xfrm>
            <a:off x="0" y="0"/>
            <a:ext cx="16459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7" name="Rectangle 6">
            <a:extLst>
              <a:ext uri="{FF2B5EF4-FFF2-40B4-BE49-F238E27FC236}">
                <a16:creationId xmlns:a16="http://schemas.microsoft.com/office/drawing/2014/main" id="{3624FEAE-2568-3D30-622D-8CCF32110EDF}"/>
              </a:ext>
            </a:extLst>
          </p:cNvPr>
          <p:cNvSpPr/>
          <p:nvPr/>
        </p:nvSpPr>
        <p:spPr>
          <a:xfrm>
            <a:off x="8641080" y="0"/>
            <a:ext cx="3547872" cy="6858000"/>
          </a:xfrm>
          <a:prstGeom prst="rect">
            <a:avLst/>
          </a:prstGeom>
          <a:solidFill>
            <a:srgbClr val="1419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2">
            <a:extLst>
              <a:ext uri="{FF2B5EF4-FFF2-40B4-BE49-F238E27FC236}">
                <a16:creationId xmlns:a16="http://schemas.microsoft.com/office/drawing/2014/main" id="{C02DAAE6-19FE-224F-FC47-64C6C388FCE1}"/>
              </a:ext>
            </a:extLst>
          </p:cNvPr>
          <p:cNvSpPr txBox="1"/>
          <p:nvPr/>
        </p:nvSpPr>
        <p:spPr>
          <a:xfrm>
            <a:off x="8760542" y="914400"/>
            <a:ext cx="3352800" cy="1077218"/>
          </a:xfrm>
          <a:prstGeom prst="rect">
            <a:avLst/>
          </a:prstGeom>
          <a:noFill/>
        </p:spPr>
        <p:txBody>
          <a:bodyPr wrap="square">
            <a:spAutoFit/>
          </a:bodyPr>
          <a:lstStyle/>
          <a:p>
            <a:pPr>
              <a:defRPr sz="1600" b="1">
                <a:solidFill>
                  <a:srgbClr val="FFFFFF"/>
                </a:solidFill>
              </a:defRPr>
            </a:pPr>
            <a:r>
              <a:rPr lang="fr-FR" sz="3200" dirty="0"/>
              <a:t>Créer une boite </a:t>
            </a:r>
            <a:br>
              <a:rPr lang="fr-FR" sz="3200" dirty="0"/>
            </a:br>
            <a:r>
              <a:rPr lang="fr-FR" sz="3200" dirty="0"/>
              <a:t>de </a:t>
            </a:r>
            <a:r>
              <a:rPr lang="fr-FR" sz="3200" b="1" dirty="0">
                <a:solidFill>
                  <a:srgbClr val="FFFFFF"/>
                </a:solidFill>
              </a:rPr>
              <a:t>notices</a:t>
            </a:r>
          </a:p>
        </p:txBody>
      </p:sp>
    </p:spTree>
    <p:extLst>
      <p:ext uri="{BB962C8B-B14F-4D97-AF65-F5344CB8AC3E}">
        <p14:creationId xmlns:p14="http://schemas.microsoft.com/office/powerpoint/2010/main" val="33690728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2508</TotalTime>
  <Words>1925</Words>
  <Application>Microsoft Office PowerPoint</Application>
  <PresentationFormat>Grand écran</PresentationFormat>
  <Paragraphs>254</Paragraphs>
  <Slides>46</Slides>
  <Notes>0</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46</vt:i4>
      </vt:variant>
    </vt:vector>
  </HeadingPairs>
  <TitlesOfParts>
    <vt:vector size="49" baseType="lpstr">
      <vt:lpstr>Arial</vt:lpstr>
      <vt:lpstr>Calibri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THEBAULT Didier</dc:creator>
  <cp:keywords/>
  <dc:description>generated using python-pptx</dc:description>
  <cp:lastModifiedBy>THEBAULT Didier</cp:lastModifiedBy>
  <cp:revision>65</cp:revision>
  <dcterms:created xsi:type="dcterms:W3CDTF">2013-01-27T09:14:16Z</dcterms:created>
  <dcterms:modified xsi:type="dcterms:W3CDTF">2026-10-09T13:48:50Z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55150b5-9709-4135-863a-f4680a6d2cae_Enabled">
    <vt:lpwstr>true</vt:lpwstr>
  </property>
  <property fmtid="{D5CDD505-2E9C-101B-9397-08002B2CF9AE}" pid="3" name="MSIP_Label_a55150b5-9709-4135-863a-f4680a6d2cae_SetDate">
    <vt:lpwstr>2026-09-28T11:25:19Z</vt:lpwstr>
  </property>
  <property fmtid="{D5CDD505-2E9C-101B-9397-08002B2CF9AE}" pid="4" name="MSIP_Label_a55150b5-9709-4135-863a-f4680a6d2cae_Method">
    <vt:lpwstr>Privileged</vt:lpwstr>
  </property>
  <property fmtid="{D5CDD505-2E9C-101B-9397-08002B2CF9AE}" pid="5" name="MSIP_Label_a55150b5-9709-4135-863a-f4680a6d2cae_Name">
    <vt:lpwstr>Public</vt:lpwstr>
  </property>
  <property fmtid="{D5CDD505-2E9C-101B-9397-08002B2CF9AE}" pid="6" name="MSIP_Label_a55150b5-9709-4135-863a-f4680a6d2cae_SiteId">
    <vt:lpwstr>5d0b42b2-7ba0-42b9-bd88-2dd1558bd190</vt:lpwstr>
  </property>
  <property fmtid="{D5CDD505-2E9C-101B-9397-08002B2CF9AE}" pid="7" name="MSIP_Label_a55150b5-9709-4135-863a-f4680a6d2cae_ActionId">
    <vt:lpwstr>4ddd6d71-f7e8-42fe-a795-bff3aabb5efd</vt:lpwstr>
  </property>
  <property fmtid="{D5CDD505-2E9C-101B-9397-08002B2CF9AE}" pid="8" name="MSIP_Label_a55150b5-9709-4135-863a-f4680a6d2cae_ContentBits">
    <vt:lpwstr>0</vt:lpwstr>
  </property>
  <property fmtid="{D5CDD505-2E9C-101B-9397-08002B2CF9AE}" pid="9" name="MSIP_Label_a55150b5-9709-4135-863a-f4680a6d2cae_Tag">
    <vt:lpwstr>10, 0, 1, 1</vt:lpwstr>
  </property>
</Properties>
</file>