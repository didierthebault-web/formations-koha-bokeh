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303" r:id="rId6"/>
    <p:sldId id="260" r:id="rId7"/>
    <p:sldId id="261" r:id="rId8"/>
    <p:sldId id="291" r:id="rId9"/>
    <p:sldId id="262" r:id="rId10"/>
    <p:sldId id="263" r:id="rId11"/>
    <p:sldId id="292" r:id="rId12"/>
    <p:sldId id="264" r:id="rId13"/>
    <p:sldId id="265" r:id="rId14"/>
    <p:sldId id="266" r:id="rId15"/>
    <p:sldId id="293" r:id="rId16"/>
    <p:sldId id="267" r:id="rId17"/>
    <p:sldId id="268" r:id="rId18"/>
    <p:sldId id="269" r:id="rId19"/>
    <p:sldId id="270" r:id="rId20"/>
    <p:sldId id="294" r:id="rId21"/>
    <p:sldId id="271" r:id="rId22"/>
    <p:sldId id="295" r:id="rId23"/>
    <p:sldId id="296" r:id="rId24"/>
    <p:sldId id="297" r:id="rId25"/>
    <p:sldId id="298" r:id="rId26"/>
    <p:sldId id="299" r:id="rId27"/>
    <p:sldId id="300" r:id="rId28"/>
    <p:sldId id="301" r:id="rId29"/>
    <p:sldId id="302" r:id="rId30"/>
    <p:sldId id="272" r:id="rId31"/>
    <p:sldId id="304" r:id="rId32"/>
    <p:sldId id="308" r:id="rId33"/>
    <p:sldId id="273" r:id="rId34"/>
    <p:sldId id="274" r:id="rId35"/>
    <p:sldId id="275" r:id="rId36"/>
    <p:sldId id="278" r:id="rId37"/>
    <p:sldId id="305" r:id="rId38"/>
    <p:sldId id="306" r:id="rId39"/>
    <p:sldId id="279" r:id="rId40"/>
    <p:sldId id="307" r:id="rId41"/>
    <p:sldId id="280" r:id="rId42"/>
    <p:sldId id="282" r:id="rId43"/>
    <p:sldId id="283" r:id="rId44"/>
    <p:sldId id="285" r:id="rId45"/>
    <p:sldId id="287" r:id="rId46"/>
    <p:sldId id="310" r:id="rId47"/>
    <p:sldId id="314" r:id="rId48"/>
    <p:sldId id="315" r:id="rId49"/>
    <p:sldId id="309" r:id="rId50"/>
    <p:sldId id="311" r:id="rId51"/>
    <p:sldId id="312" r:id="rId52"/>
    <p:sldId id="313" r:id="rId5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199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106" autoAdjust="0"/>
  </p:normalViewPr>
  <p:slideViewPr>
    <p:cSldViewPr snapToGrid="0" snapToObjects="1">
      <p:cViewPr varScale="1">
        <p:scale>
          <a:sx n="103" d="100"/>
          <a:sy n="103" d="100"/>
        </p:scale>
        <p:origin x="18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4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5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760542" y="914400"/>
            <a:ext cx="3352800" cy="584775"/>
          </a:xfrm>
          <a:prstGeom prst="rect">
            <a:avLst/>
          </a:prstGeom>
          <a:noFill/>
        </p:spPr>
        <p:txBody>
          <a:bodyPr wrap="square">
            <a:spAutoFit/>
          </a:bodyPr>
          <a:lstStyle/>
          <a:p>
            <a:pPr>
              <a:defRPr sz="1600" b="1">
                <a:solidFill>
                  <a:srgbClr val="FFFFFF"/>
                </a:solidFill>
              </a:defRPr>
            </a:pPr>
            <a:r>
              <a:rPr sz="3200" dirty="0"/>
              <a:t>FORMATION</a:t>
            </a:r>
          </a:p>
        </p:txBody>
      </p:sp>
      <p:sp>
        <p:nvSpPr>
          <p:cNvPr id="4" name="TextBox 3"/>
          <p:cNvSpPr txBox="1"/>
          <p:nvPr/>
        </p:nvSpPr>
        <p:spPr>
          <a:xfrm>
            <a:off x="845034" y="3652098"/>
            <a:ext cx="7537409" cy="584775"/>
          </a:xfrm>
          <a:prstGeom prst="rect">
            <a:avLst/>
          </a:prstGeom>
          <a:noFill/>
        </p:spPr>
        <p:txBody>
          <a:bodyPr wrap="square">
            <a:spAutoFit/>
          </a:bodyPr>
          <a:lstStyle/>
          <a:p>
            <a:pPr algn="ctr">
              <a:defRPr sz="3200" b="1">
                <a:solidFill>
                  <a:srgbClr val="141991"/>
                </a:solidFill>
              </a:defRPr>
            </a:pPr>
            <a:r>
              <a:rPr lang="fr-FR" noProof="0"/>
              <a:t>Cataloguer dans le catalogue mutualisé</a:t>
            </a:r>
          </a:p>
        </p:txBody>
      </p:sp>
      <p:pic>
        <p:nvPicPr>
          <p:cNvPr id="6" name="Image 5">
            <a:extLst>
              <a:ext uri="{FF2B5EF4-FFF2-40B4-BE49-F238E27FC236}">
                <a16:creationId xmlns:a16="http://schemas.microsoft.com/office/drawing/2014/main" id="{C7977FBB-F4B7-E101-7BE3-B5E34FD92226}"/>
              </a:ext>
            </a:extLst>
          </p:cNvPr>
          <p:cNvPicPr>
            <a:picLocks noChangeAspect="1"/>
          </p:cNvPicPr>
          <p:nvPr/>
        </p:nvPicPr>
        <p:blipFill>
          <a:blip r:embed="rId2"/>
          <a:stretch>
            <a:fillRect/>
          </a:stretch>
        </p:blipFill>
        <p:spPr>
          <a:xfrm>
            <a:off x="2253997" y="1545235"/>
            <a:ext cx="4719482" cy="1352866"/>
          </a:xfrm>
          <a:prstGeom prst="rect">
            <a:avLst/>
          </a:prstGeom>
        </p:spPr>
      </p:pic>
      <p:pic>
        <p:nvPicPr>
          <p:cNvPr id="8" name="Image 7">
            <a:extLst>
              <a:ext uri="{FF2B5EF4-FFF2-40B4-BE49-F238E27FC236}">
                <a16:creationId xmlns:a16="http://schemas.microsoft.com/office/drawing/2014/main" id="{CF8BF2A5-8D45-619B-85B6-53F45F0895AE}"/>
              </a:ext>
            </a:extLst>
          </p:cNvPr>
          <p:cNvPicPr>
            <a:picLocks noChangeAspect="1"/>
          </p:cNvPicPr>
          <p:nvPr/>
        </p:nvPicPr>
        <p:blipFill>
          <a:blip r:embed="rId3"/>
          <a:stretch>
            <a:fillRect/>
          </a:stretch>
        </p:blipFill>
        <p:spPr>
          <a:xfrm>
            <a:off x="49161" y="5709827"/>
            <a:ext cx="1396180" cy="106239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 name="TextBox 3"/>
          <p:cNvSpPr txBox="1"/>
          <p:nvPr/>
        </p:nvSpPr>
        <p:spPr>
          <a:xfrm>
            <a:off x="502920" y="569914"/>
            <a:ext cx="7667897" cy="5370701"/>
          </a:xfrm>
          <a:prstGeom prst="rect">
            <a:avLst/>
          </a:prstGeom>
          <a:noFill/>
        </p:spPr>
        <p:txBody>
          <a:bodyPr wrap="square">
            <a:spAutoFit/>
          </a:bodyPr>
          <a:lstStyle/>
          <a:p>
            <a:pPr marL="342900" indent="-342900">
              <a:spcAft>
                <a:spcPts val="1100"/>
              </a:spcAft>
              <a:buFont typeface="Wingdings" panose="05000000000000000000" pitchFamily="2" charset="2"/>
              <a:buChar char="§"/>
              <a:defRPr sz="1800">
                <a:solidFill>
                  <a:srgbClr val="23232D"/>
                </a:solidFill>
              </a:defRPr>
            </a:pPr>
            <a:r>
              <a:rPr lang="fr-FR" sz="2400" noProof="0" dirty="0">
                <a:solidFill>
                  <a:srgbClr val="002060"/>
                </a:solidFill>
              </a:rPr>
              <a:t>Comprendre la logique du catalogue mutualisé et distinguer notice bibliographique et exemplaire.</a:t>
            </a:r>
          </a:p>
          <a:p>
            <a:pPr marL="342900" indent="-342900">
              <a:spcAft>
                <a:spcPts val="1100"/>
              </a:spcAft>
              <a:buFont typeface="Wingdings" panose="05000000000000000000" pitchFamily="2" charset="2"/>
              <a:buChar char="§"/>
              <a:defRPr sz="1800">
                <a:solidFill>
                  <a:srgbClr val="23232D"/>
                </a:solidFill>
              </a:defRPr>
            </a:pPr>
            <a:r>
              <a:rPr lang="fr-FR" sz="2400" noProof="0" dirty="0">
                <a:solidFill>
                  <a:srgbClr val="002060"/>
                </a:solidFill>
              </a:rPr>
              <a:t>Rechercher un document avant toute création afin d’éviter les doublons.</a:t>
            </a:r>
          </a:p>
          <a:p>
            <a:pPr marL="342900" indent="-342900">
              <a:spcAft>
                <a:spcPts val="1100"/>
              </a:spcAft>
              <a:buFont typeface="Wingdings" panose="05000000000000000000" pitchFamily="2" charset="2"/>
              <a:buChar char="§"/>
              <a:defRPr sz="1800">
                <a:solidFill>
                  <a:srgbClr val="23232D"/>
                </a:solidFill>
              </a:defRPr>
            </a:pPr>
            <a:r>
              <a:rPr lang="fr-FR" sz="2400" noProof="0" dirty="0">
                <a:solidFill>
                  <a:srgbClr val="002060"/>
                </a:solidFill>
              </a:rPr>
              <a:t>Cataloguer prioritairement par dérivation depuis les réservoirs disponibles.</a:t>
            </a:r>
          </a:p>
          <a:p>
            <a:pPr marL="342900" indent="-342900">
              <a:spcAft>
                <a:spcPts val="1100"/>
              </a:spcAft>
              <a:buFont typeface="Wingdings" panose="05000000000000000000" pitchFamily="2" charset="2"/>
              <a:buChar char="§"/>
              <a:defRPr sz="1800">
                <a:solidFill>
                  <a:srgbClr val="23232D"/>
                </a:solidFill>
              </a:defRPr>
            </a:pPr>
            <a:r>
              <a:rPr lang="fr-FR" sz="2400" noProof="0" dirty="0">
                <a:solidFill>
                  <a:srgbClr val="002060"/>
                </a:solidFill>
              </a:rPr>
              <a:t>Contrôler et compléter une notice UNIMARC dans Koha.</a:t>
            </a:r>
          </a:p>
          <a:p>
            <a:pPr marL="342900" indent="-342900">
              <a:spcAft>
                <a:spcPts val="1100"/>
              </a:spcAft>
              <a:buFont typeface="Wingdings" panose="05000000000000000000" pitchFamily="2" charset="2"/>
              <a:buChar char="§"/>
              <a:defRPr sz="1800">
                <a:solidFill>
                  <a:srgbClr val="23232D"/>
                </a:solidFill>
              </a:defRPr>
            </a:pPr>
            <a:r>
              <a:rPr lang="fr-FR" sz="2400" noProof="0" dirty="0">
                <a:solidFill>
                  <a:srgbClr val="002060"/>
                </a:solidFill>
              </a:rPr>
              <a:t>Utiliser les autorités et les points d’accès 6XX / 7XX.</a:t>
            </a:r>
          </a:p>
          <a:p>
            <a:pPr marL="342900" indent="-342900">
              <a:spcAft>
                <a:spcPts val="1100"/>
              </a:spcAft>
              <a:buFont typeface="Wingdings" panose="05000000000000000000" pitchFamily="2" charset="2"/>
              <a:buChar char="§"/>
              <a:defRPr sz="1800">
                <a:solidFill>
                  <a:srgbClr val="23232D"/>
                </a:solidFill>
              </a:defRPr>
            </a:pPr>
            <a:r>
              <a:rPr lang="fr-FR" sz="2400" noProof="0" dirty="0">
                <a:solidFill>
                  <a:srgbClr val="002060"/>
                </a:solidFill>
              </a:rPr>
              <a:t>Créer et contrôler les données d’exemplaire propres à sa DRAC.</a:t>
            </a:r>
          </a:p>
          <a:p>
            <a:pPr marL="342900" indent="-342900">
              <a:spcAft>
                <a:spcPts val="1100"/>
              </a:spcAft>
              <a:buFont typeface="Wingdings" panose="05000000000000000000" pitchFamily="2" charset="2"/>
              <a:buChar char="§"/>
              <a:defRPr sz="1800">
                <a:solidFill>
                  <a:srgbClr val="23232D"/>
                </a:solidFill>
              </a:defRPr>
            </a:pPr>
            <a:r>
              <a:rPr lang="fr-FR" sz="2400" noProof="0" dirty="0">
                <a:solidFill>
                  <a:srgbClr val="002060"/>
                </a:solidFill>
              </a:rPr>
              <a:t>Vérifier le résultat dans l’interface professionnelle et dans le portail.</a:t>
            </a:r>
          </a:p>
        </p:txBody>
      </p:sp>
      <p:sp>
        <p:nvSpPr>
          <p:cNvPr id="7" name="Rectangle 6">
            <a:extLst>
              <a:ext uri="{FF2B5EF4-FFF2-40B4-BE49-F238E27FC236}">
                <a16:creationId xmlns:a16="http://schemas.microsoft.com/office/drawing/2014/main" id="{C78AE17C-83AE-18DA-B5C3-211AD67EBD19}"/>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9CE02608-8309-8BB5-182C-AC9EEDE8EDC1}"/>
              </a:ext>
            </a:extLst>
          </p:cNvPr>
          <p:cNvSpPr txBox="1"/>
          <p:nvPr/>
        </p:nvSpPr>
        <p:spPr>
          <a:xfrm>
            <a:off x="8760542" y="914400"/>
            <a:ext cx="3352800" cy="1077218"/>
          </a:xfrm>
          <a:prstGeom prst="rect">
            <a:avLst/>
          </a:prstGeom>
          <a:noFill/>
        </p:spPr>
        <p:txBody>
          <a:bodyPr wrap="square">
            <a:spAutoFit/>
          </a:bodyPr>
          <a:lstStyle/>
          <a:p>
            <a:pPr>
              <a:defRPr sz="1600" b="1">
                <a:solidFill>
                  <a:srgbClr val="FFFFFF"/>
                </a:solidFill>
              </a:defRPr>
            </a:pPr>
            <a:r>
              <a:rPr lang="fr-FR" sz="3200" dirty="0"/>
              <a:t>Objectifs </a:t>
            </a:r>
            <a:br>
              <a:rPr lang="fr-FR" sz="3200" dirty="0"/>
            </a:br>
            <a:r>
              <a:rPr lang="fr-FR" sz="3200" dirty="0"/>
              <a:t>de la formation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5" name="TextBox 4"/>
          <p:cNvSpPr txBox="1"/>
          <p:nvPr/>
        </p:nvSpPr>
        <p:spPr>
          <a:xfrm>
            <a:off x="502920" y="462915"/>
            <a:ext cx="3934475" cy="400110"/>
          </a:xfrm>
          <a:prstGeom prst="rect">
            <a:avLst/>
          </a:prstGeom>
          <a:noFill/>
        </p:spPr>
        <p:txBody>
          <a:bodyPr wrap="none">
            <a:spAutoFit/>
          </a:bodyPr>
          <a:lstStyle/>
          <a:p>
            <a:pPr>
              <a:defRPr sz="1700" b="1">
                <a:solidFill>
                  <a:srgbClr val="141991"/>
                </a:solidFill>
              </a:defRPr>
            </a:pPr>
            <a:r>
              <a:rPr lang="fr-FR" sz="2000" noProof="0" dirty="0"/>
              <a:t>Jour 1 — Produire une notice fiable</a:t>
            </a:r>
          </a:p>
        </p:txBody>
      </p:sp>
      <p:sp>
        <p:nvSpPr>
          <p:cNvPr id="6" name="TextBox 5"/>
          <p:cNvSpPr txBox="1"/>
          <p:nvPr/>
        </p:nvSpPr>
        <p:spPr>
          <a:xfrm>
            <a:off x="502920" y="1102995"/>
            <a:ext cx="4861267" cy="2451953"/>
          </a:xfrm>
          <a:prstGeom prst="rect">
            <a:avLst/>
          </a:prstGeom>
          <a:noFill/>
        </p:spPr>
        <p:txBody>
          <a:bodyPr wrap="none">
            <a:spAutoFit/>
          </a:bodyPr>
          <a:lstStyle/>
          <a:p>
            <a:pPr>
              <a:spcAft>
                <a:spcPts val="800"/>
              </a:spcAft>
              <a:defRPr sz="1400">
                <a:solidFill>
                  <a:srgbClr val="23232D"/>
                </a:solidFill>
              </a:defRPr>
            </a:pPr>
            <a:r>
              <a:rPr lang="fr-FR" sz="2000" noProof="0" dirty="0">
                <a:solidFill>
                  <a:srgbClr val="002060"/>
                </a:solidFill>
              </a:rPr>
              <a:t>Catalogue mutualisé et principes communs</a:t>
            </a:r>
          </a:p>
          <a:p>
            <a:pPr>
              <a:spcAft>
                <a:spcPts val="800"/>
              </a:spcAft>
              <a:defRPr sz="1400">
                <a:solidFill>
                  <a:srgbClr val="23232D"/>
                </a:solidFill>
              </a:defRPr>
            </a:pPr>
            <a:r>
              <a:rPr lang="fr-FR" sz="2000" noProof="0" dirty="0">
                <a:solidFill>
                  <a:srgbClr val="002060"/>
                </a:solidFill>
              </a:rPr>
              <a:t>UNIMARC utile au quotidien</a:t>
            </a:r>
          </a:p>
          <a:p>
            <a:pPr>
              <a:spcAft>
                <a:spcPts val="800"/>
              </a:spcAft>
              <a:defRPr sz="1400">
                <a:solidFill>
                  <a:srgbClr val="23232D"/>
                </a:solidFill>
              </a:defRPr>
            </a:pPr>
            <a:r>
              <a:rPr lang="fr-FR" sz="2000" noProof="0" dirty="0">
                <a:solidFill>
                  <a:srgbClr val="002060"/>
                </a:solidFill>
              </a:rPr>
              <a:t>Recherche et dédoublonnage</a:t>
            </a:r>
          </a:p>
          <a:p>
            <a:pPr>
              <a:spcAft>
                <a:spcPts val="800"/>
              </a:spcAft>
              <a:defRPr sz="1400">
                <a:solidFill>
                  <a:srgbClr val="23232D"/>
                </a:solidFill>
              </a:defRPr>
            </a:pPr>
            <a:r>
              <a:rPr lang="fr-FR" sz="2000" noProof="0" dirty="0">
                <a:solidFill>
                  <a:srgbClr val="002060"/>
                </a:solidFill>
              </a:rPr>
              <a:t>Catalogage par dérivation</a:t>
            </a:r>
          </a:p>
          <a:p>
            <a:pPr>
              <a:spcAft>
                <a:spcPts val="800"/>
              </a:spcAft>
              <a:defRPr sz="1400">
                <a:solidFill>
                  <a:srgbClr val="23232D"/>
                </a:solidFill>
              </a:defRPr>
            </a:pPr>
            <a:r>
              <a:rPr lang="fr-FR" sz="2000" noProof="0" dirty="0">
                <a:solidFill>
                  <a:srgbClr val="002060"/>
                </a:solidFill>
              </a:rPr>
              <a:t>Contrôle de la notice</a:t>
            </a:r>
          </a:p>
          <a:p>
            <a:pPr>
              <a:spcAft>
                <a:spcPts val="800"/>
              </a:spcAft>
              <a:defRPr sz="1400">
                <a:solidFill>
                  <a:srgbClr val="23232D"/>
                </a:solidFill>
              </a:defRPr>
            </a:pPr>
            <a:r>
              <a:rPr lang="fr-FR" sz="2000" noProof="0" dirty="0">
                <a:solidFill>
                  <a:srgbClr val="002060"/>
                </a:solidFill>
              </a:rPr>
              <a:t>Création de l’exemplaire</a:t>
            </a:r>
          </a:p>
        </p:txBody>
      </p:sp>
      <p:sp>
        <p:nvSpPr>
          <p:cNvPr id="8" name="TextBox 7"/>
          <p:cNvSpPr txBox="1"/>
          <p:nvPr/>
        </p:nvSpPr>
        <p:spPr>
          <a:xfrm>
            <a:off x="4653915" y="3178525"/>
            <a:ext cx="3283143" cy="400110"/>
          </a:xfrm>
          <a:prstGeom prst="rect">
            <a:avLst/>
          </a:prstGeom>
          <a:noFill/>
        </p:spPr>
        <p:txBody>
          <a:bodyPr wrap="none">
            <a:spAutoFit/>
          </a:bodyPr>
          <a:lstStyle/>
          <a:p>
            <a:pPr>
              <a:defRPr sz="1700" b="1">
                <a:solidFill>
                  <a:srgbClr val="141991"/>
                </a:solidFill>
              </a:defRPr>
            </a:pPr>
            <a:r>
              <a:rPr lang="fr-FR" sz="2000" noProof="0" dirty="0"/>
              <a:t>Jour 2 — Enrichir et maîtriser</a:t>
            </a:r>
          </a:p>
        </p:txBody>
      </p:sp>
      <p:sp>
        <p:nvSpPr>
          <p:cNvPr id="9" name="TextBox 8"/>
          <p:cNvSpPr txBox="1"/>
          <p:nvPr/>
        </p:nvSpPr>
        <p:spPr>
          <a:xfrm>
            <a:off x="4653915" y="3818605"/>
            <a:ext cx="3216137" cy="2451953"/>
          </a:xfrm>
          <a:prstGeom prst="rect">
            <a:avLst/>
          </a:prstGeom>
          <a:noFill/>
        </p:spPr>
        <p:txBody>
          <a:bodyPr wrap="none">
            <a:spAutoFit/>
          </a:bodyPr>
          <a:lstStyle/>
          <a:p>
            <a:pPr>
              <a:spcAft>
                <a:spcPts val="800"/>
              </a:spcAft>
              <a:defRPr sz="1400">
                <a:solidFill>
                  <a:srgbClr val="23232D"/>
                </a:solidFill>
              </a:defRPr>
            </a:pPr>
            <a:r>
              <a:rPr lang="fr-FR" sz="2000" noProof="0" dirty="0">
                <a:solidFill>
                  <a:srgbClr val="002060"/>
                </a:solidFill>
              </a:rPr>
              <a:t>Autorités et indexation</a:t>
            </a:r>
          </a:p>
          <a:p>
            <a:pPr>
              <a:spcAft>
                <a:spcPts val="800"/>
              </a:spcAft>
              <a:defRPr sz="1400">
                <a:solidFill>
                  <a:srgbClr val="23232D"/>
                </a:solidFill>
              </a:defRPr>
            </a:pPr>
            <a:r>
              <a:rPr lang="fr-FR" sz="2000" noProof="0" dirty="0">
                <a:solidFill>
                  <a:srgbClr val="002060"/>
                </a:solidFill>
              </a:rPr>
              <a:t>Catalogage sans dérivation</a:t>
            </a:r>
          </a:p>
          <a:p>
            <a:pPr>
              <a:spcAft>
                <a:spcPts val="800"/>
              </a:spcAft>
              <a:defRPr sz="1400">
                <a:solidFill>
                  <a:srgbClr val="23232D"/>
                </a:solidFill>
              </a:defRPr>
            </a:pPr>
            <a:r>
              <a:rPr lang="fr-FR" sz="2000" noProof="0" dirty="0">
                <a:solidFill>
                  <a:srgbClr val="002060"/>
                </a:solidFill>
              </a:rPr>
              <a:t>Collections et cas particuliers</a:t>
            </a:r>
          </a:p>
          <a:p>
            <a:pPr>
              <a:spcAft>
                <a:spcPts val="800"/>
              </a:spcAft>
              <a:defRPr sz="1400">
                <a:solidFill>
                  <a:srgbClr val="23232D"/>
                </a:solidFill>
              </a:defRPr>
            </a:pPr>
            <a:r>
              <a:rPr lang="fr-FR" sz="2000" noProof="0" dirty="0">
                <a:solidFill>
                  <a:srgbClr val="002060"/>
                </a:solidFill>
              </a:rPr>
              <a:t>Ressources en ligne</a:t>
            </a:r>
          </a:p>
          <a:p>
            <a:pPr>
              <a:spcAft>
                <a:spcPts val="800"/>
              </a:spcAft>
              <a:defRPr sz="1400">
                <a:solidFill>
                  <a:srgbClr val="23232D"/>
                </a:solidFill>
              </a:defRPr>
            </a:pPr>
            <a:r>
              <a:rPr lang="fr-FR" sz="2000" noProof="0" dirty="0">
                <a:solidFill>
                  <a:srgbClr val="002060"/>
                </a:solidFill>
              </a:rPr>
              <a:t>Contrôle qualité</a:t>
            </a:r>
          </a:p>
          <a:p>
            <a:pPr>
              <a:spcAft>
                <a:spcPts val="800"/>
              </a:spcAft>
              <a:defRPr sz="1400">
                <a:solidFill>
                  <a:srgbClr val="23232D"/>
                </a:solidFill>
              </a:defRPr>
            </a:pPr>
            <a:r>
              <a:rPr lang="fr-FR" sz="2000" noProof="0" dirty="0">
                <a:solidFill>
                  <a:srgbClr val="002060"/>
                </a:solidFill>
              </a:rPr>
              <a:t>Atelier final</a:t>
            </a:r>
          </a:p>
        </p:txBody>
      </p:sp>
      <p:sp>
        <p:nvSpPr>
          <p:cNvPr id="12" name="Rectangle 11">
            <a:extLst>
              <a:ext uri="{FF2B5EF4-FFF2-40B4-BE49-F238E27FC236}">
                <a16:creationId xmlns:a16="http://schemas.microsoft.com/office/drawing/2014/main" id="{D9FDE8FD-DBCF-20B5-6284-DEAECE4A8870}"/>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2">
            <a:extLst>
              <a:ext uri="{FF2B5EF4-FFF2-40B4-BE49-F238E27FC236}">
                <a16:creationId xmlns:a16="http://schemas.microsoft.com/office/drawing/2014/main" id="{96A2508A-D59E-CDB8-5408-78CFEFE6150C}"/>
              </a:ext>
            </a:extLst>
          </p:cNvPr>
          <p:cNvSpPr txBox="1"/>
          <p:nvPr/>
        </p:nvSpPr>
        <p:spPr>
          <a:xfrm>
            <a:off x="8760542" y="914400"/>
            <a:ext cx="3352800" cy="1077218"/>
          </a:xfrm>
          <a:prstGeom prst="rect">
            <a:avLst/>
          </a:prstGeom>
          <a:noFill/>
        </p:spPr>
        <p:txBody>
          <a:bodyPr wrap="square">
            <a:spAutoFit/>
          </a:bodyPr>
          <a:lstStyle/>
          <a:p>
            <a:pPr>
              <a:defRPr sz="1600" b="1">
                <a:solidFill>
                  <a:srgbClr val="FFFFFF"/>
                </a:solidFill>
              </a:defRPr>
            </a:pPr>
            <a:r>
              <a:rPr lang="fr-FR" sz="3200" dirty="0"/>
              <a:t>Le parcours </a:t>
            </a:r>
            <a:br>
              <a:rPr lang="fr-FR" sz="3200" dirty="0"/>
            </a:br>
            <a:r>
              <a:rPr lang="fr-FR" sz="3200" dirty="0"/>
              <a:t>des 2 jours</a:t>
            </a:r>
          </a:p>
        </p:txBody>
      </p:sp>
      <p:cxnSp>
        <p:nvCxnSpPr>
          <p:cNvPr id="16" name="Connecteur : en angle 15">
            <a:extLst>
              <a:ext uri="{FF2B5EF4-FFF2-40B4-BE49-F238E27FC236}">
                <a16:creationId xmlns:a16="http://schemas.microsoft.com/office/drawing/2014/main" id="{19AEFE68-6652-1891-52B3-72FAC632EBC6}"/>
              </a:ext>
            </a:extLst>
          </p:cNvPr>
          <p:cNvCxnSpPr>
            <a:cxnSpLocks/>
            <a:stCxn id="6" idx="3"/>
            <a:endCxn id="8" idx="0"/>
          </p:cNvCxnSpPr>
          <p:nvPr/>
        </p:nvCxnSpPr>
        <p:spPr>
          <a:xfrm>
            <a:off x="5364187" y="2328972"/>
            <a:ext cx="931300" cy="849553"/>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2">
            <a:extLst>
              <a:ext uri="{FF2B5EF4-FFF2-40B4-BE49-F238E27FC236}">
                <a16:creationId xmlns:a16="http://schemas.microsoft.com/office/drawing/2014/main" id="{E12BEDC8-EE2A-769F-CC6E-BBC6C8FA9FE3}"/>
              </a:ext>
            </a:extLst>
          </p:cNvPr>
          <p:cNvSpPr txBox="1"/>
          <p:nvPr/>
        </p:nvSpPr>
        <p:spPr>
          <a:xfrm>
            <a:off x="8760542" y="914400"/>
            <a:ext cx="3352800" cy="2308324"/>
          </a:xfrm>
          <a:prstGeom prst="rect">
            <a:avLst/>
          </a:prstGeom>
          <a:noFill/>
        </p:spPr>
        <p:txBody>
          <a:bodyPr wrap="square">
            <a:spAutoFit/>
          </a:bodyPr>
          <a:lstStyle/>
          <a:p>
            <a:pPr>
              <a:defRPr sz="1600" b="1">
                <a:solidFill>
                  <a:srgbClr val="FFFFFF"/>
                </a:solidFill>
              </a:defRPr>
            </a:pPr>
            <a:r>
              <a:rPr lang="fr-FR" sz="3200" dirty="0"/>
              <a:t>Produire une notice fiable</a:t>
            </a:r>
            <a:br>
              <a:rPr lang="fr-FR" sz="3200" dirty="0"/>
            </a:br>
            <a:br>
              <a:rPr lang="fr-FR" sz="3200" dirty="0"/>
            </a:br>
            <a:r>
              <a:rPr lang="fr-FR" sz="2400" dirty="0"/>
              <a:t>Du document en main </a:t>
            </a:r>
            <a:br>
              <a:rPr lang="fr-FR" sz="2400" dirty="0"/>
            </a:br>
            <a:r>
              <a:rPr lang="fr-FR" sz="2400" dirty="0"/>
              <a:t>à l’exemplaire dans Koha</a:t>
            </a:r>
          </a:p>
        </p:txBody>
      </p:sp>
      <p:pic>
        <p:nvPicPr>
          <p:cNvPr id="8" name="Image 7">
            <a:extLst>
              <a:ext uri="{FF2B5EF4-FFF2-40B4-BE49-F238E27FC236}">
                <a16:creationId xmlns:a16="http://schemas.microsoft.com/office/drawing/2014/main" id="{45A7010D-E9F8-D65A-DA55-6F8C1014E147}"/>
              </a:ext>
            </a:extLst>
          </p:cNvPr>
          <p:cNvPicPr>
            <a:picLocks noChangeAspect="1"/>
          </p:cNvPicPr>
          <p:nvPr/>
        </p:nvPicPr>
        <p:blipFill>
          <a:blip r:embed="rId2"/>
          <a:srcRect r="23077"/>
          <a:stretch>
            <a:fillRect/>
          </a:stretch>
        </p:blipFill>
        <p:spPr>
          <a:xfrm>
            <a:off x="171450" y="1514347"/>
            <a:ext cx="7810500" cy="292431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B85A63F-79D0-C31A-AC85-9A085C24271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BEB3791-F577-397F-BEBE-5D20E94006C5}"/>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2">
            <a:extLst>
              <a:ext uri="{FF2B5EF4-FFF2-40B4-BE49-F238E27FC236}">
                <a16:creationId xmlns:a16="http://schemas.microsoft.com/office/drawing/2014/main" id="{408645D6-F964-64A0-D34E-6ABA9A27068D}"/>
              </a:ext>
            </a:extLst>
          </p:cNvPr>
          <p:cNvSpPr txBox="1"/>
          <p:nvPr/>
        </p:nvSpPr>
        <p:spPr>
          <a:xfrm>
            <a:off x="8760542" y="914400"/>
            <a:ext cx="3352800" cy="1938992"/>
          </a:xfrm>
          <a:prstGeom prst="rect">
            <a:avLst/>
          </a:prstGeom>
          <a:noFill/>
        </p:spPr>
        <p:txBody>
          <a:bodyPr wrap="square">
            <a:spAutoFit/>
          </a:bodyPr>
          <a:lstStyle/>
          <a:p>
            <a:pPr>
              <a:defRPr sz="1600" b="1">
                <a:solidFill>
                  <a:srgbClr val="FFFFFF"/>
                </a:solidFill>
              </a:defRPr>
            </a:pPr>
            <a:r>
              <a:rPr lang="fr-FR" sz="3200" dirty="0"/>
              <a:t>Produire une notice fiable</a:t>
            </a:r>
            <a:br>
              <a:rPr lang="fr-FR" sz="3200" dirty="0"/>
            </a:br>
            <a:br>
              <a:rPr lang="fr-FR" sz="3200" dirty="0"/>
            </a:br>
            <a:r>
              <a:rPr lang="fr-FR" sz="2400" dirty="0"/>
              <a:t>L’interface de KOHA</a:t>
            </a:r>
          </a:p>
        </p:txBody>
      </p:sp>
      <p:pic>
        <p:nvPicPr>
          <p:cNvPr id="4" name="Image 3">
            <a:extLst>
              <a:ext uri="{FF2B5EF4-FFF2-40B4-BE49-F238E27FC236}">
                <a16:creationId xmlns:a16="http://schemas.microsoft.com/office/drawing/2014/main" id="{D29561AB-7005-7C4B-A46F-05122A18962B}"/>
              </a:ext>
            </a:extLst>
          </p:cNvPr>
          <p:cNvPicPr>
            <a:picLocks noChangeAspect="1"/>
          </p:cNvPicPr>
          <p:nvPr/>
        </p:nvPicPr>
        <p:blipFill>
          <a:blip r:embed="rId2"/>
          <a:stretch>
            <a:fillRect/>
          </a:stretch>
        </p:blipFill>
        <p:spPr>
          <a:xfrm>
            <a:off x="347534" y="1919248"/>
            <a:ext cx="7919482" cy="3019504"/>
          </a:xfrm>
          <a:prstGeom prst="rect">
            <a:avLst/>
          </a:prstGeom>
        </p:spPr>
      </p:pic>
    </p:spTree>
    <p:extLst>
      <p:ext uri="{BB962C8B-B14F-4D97-AF65-F5344CB8AC3E}">
        <p14:creationId xmlns:p14="http://schemas.microsoft.com/office/powerpoint/2010/main" val="19383532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84054" y="586740"/>
            <a:ext cx="7742510" cy="1754326"/>
          </a:xfrm>
          <a:prstGeom prst="rect">
            <a:avLst/>
          </a:prstGeom>
          <a:noFill/>
        </p:spPr>
        <p:txBody>
          <a:bodyPr wrap="square">
            <a:spAutoFit/>
          </a:bodyPr>
          <a:lstStyle/>
          <a:p>
            <a:pPr>
              <a:spcAft>
                <a:spcPts val="1100"/>
              </a:spcAft>
              <a:defRPr sz="1800">
                <a:solidFill>
                  <a:srgbClr val="23232D"/>
                </a:solidFill>
              </a:defRPr>
            </a:pPr>
            <a:r>
              <a:rPr lang="fr-FR" noProof="0" dirty="0">
                <a:solidFill>
                  <a:srgbClr val="002060"/>
                </a:solidFill>
              </a:rPr>
              <a:t>Une notice bibliographique peut être partagée par plusieurs structures.</a:t>
            </a:r>
            <a:br>
              <a:rPr lang="fr-FR" noProof="0" dirty="0">
                <a:solidFill>
                  <a:srgbClr val="002060"/>
                </a:solidFill>
              </a:rPr>
            </a:br>
            <a:r>
              <a:rPr lang="fr-FR" noProof="0" dirty="0">
                <a:solidFill>
                  <a:srgbClr val="002060"/>
                </a:solidFill>
              </a:rPr>
              <a:t>Chaque structure conserve ses données d’exemplaire : site, localisation, cote, code-barres, statut, type de prêt.</a:t>
            </a:r>
            <a:br>
              <a:rPr lang="fr-FR" noProof="0" dirty="0">
                <a:solidFill>
                  <a:srgbClr val="002060"/>
                </a:solidFill>
              </a:rPr>
            </a:br>
            <a:r>
              <a:rPr lang="fr-FR" noProof="0" dirty="0">
                <a:solidFill>
                  <a:srgbClr val="002060"/>
                </a:solidFill>
              </a:rPr>
              <a:t>La mutualisation suppose des règles communes de description et de qualité.</a:t>
            </a:r>
            <a:br>
              <a:rPr lang="fr-FR" noProof="0" dirty="0">
                <a:solidFill>
                  <a:srgbClr val="002060"/>
                </a:solidFill>
              </a:rPr>
            </a:br>
            <a:r>
              <a:rPr lang="fr-FR" b="1" noProof="0" dirty="0">
                <a:solidFill>
                  <a:srgbClr val="002060"/>
                </a:solidFill>
              </a:rPr>
              <a:t>Principe</a:t>
            </a:r>
            <a:r>
              <a:rPr lang="fr-FR" noProof="0" dirty="0">
                <a:solidFill>
                  <a:srgbClr val="002060"/>
                </a:solidFill>
              </a:rPr>
              <a:t> : ne pas dupliquer une notice bibliographique simplement parce que l’exemplaire appartient à une autre DRAC.</a:t>
            </a:r>
          </a:p>
        </p:txBody>
      </p:sp>
      <p:sp>
        <p:nvSpPr>
          <p:cNvPr id="7" name="Rectangle 6">
            <a:extLst>
              <a:ext uri="{FF2B5EF4-FFF2-40B4-BE49-F238E27FC236}">
                <a16:creationId xmlns:a16="http://schemas.microsoft.com/office/drawing/2014/main" id="{A2B0C94B-C2C4-00AA-0332-CED453336996}"/>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470D058D-E8C4-19C5-A155-A5713B6BCE0F}"/>
              </a:ext>
            </a:extLst>
          </p:cNvPr>
          <p:cNvSpPr txBox="1"/>
          <p:nvPr/>
        </p:nvSpPr>
        <p:spPr>
          <a:xfrm>
            <a:off x="8760542" y="914400"/>
            <a:ext cx="3352800" cy="2308324"/>
          </a:xfrm>
          <a:prstGeom prst="rect">
            <a:avLst/>
          </a:prstGeom>
          <a:noFill/>
        </p:spPr>
        <p:txBody>
          <a:bodyPr wrap="square">
            <a:spAutoFit/>
          </a:bodyPr>
          <a:lstStyle/>
          <a:p>
            <a:pPr>
              <a:defRPr sz="1600" b="1">
                <a:solidFill>
                  <a:srgbClr val="FFFFFF"/>
                </a:solidFill>
              </a:defRPr>
            </a:pPr>
            <a:r>
              <a:rPr lang="fr-FR" sz="3200" dirty="0"/>
              <a:t>Le catalogue mutualisé</a:t>
            </a:r>
            <a:br>
              <a:rPr lang="fr-FR" sz="3200" dirty="0"/>
            </a:br>
            <a:br>
              <a:rPr lang="fr-FR" sz="3200" dirty="0"/>
            </a:br>
            <a:r>
              <a:rPr lang="fr-FR" sz="2400" dirty="0"/>
              <a:t>Ce qui est commun, </a:t>
            </a:r>
            <a:br>
              <a:rPr lang="fr-FR" sz="2400" dirty="0"/>
            </a:br>
            <a:r>
              <a:rPr lang="fr-FR" sz="2400" dirty="0"/>
              <a:t>ce qui reste local</a:t>
            </a:r>
          </a:p>
        </p:txBody>
      </p:sp>
      <p:pic>
        <p:nvPicPr>
          <p:cNvPr id="11" name="Image 10">
            <a:extLst>
              <a:ext uri="{FF2B5EF4-FFF2-40B4-BE49-F238E27FC236}">
                <a16:creationId xmlns:a16="http://schemas.microsoft.com/office/drawing/2014/main" id="{46B9E876-0C82-AF3D-552E-BB4A6C760ABB}"/>
              </a:ext>
            </a:extLst>
          </p:cNvPr>
          <p:cNvPicPr>
            <a:picLocks noChangeAspect="1"/>
          </p:cNvPicPr>
          <p:nvPr/>
        </p:nvPicPr>
        <p:blipFill>
          <a:blip r:embed="rId2"/>
          <a:stretch>
            <a:fillRect/>
          </a:stretch>
        </p:blipFill>
        <p:spPr>
          <a:xfrm>
            <a:off x="327163" y="2429985"/>
            <a:ext cx="7349982" cy="2263766"/>
          </a:xfrm>
          <a:prstGeom prst="rect">
            <a:avLst/>
          </a:prstGeom>
        </p:spPr>
      </p:pic>
      <p:pic>
        <p:nvPicPr>
          <p:cNvPr id="13" name="Image 12">
            <a:extLst>
              <a:ext uri="{FF2B5EF4-FFF2-40B4-BE49-F238E27FC236}">
                <a16:creationId xmlns:a16="http://schemas.microsoft.com/office/drawing/2014/main" id="{118B5894-170C-1C2B-82A0-E08741FFC358}"/>
              </a:ext>
            </a:extLst>
          </p:cNvPr>
          <p:cNvPicPr>
            <a:picLocks noChangeAspect="1"/>
          </p:cNvPicPr>
          <p:nvPr/>
        </p:nvPicPr>
        <p:blipFill>
          <a:blip r:embed="rId3"/>
          <a:srcRect b="11913"/>
          <a:stretch>
            <a:fillRect/>
          </a:stretch>
        </p:blipFill>
        <p:spPr>
          <a:xfrm>
            <a:off x="227348" y="4779120"/>
            <a:ext cx="7549612" cy="1831230"/>
          </a:xfrm>
          <a:prstGeom prst="rect">
            <a:avLst/>
          </a:prstGeom>
        </p:spPr>
      </p:pic>
      <p:sp>
        <p:nvSpPr>
          <p:cNvPr id="5" name="TextBox 4"/>
          <p:cNvSpPr txBox="1"/>
          <p:nvPr/>
        </p:nvSpPr>
        <p:spPr>
          <a:xfrm>
            <a:off x="10742454" y="6610350"/>
            <a:ext cx="1370888" cy="215444"/>
          </a:xfrm>
          <a:prstGeom prst="rect">
            <a:avLst/>
          </a:prstGeom>
          <a:noFill/>
        </p:spPr>
        <p:txBody>
          <a:bodyPr wrap="none">
            <a:spAutoFit/>
          </a:bodyPr>
          <a:lstStyle/>
          <a:p>
            <a:pPr algn="r">
              <a:defRPr sz="800">
                <a:solidFill>
                  <a:srgbClr val="696E7D"/>
                </a:solidFill>
              </a:defRPr>
            </a:pPr>
            <a:r>
              <a:rPr dirty="0">
                <a:solidFill>
                  <a:schemeClr val="bg1"/>
                </a:solidFill>
              </a:rPr>
              <a:t>KOHA — </a:t>
            </a:r>
            <a:r>
              <a:rPr dirty="0" err="1">
                <a:solidFill>
                  <a:schemeClr val="bg1"/>
                </a:solidFill>
              </a:rPr>
              <a:t>Catalogueurs</a:t>
            </a:r>
            <a:r>
              <a:rPr dirty="0">
                <a:solidFill>
                  <a:schemeClr val="bg1"/>
                </a:solidFill>
              </a:rPr>
              <a:t> DRAC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 name="TextBox 2"/>
          <p:cNvSpPr txBox="1"/>
          <p:nvPr/>
        </p:nvSpPr>
        <p:spPr>
          <a:xfrm>
            <a:off x="2146935" y="365760"/>
            <a:ext cx="10972800" cy="731520"/>
          </a:xfrm>
          <a:prstGeom prst="rect">
            <a:avLst/>
          </a:prstGeom>
          <a:noFill/>
        </p:spPr>
        <p:txBody>
          <a:bodyPr wrap="none">
            <a:spAutoFit/>
          </a:bodyPr>
          <a:lstStyle/>
          <a:p>
            <a:pPr>
              <a:defRPr sz="2600" b="1">
                <a:solidFill>
                  <a:srgbClr val="141991"/>
                </a:solidFill>
              </a:defRPr>
            </a:pPr>
            <a:r>
              <a:rPr lang="fr-FR" noProof="0" dirty="0"/>
              <a:t>Notice bibliographique ≠ exemplaire</a:t>
            </a:r>
          </a:p>
        </p:txBody>
      </p:sp>
      <p:sp>
        <p:nvSpPr>
          <p:cNvPr id="5" name="TextBox 4"/>
          <p:cNvSpPr txBox="1"/>
          <p:nvPr/>
        </p:nvSpPr>
        <p:spPr>
          <a:xfrm>
            <a:off x="409579" y="3771613"/>
            <a:ext cx="4709160" cy="502920"/>
          </a:xfrm>
          <a:prstGeom prst="rect">
            <a:avLst/>
          </a:prstGeom>
          <a:noFill/>
        </p:spPr>
        <p:txBody>
          <a:bodyPr wrap="none">
            <a:spAutoFit/>
          </a:bodyPr>
          <a:lstStyle/>
          <a:p>
            <a:pPr>
              <a:defRPr sz="1700" b="1">
                <a:solidFill>
                  <a:srgbClr val="141991"/>
                </a:solidFill>
              </a:defRPr>
            </a:pPr>
            <a:r>
              <a:rPr lang="fr-FR" noProof="0" dirty="0"/>
              <a:t>Notice bibliographique</a:t>
            </a:r>
          </a:p>
        </p:txBody>
      </p:sp>
      <p:sp>
        <p:nvSpPr>
          <p:cNvPr id="6" name="TextBox 5"/>
          <p:cNvSpPr txBox="1"/>
          <p:nvPr/>
        </p:nvSpPr>
        <p:spPr>
          <a:xfrm>
            <a:off x="409579" y="4194897"/>
            <a:ext cx="3197798" cy="1897955"/>
          </a:xfrm>
          <a:prstGeom prst="rect">
            <a:avLst/>
          </a:prstGeom>
          <a:noFill/>
        </p:spPr>
        <p:txBody>
          <a:bodyPr wrap="none">
            <a:spAutoFit/>
          </a:bodyPr>
          <a:lstStyle/>
          <a:p>
            <a:pPr>
              <a:spcAft>
                <a:spcPts val="800"/>
              </a:spcAft>
              <a:defRPr sz="1400">
                <a:solidFill>
                  <a:srgbClr val="23232D"/>
                </a:solidFill>
              </a:defRPr>
            </a:pPr>
            <a:r>
              <a:rPr lang="fr-FR" noProof="0" dirty="0">
                <a:solidFill>
                  <a:srgbClr val="002060"/>
                </a:solidFill>
              </a:rPr>
              <a:t>• Décrit le document (intellectuellement)</a:t>
            </a:r>
          </a:p>
          <a:p>
            <a:pPr>
              <a:spcAft>
                <a:spcPts val="800"/>
              </a:spcAft>
              <a:defRPr sz="1400">
                <a:solidFill>
                  <a:srgbClr val="23232D"/>
                </a:solidFill>
              </a:defRPr>
            </a:pPr>
            <a:r>
              <a:rPr lang="fr-FR" noProof="0" dirty="0">
                <a:solidFill>
                  <a:srgbClr val="002060"/>
                </a:solidFill>
              </a:rPr>
              <a:t>• Titre et responsabilités</a:t>
            </a:r>
          </a:p>
          <a:p>
            <a:pPr>
              <a:spcAft>
                <a:spcPts val="800"/>
              </a:spcAft>
              <a:defRPr sz="1400">
                <a:solidFill>
                  <a:srgbClr val="23232D"/>
                </a:solidFill>
              </a:defRPr>
            </a:pPr>
            <a:r>
              <a:rPr lang="fr-FR" noProof="0" dirty="0">
                <a:solidFill>
                  <a:srgbClr val="002060"/>
                </a:solidFill>
              </a:rPr>
              <a:t>• Publication</a:t>
            </a:r>
          </a:p>
          <a:p>
            <a:pPr>
              <a:spcAft>
                <a:spcPts val="800"/>
              </a:spcAft>
              <a:defRPr sz="1400">
                <a:solidFill>
                  <a:srgbClr val="23232D"/>
                </a:solidFill>
              </a:defRPr>
            </a:pPr>
            <a:r>
              <a:rPr lang="fr-FR" noProof="0" dirty="0">
                <a:solidFill>
                  <a:srgbClr val="002060"/>
                </a:solidFill>
              </a:rPr>
              <a:t>• Description matérielle</a:t>
            </a:r>
          </a:p>
          <a:p>
            <a:pPr>
              <a:spcAft>
                <a:spcPts val="800"/>
              </a:spcAft>
              <a:defRPr sz="1400">
                <a:solidFill>
                  <a:srgbClr val="23232D"/>
                </a:solidFill>
              </a:defRPr>
            </a:pPr>
            <a:r>
              <a:rPr lang="fr-FR" noProof="0" dirty="0">
                <a:solidFill>
                  <a:srgbClr val="002060"/>
                </a:solidFill>
              </a:rPr>
              <a:t>• Notes</a:t>
            </a:r>
          </a:p>
          <a:p>
            <a:pPr>
              <a:spcAft>
                <a:spcPts val="800"/>
              </a:spcAft>
              <a:defRPr sz="1400">
                <a:solidFill>
                  <a:srgbClr val="23232D"/>
                </a:solidFill>
              </a:defRPr>
            </a:pPr>
            <a:r>
              <a:rPr lang="fr-FR" noProof="0" dirty="0">
                <a:solidFill>
                  <a:srgbClr val="002060"/>
                </a:solidFill>
              </a:rPr>
              <a:t>• Sujets et autorités</a:t>
            </a:r>
          </a:p>
        </p:txBody>
      </p:sp>
      <p:sp>
        <p:nvSpPr>
          <p:cNvPr id="12" name="Rectangle 11">
            <a:extLst>
              <a:ext uri="{FF2B5EF4-FFF2-40B4-BE49-F238E27FC236}">
                <a16:creationId xmlns:a16="http://schemas.microsoft.com/office/drawing/2014/main" id="{81657B6C-BDDF-450C-E080-EDB6E07D7D95}"/>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4" name="TextBox 2">
            <a:extLst>
              <a:ext uri="{FF2B5EF4-FFF2-40B4-BE49-F238E27FC236}">
                <a16:creationId xmlns:a16="http://schemas.microsoft.com/office/drawing/2014/main" id="{77CAD128-F073-E3B7-20D3-C9AD1BF1394B}"/>
              </a:ext>
            </a:extLst>
          </p:cNvPr>
          <p:cNvSpPr txBox="1"/>
          <p:nvPr/>
        </p:nvSpPr>
        <p:spPr>
          <a:xfrm>
            <a:off x="8760542" y="914400"/>
            <a:ext cx="3352800" cy="1569660"/>
          </a:xfrm>
          <a:prstGeom prst="rect">
            <a:avLst/>
          </a:prstGeom>
          <a:noFill/>
        </p:spPr>
        <p:txBody>
          <a:bodyPr wrap="square">
            <a:spAutoFit/>
          </a:bodyPr>
          <a:lstStyle/>
          <a:p>
            <a:pPr>
              <a:defRPr sz="1600" b="1">
                <a:solidFill>
                  <a:srgbClr val="FFFFFF"/>
                </a:solidFill>
              </a:defRPr>
            </a:pPr>
            <a:r>
              <a:rPr lang="fr-FR" sz="3200" noProof="0" dirty="0"/>
              <a:t>Notice bibliographique et notice exemplaire</a:t>
            </a:r>
          </a:p>
        </p:txBody>
      </p:sp>
      <p:pic>
        <p:nvPicPr>
          <p:cNvPr id="16" name="Image 15">
            <a:extLst>
              <a:ext uri="{FF2B5EF4-FFF2-40B4-BE49-F238E27FC236}">
                <a16:creationId xmlns:a16="http://schemas.microsoft.com/office/drawing/2014/main" id="{8C9C563F-B9F4-ABA8-6090-9A850A7366EB}"/>
              </a:ext>
            </a:extLst>
          </p:cNvPr>
          <p:cNvPicPr>
            <a:picLocks noChangeAspect="1"/>
          </p:cNvPicPr>
          <p:nvPr/>
        </p:nvPicPr>
        <p:blipFill>
          <a:blip r:embed="rId2"/>
          <a:stretch>
            <a:fillRect/>
          </a:stretch>
        </p:blipFill>
        <p:spPr>
          <a:xfrm>
            <a:off x="409579" y="1097280"/>
            <a:ext cx="5981698" cy="2286074"/>
          </a:xfrm>
          <a:prstGeom prst="rect">
            <a:avLst/>
          </a:prstGeom>
        </p:spPr>
      </p:pic>
      <p:sp>
        <p:nvSpPr>
          <p:cNvPr id="18" name="TextBox 4">
            <a:extLst>
              <a:ext uri="{FF2B5EF4-FFF2-40B4-BE49-F238E27FC236}">
                <a16:creationId xmlns:a16="http://schemas.microsoft.com/office/drawing/2014/main" id="{129E67AD-E73D-7A44-F8EC-FA542D6CFAA4}"/>
              </a:ext>
            </a:extLst>
          </p:cNvPr>
          <p:cNvSpPr txBox="1"/>
          <p:nvPr/>
        </p:nvSpPr>
        <p:spPr>
          <a:xfrm>
            <a:off x="10742454" y="6610350"/>
            <a:ext cx="1370888" cy="215444"/>
          </a:xfrm>
          <a:prstGeom prst="rect">
            <a:avLst/>
          </a:prstGeom>
          <a:noFill/>
        </p:spPr>
        <p:txBody>
          <a:bodyPr wrap="none">
            <a:spAutoFit/>
          </a:bodyPr>
          <a:lstStyle/>
          <a:p>
            <a:pPr algn="r">
              <a:defRPr sz="800">
                <a:solidFill>
                  <a:srgbClr val="696E7D"/>
                </a:solidFill>
              </a:defRPr>
            </a:pPr>
            <a:r>
              <a:rPr dirty="0">
                <a:solidFill>
                  <a:schemeClr val="bg1"/>
                </a:solidFill>
              </a:rPr>
              <a:t>KOHA — </a:t>
            </a:r>
            <a:r>
              <a:rPr dirty="0" err="1">
                <a:solidFill>
                  <a:schemeClr val="bg1"/>
                </a:solidFill>
              </a:rPr>
              <a:t>Catalogueurs</a:t>
            </a:r>
            <a:r>
              <a:rPr dirty="0">
                <a:solidFill>
                  <a:schemeClr val="bg1"/>
                </a:solidFill>
              </a:rPr>
              <a:t> DRAC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D93BDE9-8E1A-031B-DD80-7B937BB03DA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BA6B8A1-D240-244B-B05A-16500A8CA5E4}"/>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 name="TextBox 2">
            <a:extLst>
              <a:ext uri="{FF2B5EF4-FFF2-40B4-BE49-F238E27FC236}">
                <a16:creationId xmlns:a16="http://schemas.microsoft.com/office/drawing/2014/main" id="{6BA13CF0-C93C-EE36-815D-3A78EE377D79}"/>
              </a:ext>
            </a:extLst>
          </p:cNvPr>
          <p:cNvSpPr txBox="1"/>
          <p:nvPr/>
        </p:nvSpPr>
        <p:spPr>
          <a:xfrm>
            <a:off x="2146935" y="365760"/>
            <a:ext cx="10972800" cy="731520"/>
          </a:xfrm>
          <a:prstGeom prst="rect">
            <a:avLst/>
          </a:prstGeom>
          <a:noFill/>
        </p:spPr>
        <p:txBody>
          <a:bodyPr wrap="none">
            <a:spAutoFit/>
          </a:bodyPr>
          <a:lstStyle/>
          <a:p>
            <a:pPr>
              <a:defRPr sz="2600" b="1">
                <a:solidFill>
                  <a:srgbClr val="141991"/>
                </a:solidFill>
              </a:defRPr>
            </a:pPr>
            <a:r>
              <a:rPr lang="fr-FR" noProof="0" dirty="0"/>
              <a:t>Notice bibliographique ≠ exemplaire</a:t>
            </a:r>
          </a:p>
        </p:txBody>
      </p:sp>
      <p:sp>
        <p:nvSpPr>
          <p:cNvPr id="5" name="TextBox 4">
            <a:extLst>
              <a:ext uri="{FF2B5EF4-FFF2-40B4-BE49-F238E27FC236}">
                <a16:creationId xmlns:a16="http://schemas.microsoft.com/office/drawing/2014/main" id="{D3F84789-1876-3414-401E-E078ED886E49}"/>
              </a:ext>
            </a:extLst>
          </p:cNvPr>
          <p:cNvSpPr txBox="1"/>
          <p:nvPr/>
        </p:nvSpPr>
        <p:spPr>
          <a:xfrm>
            <a:off x="409579" y="3428713"/>
            <a:ext cx="1824730" cy="353943"/>
          </a:xfrm>
          <a:prstGeom prst="rect">
            <a:avLst/>
          </a:prstGeom>
          <a:noFill/>
        </p:spPr>
        <p:txBody>
          <a:bodyPr wrap="none">
            <a:spAutoFit/>
          </a:bodyPr>
          <a:lstStyle/>
          <a:p>
            <a:pPr>
              <a:defRPr sz="1700" b="1">
                <a:solidFill>
                  <a:srgbClr val="141991"/>
                </a:solidFill>
              </a:defRPr>
            </a:pPr>
            <a:r>
              <a:rPr lang="fr-FR" noProof="0" dirty="0"/>
              <a:t>Notice </a:t>
            </a:r>
            <a:r>
              <a:rPr lang="fr-FR" dirty="0"/>
              <a:t>exemplaire</a:t>
            </a:r>
            <a:endParaRPr lang="fr-FR" noProof="0" dirty="0"/>
          </a:p>
        </p:txBody>
      </p:sp>
      <p:sp>
        <p:nvSpPr>
          <p:cNvPr id="9" name="TextBox 8">
            <a:extLst>
              <a:ext uri="{FF2B5EF4-FFF2-40B4-BE49-F238E27FC236}">
                <a16:creationId xmlns:a16="http://schemas.microsoft.com/office/drawing/2014/main" id="{7124AC8B-4812-19EA-8B6D-FF065F3CBE1A}"/>
              </a:ext>
            </a:extLst>
          </p:cNvPr>
          <p:cNvSpPr txBox="1"/>
          <p:nvPr/>
        </p:nvSpPr>
        <p:spPr>
          <a:xfrm>
            <a:off x="409579" y="3852284"/>
            <a:ext cx="3211135" cy="1897955"/>
          </a:xfrm>
          <a:prstGeom prst="rect">
            <a:avLst/>
          </a:prstGeom>
          <a:noFill/>
        </p:spPr>
        <p:txBody>
          <a:bodyPr wrap="none">
            <a:spAutoFit/>
          </a:bodyPr>
          <a:lstStyle/>
          <a:p>
            <a:pPr>
              <a:spcAft>
                <a:spcPts val="800"/>
              </a:spcAft>
              <a:defRPr sz="1400">
                <a:solidFill>
                  <a:srgbClr val="23232D"/>
                </a:solidFill>
              </a:defRPr>
            </a:pPr>
            <a:r>
              <a:rPr lang="fr-FR" noProof="0" dirty="0">
                <a:solidFill>
                  <a:srgbClr val="002060"/>
                </a:solidFill>
              </a:rPr>
              <a:t>• Décrit le document possédé localement</a:t>
            </a:r>
          </a:p>
          <a:p>
            <a:pPr>
              <a:spcAft>
                <a:spcPts val="800"/>
              </a:spcAft>
              <a:defRPr sz="1400">
                <a:solidFill>
                  <a:srgbClr val="23232D"/>
                </a:solidFill>
              </a:defRPr>
            </a:pPr>
            <a:r>
              <a:rPr lang="fr-FR" noProof="0" dirty="0">
                <a:solidFill>
                  <a:srgbClr val="002060"/>
                </a:solidFill>
              </a:rPr>
              <a:t>• DRAC / site</a:t>
            </a:r>
          </a:p>
          <a:p>
            <a:pPr>
              <a:spcAft>
                <a:spcPts val="800"/>
              </a:spcAft>
              <a:defRPr sz="1400">
                <a:solidFill>
                  <a:srgbClr val="23232D"/>
                </a:solidFill>
              </a:defRPr>
            </a:pPr>
            <a:r>
              <a:rPr lang="fr-FR" noProof="0" dirty="0">
                <a:solidFill>
                  <a:srgbClr val="002060"/>
                </a:solidFill>
              </a:rPr>
              <a:t>• Localisation</a:t>
            </a:r>
          </a:p>
          <a:p>
            <a:pPr>
              <a:spcAft>
                <a:spcPts val="800"/>
              </a:spcAft>
              <a:defRPr sz="1400">
                <a:solidFill>
                  <a:srgbClr val="23232D"/>
                </a:solidFill>
              </a:defRPr>
            </a:pPr>
            <a:r>
              <a:rPr lang="fr-FR" noProof="0" dirty="0">
                <a:solidFill>
                  <a:srgbClr val="002060"/>
                </a:solidFill>
              </a:rPr>
              <a:t>• Cote</a:t>
            </a:r>
          </a:p>
          <a:p>
            <a:pPr>
              <a:spcAft>
                <a:spcPts val="800"/>
              </a:spcAft>
              <a:defRPr sz="1400">
                <a:solidFill>
                  <a:srgbClr val="23232D"/>
                </a:solidFill>
              </a:defRPr>
            </a:pPr>
            <a:r>
              <a:rPr lang="fr-FR" noProof="0" dirty="0">
                <a:solidFill>
                  <a:srgbClr val="002060"/>
                </a:solidFill>
              </a:rPr>
              <a:t>• Code-barres</a:t>
            </a:r>
          </a:p>
          <a:p>
            <a:pPr>
              <a:spcAft>
                <a:spcPts val="800"/>
              </a:spcAft>
              <a:defRPr sz="1400">
                <a:solidFill>
                  <a:srgbClr val="23232D"/>
                </a:solidFill>
              </a:defRPr>
            </a:pPr>
            <a:r>
              <a:rPr lang="fr-FR" noProof="0" dirty="0">
                <a:solidFill>
                  <a:srgbClr val="002060"/>
                </a:solidFill>
              </a:rPr>
              <a:t>• Statut et type de prêt</a:t>
            </a:r>
          </a:p>
        </p:txBody>
      </p:sp>
      <p:sp>
        <p:nvSpPr>
          <p:cNvPr id="12" name="Rectangle 11">
            <a:extLst>
              <a:ext uri="{FF2B5EF4-FFF2-40B4-BE49-F238E27FC236}">
                <a16:creationId xmlns:a16="http://schemas.microsoft.com/office/drawing/2014/main" id="{58C9B7AE-AAA9-DF34-484A-99BB6EB77618}"/>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4" name="TextBox 2">
            <a:extLst>
              <a:ext uri="{FF2B5EF4-FFF2-40B4-BE49-F238E27FC236}">
                <a16:creationId xmlns:a16="http://schemas.microsoft.com/office/drawing/2014/main" id="{4B1965A5-9E87-DB0C-5631-7F2E504EF5E5}"/>
              </a:ext>
            </a:extLst>
          </p:cNvPr>
          <p:cNvSpPr txBox="1"/>
          <p:nvPr/>
        </p:nvSpPr>
        <p:spPr>
          <a:xfrm>
            <a:off x="8760542" y="914400"/>
            <a:ext cx="3352800" cy="1569660"/>
          </a:xfrm>
          <a:prstGeom prst="rect">
            <a:avLst/>
          </a:prstGeom>
          <a:noFill/>
        </p:spPr>
        <p:txBody>
          <a:bodyPr wrap="square">
            <a:spAutoFit/>
          </a:bodyPr>
          <a:lstStyle/>
          <a:p>
            <a:pPr>
              <a:defRPr sz="1600" b="1">
                <a:solidFill>
                  <a:srgbClr val="FFFFFF"/>
                </a:solidFill>
              </a:defRPr>
            </a:pPr>
            <a:r>
              <a:rPr lang="fr-FR" sz="3200" noProof="0" dirty="0"/>
              <a:t>Notice bibliographique et notice exemplaire</a:t>
            </a:r>
          </a:p>
        </p:txBody>
      </p:sp>
      <p:pic>
        <p:nvPicPr>
          <p:cNvPr id="7" name="Image 6">
            <a:extLst>
              <a:ext uri="{FF2B5EF4-FFF2-40B4-BE49-F238E27FC236}">
                <a16:creationId xmlns:a16="http://schemas.microsoft.com/office/drawing/2014/main" id="{6C0F4BBA-F31B-999F-7DF4-5D3C6A988056}"/>
              </a:ext>
            </a:extLst>
          </p:cNvPr>
          <p:cNvPicPr>
            <a:picLocks noChangeAspect="1"/>
          </p:cNvPicPr>
          <p:nvPr/>
        </p:nvPicPr>
        <p:blipFill>
          <a:blip r:embed="rId2"/>
          <a:stretch>
            <a:fillRect/>
          </a:stretch>
        </p:blipFill>
        <p:spPr>
          <a:xfrm>
            <a:off x="409579" y="941227"/>
            <a:ext cx="6991352" cy="2425166"/>
          </a:xfrm>
          <a:prstGeom prst="rect">
            <a:avLst/>
          </a:prstGeom>
        </p:spPr>
      </p:pic>
      <p:sp>
        <p:nvSpPr>
          <p:cNvPr id="13" name="TextBox 4">
            <a:extLst>
              <a:ext uri="{FF2B5EF4-FFF2-40B4-BE49-F238E27FC236}">
                <a16:creationId xmlns:a16="http://schemas.microsoft.com/office/drawing/2014/main" id="{DA424214-350C-2603-508E-8D924544F10A}"/>
              </a:ext>
            </a:extLst>
          </p:cNvPr>
          <p:cNvSpPr txBox="1"/>
          <p:nvPr/>
        </p:nvSpPr>
        <p:spPr>
          <a:xfrm>
            <a:off x="10742454" y="6610350"/>
            <a:ext cx="1370888" cy="215444"/>
          </a:xfrm>
          <a:prstGeom prst="rect">
            <a:avLst/>
          </a:prstGeom>
          <a:noFill/>
        </p:spPr>
        <p:txBody>
          <a:bodyPr wrap="none">
            <a:spAutoFit/>
          </a:bodyPr>
          <a:lstStyle/>
          <a:p>
            <a:pPr algn="r">
              <a:defRPr sz="800">
                <a:solidFill>
                  <a:srgbClr val="696E7D"/>
                </a:solidFill>
              </a:defRPr>
            </a:pPr>
            <a:r>
              <a:rPr dirty="0">
                <a:solidFill>
                  <a:schemeClr val="bg1"/>
                </a:solidFill>
              </a:rPr>
              <a:t>KOHA — </a:t>
            </a:r>
            <a:r>
              <a:rPr dirty="0" err="1">
                <a:solidFill>
                  <a:schemeClr val="bg1"/>
                </a:solidFill>
              </a:rPr>
              <a:t>Catalogueurs</a:t>
            </a:r>
            <a:r>
              <a:rPr dirty="0">
                <a:solidFill>
                  <a:schemeClr val="bg1"/>
                </a:solidFill>
              </a:rPr>
              <a:t> DRAC</a:t>
            </a:r>
          </a:p>
        </p:txBody>
      </p:sp>
    </p:spTree>
    <p:extLst>
      <p:ext uri="{BB962C8B-B14F-4D97-AF65-F5344CB8AC3E}">
        <p14:creationId xmlns:p14="http://schemas.microsoft.com/office/powerpoint/2010/main" val="34199339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a:extLst>
              <a:ext uri="{FF2B5EF4-FFF2-40B4-BE49-F238E27FC236}">
                <a16:creationId xmlns:a16="http://schemas.microsoft.com/office/drawing/2014/main" id="{20E76F69-E114-6BE7-C590-C6DBE6CF5A0A}"/>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0" name="TextBox 2">
            <a:extLst>
              <a:ext uri="{FF2B5EF4-FFF2-40B4-BE49-F238E27FC236}">
                <a16:creationId xmlns:a16="http://schemas.microsoft.com/office/drawing/2014/main" id="{9A649A1D-C8C0-A931-E945-A6707AE07EB9}"/>
              </a:ext>
            </a:extLst>
          </p:cNvPr>
          <p:cNvSpPr txBox="1"/>
          <p:nvPr/>
        </p:nvSpPr>
        <p:spPr>
          <a:xfrm>
            <a:off x="8760542" y="914400"/>
            <a:ext cx="3352800" cy="3170099"/>
          </a:xfrm>
          <a:prstGeom prst="rect">
            <a:avLst/>
          </a:prstGeom>
          <a:noFill/>
        </p:spPr>
        <p:txBody>
          <a:bodyPr wrap="square">
            <a:spAutoFit/>
          </a:bodyPr>
          <a:lstStyle/>
          <a:p>
            <a:pPr>
              <a:defRPr sz="1600" b="1">
                <a:solidFill>
                  <a:srgbClr val="FFFFFF"/>
                </a:solidFill>
              </a:defRPr>
            </a:pPr>
            <a:r>
              <a:rPr lang="fr-FR" sz="3200" dirty="0"/>
              <a:t>Lire l’UNIMARC sans en faire un cours théorique</a:t>
            </a:r>
          </a:p>
          <a:p>
            <a:pPr>
              <a:defRPr sz="1600" b="1">
                <a:solidFill>
                  <a:srgbClr val="FFFFFF"/>
                </a:solidFill>
              </a:defRPr>
            </a:pPr>
            <a:endParaRPr lang="fr-FR" sz="3200" noProof="0" dirty="0"/>
          </a:p>
          <a:p>
            <a:pPr>
              <a:defRPr sz="1600" b="1">
                <a:solidFill>
                  <a:srgbClr val="FFFFFF"/>
                </a:solidFill>
              </a:defRPr>
            </a:pPr>
            <a:r>
              <a:rPr lang="fr-FR" sz="2400" dirty="0"/>
              <a:t>Savoir où chercher et où intervenir dans la grille Koha.</a:t>
            </a:r>
            <a:endParaRPr lang="fr-FR" sz="2400" noProof="0" dirty="0"/>
          </a:p>
        </p:txBody>
      </p:sp>
      <p:sp>
        <p:nvSpPr>
          <p:cNvPr id="12" name="Rectangle à coins arrondis 4">
            <a:extLst>
              <a:ext uri="{FF2B5EF4-FFF2-40B4-BE49-F238E27FC236}">
                <a16:creationId xmlns:a16="http://schemas.microsoft.com/office/drawing/2014/main" id="{98FD3289-B773-6C6C-BFCE-A1DEFE8EF7C8}"/>
              </a:ext>
            </a:extLst>
          </p:cNvPr>
          <p:cNvSpPr/>
          <p:nvPr/>
        </p:nvSpPr>
        <p:spPr>
          <a:xfrm>
            <a:off x="401637" y="1304925"/>
            <a:ext cx="1817688" cy="118999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fr-FR" sz="1400" b="1" dirty="0">
                <a:solidFill>
                  <a:schemeClr val="tx1"/>
                </a:solidFill>
              </a:rPr>
              <a:t>0XX </a:t>
            </a:r>
            <a:br>
              <a:rPr lang="fr-FR" sz="1400" b="1" dirty="0">
                <a:solidFill>
                  <a:schemeClr val="tx1"/>
                </a:solidFill>
              </a:rPr>
            </a:br>
            <a:r>
              <a:rPr lang="fr-FR" sz="1400" b="1" dirty="0">
                <a:solidFill>
                  <a:schemeClr val="tx1"/>
                </a:solidFill>
              </a:rPr>
              <a:t>Bloc de l’identification</a:t>
            </a:r>
          </a:p>
        </p:txBody>
      </p:sp>
      <p:sp>
        <p:nvSpPr>
          <p:cNvPr id="13" name="Rectangle à coins arrondis 5">
            <a:extLst>
              <a:ext uri="{FF2B5EF4-FFF2-40B4-BE49-F238E27FC236}">
                <a16:creationId xmlns:a16="http://schemas.microsoft.com/office/drawing/2014/main" id="{4647AA32-284F-A94D-E7A3-7D1B39B7A214}"/>
              </a:ext>
            </a:extLst>
          </p:cNvPr>
          <p:cNvSpPr/>
          <p:nvPr/>
        </p:nvSpPr>
        <p:spPr>
          <a:xfrm>
            <a:off x="2316162" y="1304925"/>
            <a:ext cx="1817688" cy="118999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fr-FR" sz="1400" b="1" dirty="0">
                <a:solidFill>
                  <a:schemeClr val="tx1"/>
                </a:solidFill>
              </a:rPr>
              <a:t>1XX </a:t>
            </a:r>
            <a:br>
              <a:rPr lang="fr-FR" sz="1400" b="1" dirty="0">
                <a:solidFill>
                  <a:schemeClr val="tx1"/>
                </a:solidFill>
              </a:rPr>
            </a:br>
            <a:r>
              <a:rPr lang="fr-FR" sz="1400" b="1" dirty="0">
                <a:solidFill>
                  <a:schemeClr val="tx1"/>
                </a:solidFill>
              </a:rPr>
              <a:t>Bloc des informations codées</a:t>
            </a:r>
          </a:p>
        </p:txBody>
      </p:sp>
      <p:sp>
        <p:nvSpPr>
          <p:cNvPr id="14" name="Rectangle à coins arrondis 6">
            <a:extLst>
              <a:ext uri="{FF2B5EF4-FFF2-40B4-BE49-F238E27FC236}">
                <a16:creationId xmlns:a16="http://schemas.microsoft.com/office/drawing/2014/main" id="{8FB9D4A2-1029-8BEF-4E09-1D261955456A}"/>
              </a:ext>
            </a:extLst>
          </p:cNvPr>
          <p:cNvSpPr/>
          <p:nvPr/>
        </p:nvSpPr>
        <p:spPr>
          <a:xfrm>
            <a:off x="4230687" y="1304925"/>
            <a:ext cx="1817688" cy="118999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fr-FR" sz="1400" b="1" dirty="0">
                <a:solidFill>
                  <a:schemeClr val="tx1"/>
                </a:solidFill>
              </a:rPr>
              <a:t>2XX </a:t>
            </a:r>
            <a:br>
              <a:rPr lang="fr-FR" sz="1400" b="1" dirty="0">
                <a:solidFill>
                  <a:schemeClr val="tx1"/>
                </a:solidFill>
              </a:rPr>
            </a:br>
            <a:r>
              <a:rPr lang="fr-FR" sz="1400" b="1" dirty="0">
                <a:solidFill>
                  <a:schemeClr val="tx1"/>
                </a:solidFill>
              </a:rPr>
              <a:t>Bloc des informations descriptives</a:t>
            </a:r>
          </a:p>
        </p:txBody>
      </p:sp>
      <p:sp>
        <p:nvSpPr>
          <p:cNvPr id="15" name="Rectangle à coins arrondis 7">
            <a:extLst>
              <a:ext uri="{FF2B5EF4-FFF2-40B4-BE49-F238E27FC236}">
                <a16:creationId xmlns:a16="http://schemas.microsoft.com/office/drawing/2014/main" id="{79EFD6CB-9E45-1A34-EDD0-8E4EB430BEB5}"/>
              </a:ext>
            </a:extLst>
          </p:cNvPr>
          <p:cNvSpPr/>
          <p:nvPr/>
        </p:nvSpPr>
        <p:spPr>
          <a:xfrm>
            <a:off x="401637" y="2619375"/>
            <a:ext cx="1817688" cy="118999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fr-FR" sz="1400" b="1" dirty="0">
                <a:solidFill>
                  <a:schemeClr val="tx1"/>
                </a:solidFill>
              </a:rPr>
              <a:t>3XX </a:t>
            </a:r>
            <a:br>
              <a:rPr lang="fr-FR" sz="1400" b="1" dirty="0">
                <a:solidFill>
                  <a:schemeClr val="tx1"/>
                </a:solidFill>
              </a:rPr>
            </a:br>
            <a:r>
              <a:rPr lang="fr-FR" sz="1400" b="1" dirty="0">
                <a:solidFill>
                  <a:schemeClr val="tx1"/>
                </a:solidFill>
              </a:rPr>
              <a:t>Bloc des notes</a:t>
            </a:r>
          </a:p>
        </p:txBody>
      </p:sp>
      <p:sp>
        <p:nvSpPr>
          <p:cNvPr id="16" name="Rectangle à coins arrondis 8">
            <a:extLst>
              <a:ext uri="{FF2B5EF4-FFF2-40B4-BE49-F238E27FC236}">
                <a16:creationId xmlns:a16="http://schemas.microsoft.com/office/drawing/2014/main" id="{F9AA8E5B-EA6F-D8C6-1FD9-93AD5B2E96A4}"/>
              </a:ext>
            </a:extLst>
          </p:cNvPr>
          <p:cNvSpPr/>
          <p:nvPr/>
        </p:nvSpPr>
        <p:spPr>
          <a:xfrm>
            <a:off x="2316162" y="2619375"/>
            <a:ext cx="1817688" cy="118999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fr-FR" sz="1400" b="1" dirty="0">
                <a:solidFill>
                  <a:schemeClr val="tx1"/>
                </a:solidFill>
              </a:rPr>
              <a:t>4XX </a:t>
            </a:r>
            <a:br>
              <a:rPr lang="fr-FR" sz="1400" b="1" dirty="0">
                <a:solidFill>
                  <a:schemeClr val="tx1"/>
                </a:solidFill>
              </a:rPr>
            </a:br>
            <a:r>
              <a:rPr lang="fr-FR" sz="1400" b="1" dirty="0">
                <a:solidFill>
                  <a:schemeClr val="tx1"/>
                </a:solidFill>
              </a:rPr>
              <a:t>Bloc des liens avec d’autres notices bibliographiques</a:t>
            </a:r>
          </a:p>
        </p:txBody>
      </p:sp>
      <p:sp>
        <p:nvSpPr>
          <p:cNvPr id="17" name="Rectangle à coins arrondis 9">
            <a:extLst>
              <a:ext uri="{FF2B5EF4-FFF2-40B4-BE49-F238E27FC236}">
                <a16:creationId xmlns:a16="http://schemas.microsoft.com/office/drawing/2014/main" id="{1753B805-CEAD-2317-E6E1-259E5277E058}"/>
              </a:ext>
            </a:extLst>
          </p:cNvPr>
          <p:cNvSpPr/>
          <p:nvPr/>
        </p:nvSpPr>
        <p:spPr>
          <a:xfrm>
            <a:off x="4230687" y="2619375"/>
            <a:ext cx="1817688" cy="118999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fr-FR" sz="1400" b="1" dirty="0">
                <a:solidFill>
                  <a:schemeClr val="tx1"/>
                </a:solidFill>
              </a:rPr>
              <a:t>5XX </a:t>
            </a:r>
            <a:br>
              <a:rPr lang="fr-FR" sz="1400" b="1" dirty="0">
                <a:solidFill>
                  <a:schemeClr val="tx1"/>
                </a:solidFill>
              </a:rPr>
            </a:br>
            <a:r>
              <a:rPr lang="fr-FR" sz="1400" b="1" dirty="0">
                <a:solidFill>
                  <a:schemeClr val="tx1"/>
                </a:solidFill>
              </a:rPr>
              <a:t>Bloc des titres associés</a:t>
            </a:r>
          </a:p>
        </p:txBody>
      </p:sp>
      <p:sp>
        <p:nvSpPr>
          <p:cNvPr id="18" name="Rectangle à coins arrondis 10">
            <a:extLst>
              <a:ext uri="{FF2B5EF4-FFF2-40B4-BE49-F238E27FC236}">
                <a16:creationId xmlns:a16="http://schemas.microsoft.com/office/drawing/2014/main" id="{6065E3C4-BC0F-80E6-42EF-BA69B852DB1A}"/>
              </a:ext>
            </a:extLst>
          </p:cNvPr>
          <p:cNvSpPr/>
          <p:nvPr/>
        </p:nvSpPr>
        <p:spPr>
          <a:xfrm>
            <a:off x="401637" y="3933825"/>
            <a:ext cx="1817688" cy="118999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fr-FR" sz="1400" b="1" dirty="0">
                <a:solidFill>
                  <a:schemeClr val="tx1"/>
                </a:solidFill>
              </a:rPr>
              <a:t>6XX </a:t>
            </a:r>
            <a:br>
              <a:rPr lang="fr-FR" sz="1400" b="1" dirty="0">
                <a:solidFill>
                  <a:schemeClr val="tx1"/>
                </a:solidFill>
              </a:rPr>
            </a:br>
            <a:r>
              <a:rPr lang="fr-FR" sz="1400" b="1" dirty="0">
                <a:solidFill>
                  <a:schemeClr val="tx1"/>
                </a:solidFill>
              </a:rPr>
              <a:t>Bloc de l’indexation matière et de l’histoire bibliographique</a:t>
            </a:r>
          </a:p>
        </p:txBody>
      </p:sp>
      <p:sp>
        <p:nvSpPr>
          <p:cNvPr id="19" name="Rectangle à coins arrondis 11">
            <a:extLst>
              <a:ext uri="{FF2B5EF4-FFF2-40B4-BE49-F238E27FC236}">
                <a16:creationId xmlns:a16="http://schemas.microsoft.com/office/drawing/2014/main" id="{5E3D1C45-3F05-A76D-F77E-0E1B2AF695F2}"/>
              </a:ext>
            </a:extLst>
          </p:cNvPr>
          <p:cNvSpPr/>
          <p:nvPr/>
        </p:nvSpPr>
        <p:spPr>
          <a:xfrm>
            <a:off x="2316162" y="3933825"/>
            <a:ext cx="1817688" cy="118999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fr-FR" sz="1400" b="1" dirty="0">
                <a:solidFill>
                  <a:schemeClr val="tx1"/>
                </a:solidFill>
              </a:rPr>
              <a:t>7XX </a:t>
            </a:r>
            <a:br>
              <a:rPr lang="fr-FR" sz="1400" b="1" dirty="0">
                <a:solidFill>
                  <a:schemeClr val="tx1"/>
                </a:solidFill>
              </a:rPr>
            </a:br>
            <a:r>
              <a:rPr lang="fr-FR" sz="1400" b="1" dirty="0">
                <a:solidFill>
                  <a:schemeClr val="tx1"/>
                </a:solidFill>
              </a:rPr>
              <a:t>Bloc des responsabilités</a:t>
            </a:r>
          </a:p>
        </p:txBody>
      </p:sp>
      <p:sp>
        <p:nvSpPr>
          <p:cNvPr id="20" name="Rectangle à coins arrondis 12">
            <a:extLst>
              <a:ext uri="{FF2B5EF4-FFF2-40B4-BE49-F238E27FC236}">
                <a16:creationId xmlns:a16="http://schemas.microsoft.com/office/drawing/2014/main" id="{784E28CD-3528-5771-850D-D1F232BB8AF8}"/>
              </a:ext>
            </a:extLst>
          </p:cNvPr>
          <p:cNvSpPr/>
          <p:nvPr/>
        </p:nvSpPr>
        <p:spPr>
          <a:xfrm>
            <a:off x="4230687" y="3933825"/>
            <a:ext cx="1817688" cy="118999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fr-FR" sz="1400" b="1" dirty="0">
                <a:solidFill>
                  <a:schemeClr val="tx1"/>
                </a:solidFill>
              </a:rPr>
              <a:t>8XX </a:t>
            </a:r>
            <a:br>
              <a:rPr lang="fr-FR" sz="1400" b="1" dirty="0">
                <a:solidFill>
                  <a:schemeClr val="tx1"/>
                </a:solidFill>
              </a:rPr>
            </a:br>
            <a:r>
              <a:rPr lang="fr-FR" sz="1400" b="1" dirty="0">
                <a:solidFill>
                  <a:schemeClr val="tx1"/>
                </a:solidFill>
              </a:rPr>
              <a:t>Bloc des données internationales</a:t>
            </a:r>
          </a:p>
        </p:txBody>
      </p:sp>
      <p:sp>
        <p:nvSpPr>
          <p:cNvPr id="21" name="Rectangle à coins arrondis 13">
            <a:extLst>
              <a:ext uri="{FF2B5EF4-FFF2-40B4-BE49-F238E27FC236}">
                <a16:creationId xmlns:a16="http://schemas.microsoft.com/office/drawing/2014/main" id="{4A010D15-FFCB-3D47-23C7-956A0579D178}"/>
              </a:ext>
            </a:extLst>
          </p:cNvPr>
          <p:cNvSpPr/>
          <p:nvPr/>
        </p:nvSpPr>
        <p:spPr>
          <a:xfrm>
            <a:off x="6145212" y="3933825"/>
            <a:ext cx="1817688" cy="118999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fr-FR" sz="1400" b="1" dirty="0">
                <a:solidFill>
                  <a:schemeClr val="tx1"/>
                </a:solidFill>
              </a:rPr>
              <a:t>9XX </a:t>
            </a:r>
            <a:br>
              <a:rPr lang="fr-FR" sz="1400" b="1" dirty="0">
                <a:solidFill>
                  <a:schemeClr val="tx1"/>
                </a:solidFill>
              </a:rPr>
            </a:br>
            <a:r>
              <a:rPr lang="fr-FR" sz="1400" b="1" dirty="0">
                <a:solidFill>
                  <a:schemeClr val="tx1"/>
                </a:solidFill>
              </a:rPr>
              <a:t>Bloc des données nationales et locales</a:t>
            </a:r>
          </a:p>
        </p:txBody>
      </p:sp>
      <p:sp>
        <p:nvSpPr>
          <p:cNvPr id="23" name="TextBox 4">
            <a:extLst>
              <a:ext uri="{FF2B5EF4-FFF2-40B4-BE49-F238E27FC236}">
                <a16:creationId xmlns:a16="http://schemas.microsoft.com/office/drawing/2014/main" id="{10106C4B-569C-0DD8-0CF3-E3DB4E1BB0D1}"/>
              </a:ext>
            </a:extLst>
          </p:cNvPr>
          <p:cNvSpPr txBox="1"/>
          <p:nvPr/>
        </p:nvSpPr>
        <p:spPr>
          <a:xfrm>
            <a:off x="10742454" y="6610350"/>
            <a:ext cx="1370888" cy="215444"/>
          </a:xfrm>
          <a:prstGeom prst="rect">
            <a:avLst/>
          </a:prstGeom>
          <a:noFill/>
        </p:spPr>
        <p:txBody>
          <a:bodyPr wrap="none">
            <a:spAutoFit/>
          </a:bodyPr>
          <a:lstStyle/>
          <a:p>
            <a:pPr algn="r">
              <a:defRPr sz="800">
                <a:solidFill>
                  <a:srgbClr val="696E7D"/>
                </a:solidFill>
              </a:defRPr>
            </a:pPr>
            <a:r>
              <a:rPr dirty="0">
                <a:solidFill>
                  <a:schemeClr val="bg1"/>
                </a:solidFill>
              </a:rPr>
              <a:t>KOHA — </a:t>
            </a:r>
            <a:r>
              <a:rPr dirty="0" err="1">
                <a:solidFill>
                  <a:schemeClr val="bg1"/>
                </a:solidFill>
              </a:rPr>
              <a:t>Catalogueurs</a:t>
            </a:r>
            <a:r>
              <a:rPr dirty="0">
                <a:solidFill>
                  <a:schemeClr val="bg1"/>
                </a:solidFill>
              </a:rPr>
              <a:t> DRAC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2" name="Rectangle 11">
            <a:extLst>
              <a:ext uri="{FF2B5EF4-FFF2-40B4-BE49-F238E27FC236}">
                <a16:creationId xmlns:a16="http://schemas.microsoft.com/office/drawing/2014/main" id="{462A5727-EA3C-EC99-DAE7-381690DAA638}"/>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4" name="TextBox 2">
            <a:extLst>
              <a:ext uri="{FF2B5EF4-FFF2-40B4-BE49-F238E27FC236}">
                <a16:creationId xmlns:a16="http://schemas.microsoft.com/office/drawing/2014/main" id="{86131712-2495-B360-1D32-D4B567D5B258}"/>
              </a:ext>
            </a:extLst>
          </p:cNvPr>
          <p:cNvSpPr txBox="1"/>
          <p:nvPr/>
        </p:nvSpPr>
        <p:spPr>
          <a:xfrm>
            <a:off x="8760542" y="914400"/>
            <a:ext cx="3352800" cy="1569660"/>
          </a:xfrm>
          <a:prstGeom prst="rect">
            <a:avLst/>
          </a:prstGeom>
          <a:noFill/>
        </p:spPr>
        <p:txBody>
          <a:bodyPr wrap="square">
            <a:spAutoFit/>
          </a:bodyPr>
          <a:lstStyle/>
          <a:p>
            <a:pPr>
              <a:defRPr sz="1600" b="1">
                <a:solidFill>
                  <a:srgbClr val="FFFFFF"/>
                </a:solidFill>
              </a:defRPr>
            </a:pPr>
            <a:r>
              <a:rPr lang="fr-FR" sz="3200" noProof="0" dirty="0"/>
              <a:t>Les zones </a:t>
            </a:r>
            <a:br>
              <a:rPr lang="fr-FR" sz="3200" noProof="0" dirty="0"/>
            </a:br>
            <a:r>
              <a:rPr lang="fr-FR" sz="3200" noProof="0" dirty="0"/>
              <a:t>à connaître </a:t>
            </a:r>
            <a:br>
              <a:rPr lang="fr-FR" sz="3200" noProof="0" dirty="0"/>
            </a:br>
            <a:r>
              <a:rPr lang="fr-FR" sz="3200" noProof="0" dirty="0"/>
              <a:t>en priorité</a:t>
            </a:r>
            <a:endParaRPr lang="fr-FR" sz="2400" noProof="0" dirty="0"/>
          </a:p>
        </p:txBody>
      </p:sp>
      <p:sp>
        <p:nvSpPr>
          <p:cNvPr id="16" name="TextBox 4">
            <a:extLst>
              <a:ext uri="{FF2B5EF4-FFF2-40B4-BE49-F238E27FC236}">
                <a16:creationId xmlns:a16="http://schemas.microsoft.com/office/drawing/2014/main" id="{99583C26-C0FB-7CD6-C680-95A86EA0547B}"/>
              </a:ext>
            </a:extLst>
          </p:cNvPr>
          <p:cNvSpPr txBox="1"/>
          <p:nvPr/>
        </p:nvSpPr>
        <p:spPr>
          <a:xfrm>
            <a:off x="10742454" y="6610350"/>
            <a:ext cx="1370888" cy="215444"/>
          </a:xfrm>
          <a:prstGeom prst="rect">
            <a:avLst/>
          </a:prstGeom>
          <a:noFill/>
        </p:spPr>
        <p:txBody>
          <a:bodyPr wrap="none">
            <a:spAutoFit/>
          </a:bodyPr>
          <a:lstStyle/>
          <a:p>
            <a:pPr algn="r">
              <a:defRPr sz="800">
                <a:solidFill>
                  <a:srgbClr val="696E7D"/>
                </a:solidFill>
              </a:defRPr>
            </a:pPr>
            <a:r>
              <a:rPr lang="fr-FR" noProof="0" dirty="0">
                <a:solidFill>
                  <a:schemeClr val="bg1"/>
                </a:solidFill>
              </a:rPr>
              <a:t>KOHA — Catalogueurs DRAC</a:t>
            </a:r>
          </a:p>
        </p:txBody>
      </p:sp>
      <p:graphicFrame>
        <p:nvGraphicFramePr>
          <p:cNvPr id="19" name="Tableau 18">
            <a:extLst>
              <a:ext uri="{FF2B5EF4-FFF2-40B4-BE49-F238E27FC236}">
                <a16:creationId xmlns:a16="http://schemas.microsoft.com/office/drawing/2014/main" id="{70C6C625-3EC2-07D4-2D34-38C86590A369}"/>
              </a:ext>
            </a:extLst>
          </p:cNvPr>
          <p:cNvGraphicFramePr>
            <a:graphicFrameLocks noGrp="1"/>
          </p:cNvGraphicFramePr>
          <p:nvPr>
            <p:extLst>
              <p:ext uri="{D42A27DB-BD31-4B8C-83A1-F6EECF244321}">
                <p14:modId xmlns:p14="http://schemas.microsoft.com/office/powerpoint/2010/main" val="3019978389"/>
              </p:ext>
            </p:extLst>
          </p:nvPr>
        </p:nvGraphicFramePr>
        <p:xfrm>
          <a:off x="371473" y="214353"/>
          <a:ext cx="8115300" cy="6429293"/>
        </p:xfrm>
        <a:graphic>
          <a:graphicData uri="http://schemas.openxmlformats.org/drawingml/2006/table">
            <a:tbl>
              <a:tblPr>
                <a:tableStyleId>{5C22544A-7EE6-4342-B048-85BDC9FD1C3A}</a:tableStyleId>
              </a:tblPr>
              <a:tblGrid>
                <a:gridCol w="2028825">
                  <a:extLst>
                    <a:ext uri="{9D8B030D-6E8A-4147-A177-3AD203B41FA5}">
                      <a16:colId xmlns:a16="http://schemas.microsoft.com/office/drawing/2014/main" val="853334266"/>
                    </a:ext>
                  </a:extLst>
                </a:gridCol>
                <a:gridCol w="2028825">
                  <a:extLst>
                    <a:ext uri="{9D8B030D-6E8A-4147-A177-3AD203B41FA5}">
                      <a16:colId xmlns:a16="http://schemas.microsoft.com/office/drawing/2014/main" val="84400584"/>
                    </a:ext>
                  </a:extLst>
                </a:gridCol>
                <a:gridCol w="2028825">
                  <a:extLst>
                    <a:ext uri="{9D8B030D-6E8A-4147-A177-3AD203B41FA5}">
                      <a16:colId xmlns:a16="http://schemas.microsoft.com/office/drawing/2014/main" val="742186325"/>
                    </a:ext>
                  </a:extLst>
                </a:gridCol>
                <a:gridCol w="2028825">
                  <a:extLst>
                    <a:ext uri="{9D8B030D-6E8A-4147-A177-3AD203B41FA5}">
                      <a16:colId xmlns:a16="http://schemas.microsoft.com/office/drawing/2014/main" val="118944400"/>
                    </a:ext>
                  </a:extLst>
                </a:gridCol>
              </a:tblGrid>
              <a:tr h="313195">
                <a:tc>
                  <a:txBody>
                    <a:bodyPr/>
                    <a:lstStyle/>
                    <a:p>
                      <a:pPr>
                        <a:buNone/>
                      </a:pPr>
                      <a:r>
                        <a:rPr lang="fr-FR" sz="1200"/>
                        <a:t>Zone</a:t>
                      </a:r>
                    </a:p>
                  </a:txBody>
                  <a:tcPr marL="36208" marR="36208" marT="18104" marB="18104" anchor="ctr"/>
                </a:tc>
                <a:tc>
                  <a:txBody>
                    <a:bodyPr/>
                    <a:lstStyle/>
                    <a:p>
                      <a:pPr>
                        <a:buNone/>
                      </a:pPr>
                      <a:r>
                        <a:rPr lang="fr-FR" sz="1200"/>
                        <a:t>Sous-zone principale</a:t>
                      </a:r>
                    </a:p>
                  </a:txBody>
                  <a:tcPr marL="36208" marR="36208" marT="18104" marB="18104" anchor="ctr"/>
                </a:tc>
                <a:tc>
                  <a:txBody>
                    <a:bodyPr/>
                    <a:lstStyle/>
                    <a:p>
                      <a:pPr>
                        <a:buNone/>
                      </a:pPr>
                      <a:r>
                        <a:rPr lang="fr-FR" sz="1200"/>
                        <a:t>Ce qu'elle décrit</a:t>
                      </a:r>
                    </a:p>
                  </a:txBody>
                  <a:tcPr marL="36208" marR="36208" marT="18104" marB="18104" anchor="ctr"/>
                </a:tc>
                <a:tc>
                  <a:txBody>
                    <a:bodyPr/>
                    <a:lstStyle/>
                    <a:p>
                      <a:pPr>
                        <a:buNone/>
                      </a:pPr>
                      <a:r>
                        <a:rPr lang="fr-FR" sz="1200"/>
                        <a:t>Exemple</a:t>
                      </a:r>
                    </a:p>
                  </a:txBody>
                  <a:tcPr marL="36208" marR="36208" marT="18104" marB="18104" anchor="ctr"/>
                </a:tc>
                <a:extLst>
                  <a:ext uri="{0D108BD9-81ED-4DB2-BD59-A6C34878D82A}">
                    <a16:rowId xmlns:a16="http://schemas.microsoft.com/office/drawing/2014/main" val="3700723557"/>
                  </a:ext>
                </a:extLst>
              </a:tr>
              <a:tr h="178969">
                <a:tc>
                  <a:txBody>
                    <a:bodyPr/>
                    <a:lstStyle/>
                    <a:p>
                      <a:pPr>
                        <a:buNone/>
                      </a:pPr>
                      <a:r>
                        <a:rPr lang="fr-FR" sz="1200"/>
                        <a:t>010</a:t>
                      </a:r>
                    </a:p>
                  </a:txBody>
                  <a:tcPr marL="36208" marR="36208" marT="18104" marB="18104" anchor="ctr"/>
                </a:tc>
                <a:tc>
                  <a:txBody>
                    <a:bodyPr/>
                    <a:lstStyle/>
                    <a:p>
                      <a:pPr>
                        <a:buNone/>
                      </a:pPr>
                      <a:r>
                        <a:rPr lang="fr-FR" sz="1200"/>
                        <a:t>$a</a:t>
                      </a:r>
                    </a:p>
                  </a:txBody>
                  <a:tcPr marL="36208" marR="36208" marT="18104" marB="18104" anchor="ctr"/>
                </a:tc>
                <a:tc>
                  <a:txBody>
                    <a:bodyPr/>
                    <a:lstStyle/>
                    <a:p>
                      <a:pPr>
                        <a:buNone/>
                      </a:pPr>
                      <a:r>
                        <a:rPr lang="fr-FR" sz="1200"/>
                        <a:t>ISBN</a:t>
                      </a:r>
                    </a:p>
                  </a:txBody>
                  <a:tcPr marL="36208" marR="36208" marT="18104" marB="18104" anchor="ctr"/>
                </a:tc>
                <a:tc>
                  <a:txBody>
                    <a:bodyPr/>
                    <a:lstStyle/>
                    <a:p>
                      <a:pPr>
                        <a:buNone/>
                      </a:pPr>
                      <a:r>
                        <a:rPr lang="fr-FR" sz="1200"/>
                        <a:t>978-2-…</a:t>
                      </a:r>
                    </a:p>
                  </a:txBody>
                  <a:tcPr marL="36208" marR="36208" marT="18104" marB="18104" anchor="ctr"/>
                </a:tc>
                <a:extLst>
                  <a:ext uri="{0D108BD9-81ED-4DB2-BD59-A6C34878D82A}">
                    <a16:rowId xmlns:a16="http://schemas.microsoft.com/office/drawing/2014/main" val="1887969116"/>
                  </a:ext>
                </a:extLst>
              </a:tr>
              <a:tr h="178969">
                <a:tc>
                  <a:txBody>
                    <a:bodyPr/>
                    <a:lstStyle/>
                    <a:p>
                      <a:pPr>
                        <a:buNone/>
                      </a:pPr>
                      <a:r>
                        <a:rPr lang="fr-FR" sz="1200"/>
                        <a:t>073</a:t>
                      </a:r>
                    </a:p>
                  </a:txBody>
                  <a:tcPr marL="36208" marR="36208" marT="18104" marB="18104" anchor="ctr"/>
                </a:tc>
                <a:tc>
                  <a:txBody>
                    <a:bodyPr/>
                    <a:lstStyle/>
                    <a:p>
                      <a:pPr>
                        <a:buNone/>
                      </a:pPr>
                      <a:r>
                        <a:rPr lang="fr-FR" sz="1200"/>
                        <a:t>$a</a:t>
                      </a:r>
                    </a:p>
                  </a:txBody>
                  <a:tcPr marL="36208" marR="36208" marT="18104" marB="18104" anchor="ctr"/>
                </a:tc>
                <a:tc>
                  <a:txBody>
                    <a:bodyPr/>
                    <a:lstStyle/>
                    <a:p>
                      <a:pPr>
                        <a:buNone/>
                      </a:pPr>
                      <a:r>
                        <a:rPr lang="fr-FR" sz="1200"/>
                        <a:t>EAN</a:t>
                      </a:r>
                    </a:p>
                  </a:txBody>
                  <a:tcPr marL="36208" marR="36208" marT="18104" marB="18104" anchor="ctr"/>
                </a:tc>
                <a:tc>
                  <a:txBody>
                    <a:bodyPr/>
                    <a:lstStyle/>
                    <a:p>
                      <a:pPr>
                        <a:buNone/>
                      </a:pPr>
                      <a:r>
                        <a:rPr lang="fr-FR" sz="1200"/>
                        <a:t>978…</a:t>
                      </a:r>
                    </a:p>
                  </a:txBody>
                  <a:tcPr marL="36208" marR="36208" marT="18104" marB="18104" anchor="ctr"/>
                </a:tc>
                <a:extLst>
                  <a:ext uri="{0D108BD9-81ED-4DB2-BD59-A6C34878D82A}">
                    <a16:rowId xmlns:a16="http://schemas.microsoft.com/office/drawing/2014/main" val="1843264789"/>
                  </a:ext>
                </a:extLst>
              </a:tr>
              <a:tr h="313195">
                <a:tc>
                  <a:txBody>
                    <a:bodyPr/>
                    <a:lstStyle/>
                    <a:p>
                      <a:pPr>
                        <a:buNone/>
                      </a:pPr>
                      <a:r>
                        <a:rPr lang="fr-FR" sz="1200"/>
                        <a:t>100</a:t>
                      </a:r>
                    </a:p>
                  </a:txBody>
                  <a:tcPr marL="36208" marR="36208" marT="18104" marB="18104" anchor="ctr"/>
                </a:tc>
                <a:tc>
                  <a:txBody>
                    <a:bodyPr/>
                    <a:lstStyle/>
                    <a:p>
                      <a:pPr>
                        <a:buNone/>
                      </a:pPr>
                      <a:r>
                        <a:rPr lang="fr-FR" sz="1200"/>
                        <a:t>$a</a:t>
                      </a:r>
                    </a:p>
                  </a:txBody>
                  <a:tcPr marL="36208" marR="36208" marT="18104" marB="18104" anchor="ctr"/>
                </a:tc>
                <a:tc>
                  <a:txBody>
                    <a:bodyPr/>
                    <a:lstStyle/>
                    <a:p>
                      <a:pPr>
                        <a:buNone/>
                      </a:pPr>
                      <a:r>
                        <a:rPr lang="fr-FR" sz="1200"/>
                        <a:t>Données générales de traitement</a:t>
                      </a:r>
                    </a:p>
                  </a:txBody>
                  <a:tcPr marL="36208" marR="36208" marT="18104" marB="18104" anchor="ctr"/>
                </a:tc>
                <a:tc>
                  <a:txBody>
                    <a:bodyPr/>
                    <a:lstStyle/>
                    <a:p>
                      <a:pPr>
                        <a:buNone/>
                      </a:pPr>
                      <a:r>
                        <a:rPr lang="fr-FR" sz="1200"/>
                        <a:t>dates, type de date…</a:t>
                      </a:r>
                    </a:p>
                  </a:txBody>
                  <a:tcPr marL="36208" marR="36208" marT="18104" marB="18104" anchor="ctr"/>
                </a:tc>
                <a:extLst>
                  <a:ext uri="{0D108BD9-81ED-4DB2-BD59-A6C34878D82A}">
                    <a16:rowId xmlns:a16="http://schemas.microsoft.com/office/drawing/2014/main" val="261107960"/>
                  </a:ext>
                </a:extLst>
              </a:tr>
              <a:tr h="313195">
                <a:tc>
                  <a:txBody>
                    <a:bodyPr/>
                    <a:lstStyle/>
                    <a:p>
                      <a:pPr>
                        <a:buNone/>
                      </a:pPr>
                      <a:r>
                        <a:rPr lang="fr-FR" sz="1200"/>
                        <a:t>101</a:t>
                      </a:r>
                    </a:p>
                  </a:txBody>
                  <a:tcPr marL="36208" marR="36208" marT="18104" marB="18104" anchor="ctr"/>
                </a:tc>
                <a:tc>
                  <a:txBody>
                    <a:bodyPr/>
                    <a:lstStyle/>
                    <a:p>
                      <a:pPr>
                        <a:buNone/>
                      </a:pPr>
                      <a:r>
                        <a:rPr lang="fr-FR" sz="1200"/>
                        <a:t>$a</a:t>
                      </a:r>
                    </a:p>
                  </a:txBody>
                  <a:tcPr marL="36208" marR="36208" marT="18104" marB="18104" anchor="ctr"/>
                </a:tc>
                <a:tc>
                  <a:txBody>
                    <a:bodyPr/>
                    <a:lstStyle/>
                    <a:p>
                      <a:pPr>
                        <a:buNone/>
                      </a:pPr>
                      <a:r>
                        <a:rPr lang="fr-FR" sz="1200"/>
                        <a:t>Langue du document</a:t>
                      </a:r>
                    </a:p>
                  </a:txBody>
                  <a:tcPr marL="36208" marR="36208" marT="18104" marB="18104" anchor="ctr"/>
                </a:tc>
                <a:tc>
                  <a:txBody>
                    <a:bodyPr/>
                    <a:lstStyle/>
                    <a:p>
                      <a:pPr>
                        <a:buNone/>
                      </a:pPr>
                      <a:r>
                        <a:rPr lang="fr-FR" sz="1200"/>
                        <a:t>fre</a:t>
                      </a:r>
                    </a:p>
                  </a:txBody>
                  <a:tcPr marL="36208" marR="36208" marT="18104" marB="18104" anchor="ctr"/>
                </a:tc>
                <a:extLst>
                  <a:ext uri="{0D108BD9-81ED-4DB2-BD59-A6C34878D82A}">
                    <a16:rowId xmlns:a16="http://schemas.microsoft.com/office/drawing/2014/main" val="4187344365"/>
                  </a:ext>
                </a:extLst>
              </a:tr>
              <a:tr h="313195">
                <a:tc>
                  <a:txBody>
                    <a:bodyPr/>
                    <a:lstStyle/>
                    <a:p>
                      <a:pPr>
                        <a:buNone/>
                      </a:pPr>
                      <a:r>
                        <a:rPr lang="fr-FR" sz="1200"/>
                        <a:t>200</a:t>
                      </a:r>
                    </a:p>
                  </a:txBody>
                  <a:tcPr marL="36208" marR="36208" marT="18104" marB="18104" anchor="ctr"/>
                </a:tc>
                <a:tc>
                  <a:txBody>
                    <a:bodyPr/>
                    <a:lstStyle/>
                    <a:p>
                      <a:pPr>
                        <a:buNone/>
                      </a:pPr>
                      <a:r>
                        <a:rPr lang="fr-FR" sz="1200"/>
                        <a:t>$a</a:t>
                      </a:r>
                    </a:p>
                  </a:txBody>
                  <a:tcPr marL="36208" marR="36208" marT="18104" marB="18104" anchor="ctr"/>
                </a:tc>
                <a:tc>
                  <a:txBody>
                    <a:bodyPr/>
                    <a:lstStyle/>
                    <a:p>
                      <a:pPr>
                        <a:buNone/>
                      </a:pPr>
                      <a:r>
                        <a:rPr lang="fr-FR" sz="1200"/>
                        <a:t>Titre propre</a:t>
                      </a:r>
                    </a:p>
                  </a:txBody>
                  <a:tcPr marL="36208" marR="36208" marT="18104" marB="18104" anchor="ctr"/>
                </a:tc>
                <a:tc>
                  <a:txBody>
                    <a:bodyPr/>
                    <a:lstStyle/>
                    <a:p>
                      <a:pPr>
                        <a:buNone/>
                      </a:pPr>
                      <a:r>
                        <a:rPr lang="fr-FR" sz="1200"/>
                        <a:t>Le patrimoine en France</a:t>
                      </a:r>
                    </a:p>
                  </a:txBody>
                  <a:tcPr marL="36208" marR="36208" marT="18104" marB="18104" anchor="ctr"/>
                </a:tc>
                <a:extLst>
                  <a:ext uri="{0D108BD9-81ED-4DB2-BD59-A6C34878D82A}">
                    <a16:rowId xmlns:a16="http://schemas.microsoft.com/office/drawing/2014/main" val="2049746776"/>
                  </a:ext>
                </a:extLst>
              </a:tr>
              <a:tr h="313195">
                <a:tc>
                  <a:txBody>
                    <a:bodyPr/>
                    <a:lstStyle/>
                    <a:p>
                      <a:pPr>
                        <a:buNone/>
                      </a:pPr>
                      <a:r>
                        <a:rPr lang="fr-FR" sz="1200"/>
                        <a:t>200</a:t>
                      </a:r>
                    </a:p>
                  </a:txBody>
                  <a:tcPr marL="36208" marR="36208" marT="18104" marB="18104" anchor="ctr"/>
                </a:tc>
                <a:tc>
                  <a:txBody>
                    <a:bodyPr/>
                    <a:lstStyle/>
                    <a:p>
                      <a:pPr>
                        <a:buNone/>
                      </a:pPr>
                      <a:r>
                        <a:rPr lang="fr-FR" sz="1200"/>
                        <a:t>$e</a:t>
                      </a:r>
                    </a:p>
                  </a:txBody>
                  <a:tcPr marL="36208" marR="36208" marT="18104" marB="18104" anchor="ctr"/>
                </a:tc>
                <a:tc>
                  <a:txBody>
                    <a:bodyPr/>
                    <a:lstStyle/>
                    <a:p>
                      <a:pPr>
                        <a:buNone/>
                      </a:pPr>
                      <a:r>
                        <a:rPr lang="fr-FR" sz="1200"/>
                        <a:t>Complément du titre</a:t>
                      </a:r>
                    </a:p>
                  </a:txBody>
                  <a:tcPr marL="36208" marR="36208" marT="18104" marB="18104" anchor="ctr"/>
                </a:tc>
                <a:tc>
                  <a:txBody>
                    <a:bodyPr/>
                    <a:lstStyle/>
                    <a:p>
                      <a:pPr>
                        <a:buNone/>
                      </a:pPr>
                      <a:r>
                        <a:rPr lang="fr-FR" sz="1200"/>
                        <a:t>histoire et enjeux</a:t>
                      </a:r>
                    </a:p>
                  </a:txBody>
                  <a:tcPr marL="36208" marR="36208" marT="18104" marB="18104" anchor="ctr"/>
                </a:tc>
                <a:extLst>
                  <a:ext uri="{0D108BD9-81ED-4DB2-BD59-A6C34878D82A}">
                    <a16:rowId xmlns:a16="http://schemas.microsoft.com/office/drawing/2014/main" val="3375874630"/>
                  </a:ext>
                </a:extLst>
              </a:tr>
              <a:tr h="313195">
                <a:tc>
                  <a:txBody>
                    <a:bodyPr/>
                    <a:lstStyle/>
                    <a:p>
                      <a:pPr>
                        <a:buNone/>
                      </a:pPr>
                      <a:r>
                        <a:rPr lang="fr-FR" sz="1200"/>
                        <a:t>200</a:t>
                      </a:r>
                    </a:p>
                  </a:txBody>
                  <a:tcPr marL="36208" marR="36208" marT="18104" marB="18104" anchor="ctr"/>
                </a:tc>
                <a:tc>
                  <a:txBody>
                    <a:bodyPr/>
                    <a:lstStyle/>
                    <a:p>
                      <a:pPr>
                        <a:buNone/>
                      </a:pPr>
                      <a:r>
                        <a:rPr lang="fr-FR" sz="1200"/>
                        <a:t>$f</a:t>
                      </a:r>
                    </a:p>
                  </a:txBody>
                  <a:tcPr marL="36208" marR="36208" marT="18104" marB="18104" anchor="ctr"/>
                </a:tc>
                <a:tc>
                  <a:txBody>
                    <a:bodyPr/>
                    <a:lstStyle/>
                    <a:p>
                      <a:pPr>
                        <a:buNone/>
                      </a:pPr>
                      <a:r>
                        <a:rPr lang="fr-FR" sz="1200"/>
                        <a:t>Première mention de responsabilité</a:t>
                      </a:r>
                    </a:p>
                  </a:txBody>
                  <a:tcPr marL="36208" marR="36208" marT="18104" marB="18104" anchor="ctr"/>
                </a:tc>
                <a:tc>
                  <a:txBody>
                    <a:bodyPr/>
                    <a:lstStyle/>
                    <a:p>
                      <a:pPr>
                        <a:buNone/>
                      </a:pPr>
                      <a:r>
                        <a:rPr lang="fr-FR" sz="1200"/>
                        <a:t>Jean Dupont</a:t>
                      </a:r>
                    </a:p>
                  </a:txBody>
                  <a:tcPr marL="36208" marR="36208" marT="18104" marB="18104" anchor="ctr"/>
                </a:tc>
                <a:extLst>
                  <a:ext uri="{0D108BD9-81ED-4DB2-BD59-A6C34878D82A}">
                    <a16:rowId xmlns:a16="http://schemas.microsoft.com/office/drawing/2014/main" val="3815347808"/>
                  </a:ext>
                </a:extLst>
              </a:tr>
              <a:tr h="313195">
                <a:tc>
                  <a:txBody>
                    <a:bodyPr/>
                    <a:lstStyle/>
                    <a:p>
                      <a:pPr>
                        <a:buNone/>
                      </a:pPr>
                      <a:r>
                        <a:rPr lang="fr-FR" sz="1200"/>
                        <a:t>200</a:t>
                      </a:r>
                    </a:p>
                  </a:txBody>
                  <a:tcPr marL="36208" marR="36208" marT="18104" marB="18104" anchor="ctr"/>
                </a:tc>
                <a:tc>
                  <a:txBody>
                    <a:bodyPr/>
                    <a:lstStyle/>
                    <a:p>
                      <a:pPr>
                        <a:buNone/>
                      </a:pPr>
                      <a:r>
                        <a:rPr lang="fr-FR" sz="1200"/>
                        <a:t>$g</a:t>
                      </a:r>
                    </a:p>
                  </a:txBody>
                  <a:tcPr marL="36208" marR="36208" marT="18104" marB="18104" anchor="ctr"/>
                </a:tc>
                <a:tc>
                  <a:txBody>
                    <a:bodyPr/>
                    <a:lstStyle/>
                    <a:p>
                      <a:pPr>
                        <a:buNone/>
                      </a:pPr>
                      <a:r>
                        <a:rPr lang="fr-FR" sz="1200"/>
                        <a:t>Autre mention de responsabilité</a:t>
                      </a:r>
                    </a:p>
                  </a:txBody>
                  <a:tcPr marL="36208" marR="36208" marT="18104" marB="18104" anchor="ctr"/>
                </a:tc>
                <a:tc>
                  <a:txBody>
                    <a:bodyPr/>
                    <a:lstStyle/>
                    <a:p>
                      <a:pPr>
                        <a:buNone/>
                      </a:pPr>
                      <a:r>
                        <a:rPr lang="fr-FR" sz="1200"/>
                        <a:t>préface de…</a:t>
                      </a:r>
                    </a:p>
                  </a:txBody>
                  <a:tcPr marL="36208" marR="36208" marT="18104" marB="18104" anchor="ctr"/>
                </a:tc>
                <a:extLst>
                  <a:ext uri="{0D108BD9-81ED-4DB2-BD59-A6C34878D82A}">
                    <a16:rowId xmlns:a16="http://schemas.microsoft.com/office/drawing/2014/main" val="1616454816"/>
                  </a:ext>
                </a:extLst>
              </a:tr>
              <a:tr h="178969">
                <a:tc>
                  <a:txBody>
                    <a:bodyPr/>
                    <a:lstStyle/>
                    <a:p>
                      <a:pPr>
                        <a:buNone/>
                      </a:pPr>
                      <a:r>
                        <a:rPr lang="fr-FR" sz="1200"/>
                        <a:t>205</a:t>
                      </a:r>
                    </a:p>
                  </a:txBody>
                  <a:tcPr marL="36208" marR="36208" marT="18104" marB="18104" anchor="ctr"/>
                </a:tc>
                <a:tc>
                  <a:txBody>
                    <a:bodyPr/>
                    <a:lstStyle/>
                    <a:p>
                      <a:pPr>
                        <a:buNone/>
                      </a:pPr>
                      <a:r>
                        <a:rPr lang="fr-FR" sz="1200"/>
                        <a:t>$a</a:t>
                      </a:r>
                    </a:p>
                  </a:txBody>
                  <a:tcPr marL="36208" marR="36208" marT="18104" marB="18104" anchor="ctr"/>
                </a:tc>
                <a:tc>
                  <a:txBody>
                    <a:bodyPr/>
                    <a:lstStyle/>
                    <a:p>
                      <a:pPr>
                        <a:buNone/>
                      </a:pPr>
                      <a:r>
                        <a:rPr lang="fr-FR" sz="1200"/>
                        <a:t>Mention d'édition</a:t>
                      </a:r>
                    </a:p>
                  </a:txBody>
                  <a:tcPr marL="36208" marR="36208" marT="18104" marB="18104" anchor="ctr"/>
                </a:tc>
                <a:tc>
                  <a:txBody>
                    <a:bodyPr/>
                    <a:lstStyle/>
                    <a:p>
                      <a:pPr>
                        <a:buNone/>
                      </a:pPr>
                      <a:r>
                        <a:rPr lang="fr-FR" sz="1200"/>
                        <a:t>2e éd.</a:t>
                      </a:r>
                    </a:p>
                  </a:txBody>
                  <a:tcPr marL="36208" marR="36208" marT="18104" marB="18104" anchor="ctr"/>
                </a:tc>
                <a:extLst>
                  <a:ext uri="{0D108BD9-81ED-4DB2-BD59-A6C34878D82A}">
                    <a16:rowId xmlns:a16="http://schemas.microsoft.com/office/drawing/2014/main" val="3878876001"/>
                  </a:ext>
                </a:extLst>
              </a:tr>
              <a:tr h="178969">
                <a:tc>
                  <a:txBody>
                    <a:bodyPr/>
                    <a:lstStyle/>
                    <a:p>
                      <a:pPr>
                        <a:buNone/>
                      </a:pPr>
                      <a:r>
                        <a:rPr lang="fr-FR" sz="1200"/>
                        <a:t>214</a:t>
                      </a:r>
                    </a:p>
                  </a:txBody>
                  <a:tcPr marL="36208" marR="36208" marT="18104" marB="18104" anchor="ctr"/>
                </a:tc>
                <a:tc>
                  <a:txBody>
                    <a:bodyPr/>
                    <a:lstStyle/>
                    <a:p>
                      <a:pPr>
                        <a:buNone/>
                      </a:pPr>
                      <a:r>
                        <a:rPr lang="fr-FR" sz="1200"/>
                        <a:t>$a</a:t>
                      </a:r>
                    </a:p>
                  </a:txBody>
                  <a:tcPr marL="36208" marR="36208" marT="18104" marB="18104" anchor="ctr"/>
                </a:tc>
                <a:tc>
                  <a:txBody>
                    <a:bodyPr/>
                    <a:lstStyle/>
                    <a:p>
                      <a:pPr>
                        <a:buNone/>
                      </a:pPr>
                      <a:r>
                        <a:rPr lang="fr-FR" sz="1200"/>
                        <a:t>Lieu de publication</a:t>
                      </a:r>
                    </a:p>
                  </a:txBody>
                  <a:tcPr marL="36208" marR="36208" marT="18104" marB="18104" anchor="ctr"/>
                </a:tc>
                <a:tc>
                  <a:txBody>
                    <a:bodyPr/>
                    <a:lstStyle/>
                    <a:p>
                      <a:pPr>
                        <a:buNone/>
                      </a:pPr>
                      <a:r>
                        <a:rPr lang="fr-FR" sz="1200"/>
                        <a:t>Paris</a:t>
                      </a:r>
                    </a:p>
                  </a:txBody>
                  <a:tcPr marL="36208" marR="36208" marT="18104" marB="18104" anchor="ctr"/>
                </a:tc>
                <a:extLst>
                  <a:ext uri="{0D108BD9-81ED-4DB2-BD59-A6C34878D82A}">
                    <a16:rowId xmlns:a16="http://schemas.microsoft.com/office/drawing/2014/main" val="3877817990"/>
                  </a:ext>
                </a:extLst>
              </a:tr>
              <a:tr h="178969">
                <a:tc>
                  <a:txBody>
                    <a:bodyPr/>
                    <a:lstStyle/>
                    <a:p>
                      <a:pPr>
                        <a:buNone/>
                      </a:pPr>
                      <a:r>
                        <a:rPr lang="fr-FR" sz="1200"/>
                        <a:t>214</a:t>
                      </a:r>
                    </a:p>
                  </a:txBody>
                  <a:tcPr marL="36208" marR="36208" marT="18104" marB="18104" anchor="ctr"/>
                </a:tc>
                <a:tc>
                  <a:txBody>
                    <a:bodyPr/>
                    <a:lstStyle/>
                    <a:p>
                      <a:pPr>
                        <a:buNone/>
                      </a:pPr>
                      <a:r>
                        <a:rPr lang="fr-FR" sz="1200"/>
                        <a:t>$c</a:t>
                      </a:r>
                    </a:p>
                  </a:txBody>
                  <a:tcPr marL="36208" marR="36208" marT="18104" marB="18104" anchor="ctr"/>
                </a:tc>
                <a:tc>
                  <a:txBody>
                    <a:bodyPr/>
                    <a:lstStyle/>
                    <a:p>
                      <a:pPr>
                        <a:buNone/>
                      </a:pPr>
                      <a:r>
                        <a:rPr lang="fr-FR" sz="1200"/>
                        <a:t>Éditeur</a:t>
                      </a:r>
                    </a:p>
                  </a:txBody>
                  <a:tcPr marL="36208" marR="36208" marT="18104" marB="18104" anchor="ctr"/>
                </a:tc>
                <a:tc>
                  <a:txBody>
                    <a:bodyPr/>
                    <a:lstStyle/>
                    <a:p>
                      <a:pPr>
                        <a:buNone/>
                      </a:pPr>
                      <a:r>
                        <a:rPr lang="fr-FR" sz="1200"/>
                        <a:t>Gallimard</a:t>
                      </a:r>
                    </a:p>
                  </a:txBody>
                  <a:tcPr marL="36208" marR="36208" marT="18104" marB="18104" anchor="ctr"/>
                </a:tc>
                <a:extLst>
                  <a:ext uri="{0D108BD9-81ED-4DB2-BD59-A6C34878D82A}">
                    <a16:rowId xmlns:a16="http://schemas.microsoft.com/office/drawing/2014/main" val="3666409766"/>
                  </a:ext>
                </a:extLst>
              </a:tr>
              <a:tr h="178969">
                <a:tc>
                  <a:txBody>
                    <a:bodyPr/>
                    <a:lstStyle/>
                    <a:p>
                      <a:pPr>
                        <a:buNone/>
                      </a:pPr>
                      <a:r>
                        <a:rPr lang="fr-FR" sz="1200"/>
                        <a:t>214</a:t>
                      </a:r>
                    </a:p>
                  </a:txBody>
                  <a:tcPr marL="36208" marR="36208" marT="18104" marB="18104" anchor="ctr"/>
                </a:tc>
                <a:tc>
                  <a:txBody>
                    <a:bodyPr/>
                    <a:lstStyle/>
                    <a:p>
                      <a:pPr>
                        <a:buNone/>
                      </a:pPr>
                      <a:r>
                        <a:rPr lang="fr-FR" sz="1200"/>
                        <a:t>$d</a:t>
                      </a:r>
                    </a:p>
                  </a:txBody>
                  <a:tcPr marL="36208" marR="36208" marT="18104" marB="18104" anchor="ctr"/>
                </a:tc>
                <a:tc>
                  <a:txBody>
                    <a:bodyPr/>
                    <a:lstStyle/>
                    <a:p>
                      <a:pPr>
                        <a:buNone/>
                      </a:pPr>
                      <a:r>
                        <a:rPr lang="fr-FR" sz="1200"/>
                        <a:t>Date de publication</a:t>
                      </a:r>
                    </a:p>
                  </a:txBody>
                  <a:tcPr marL="36208" marR="36208" marT="18104" marB="18104" anchor="ctr"/>
                </a:tc>
                <a:tc>
                  <a:txBody>
                    <a:bodyPr/>
                    <a:lstStyle/>
                    <a:p>
                      <a:pPr>
                        <a:buNone/>
                      </a:pPr>
                      <a:r>
                        <a:rPr lang="fr-FR" sz="1200"/>
                        <a:t>2026</a:t>
                      </a:r>
                    </a:p>
                  </a:txBody>
                  <a:tcPr marL="36208" marR="36208" marT="18104" marB="18104" anchor="ctr"/>
                </a:tc>
                <a:extLst>
                  <a:ext uri="{0D108BD9-81ED-4DB2-BD59-A6C34878D82A}">
                    <a16:rowId xmlns:a16="http://schemas.microsoft.com/office/drawing/2014/main" val="106742776"/>
                  </a:ext>
                </a:extLst>
              </a:tr>
              <a:tr h="313195">
                <a:tc>
                  <a:txBody>
                    <a:bodyPr/>
                    <a:lstStyle/>
                    <a:p>
                      <a:pPr>
                        <a:buNone/>
                      </a:pPr>
                      <a:r>
                        <a:rPr lang="fr-FR" sz="1200"/>
                        <a:t>215</a:t>
                      </a:r>
                    </a:p>
                  </a:txBody>
                  <a:tcPr marL="36208" marR="36208" marT="18104" marB="18104" anchor="ctr"/>
                </a:tc>
                <a:tc>
                  <a:txBody>
                    <a:bodyPr/>
                    <a:lstStyle/>
                    <a:p>
                      <a:pPr>
                        <a:buNone/>
                      </a:pPr>
                      <a:r>
                        <a:rPr lang="fr-FR" sz="1200"/>
                        <a:t>$a</a:t>
                      </a:r>
                    </a:p>
                  </a:txBody>
                  <a:tcPr marL="36208" marR="36208" marT="18104" marB="18104" anchor="ctr"/>
                </a:tc>
                <a:tc>
                  <a:txBody>
                    <a:bodyPr/>
                    <a:lstStyle/>
                    <a:p>
                      <a:pPr>
                        <a:buNone/>
                      </a:pPr>
                      <a:r>
                        <a:rPr lang="fr-FR" sz="1200"/>
                        <a:t>Importance matérielle</a:t>
                      </a:r>
                    </a:p>
                  </a:txBody>
                  <a:tcPr marL="36208" marR="36208" marT="18104" marB="18104" anchor="ctr"/>
                </a:tc>
                <a:tc>
                  <a:txBody>
                    <a:bodyPr/>
                    <a:lstStyle/>
                    <a:p>
                      <a:pPr>
                        <a:buNone/>
                      </a:pPr>
                      <a:r>
                        <a:rPr lang="fr-FR" sz="1200"/>
                        <a:t>245 p.</a:t>
                      </a:r>
                    </a:p>
                  </a:txBody>
                  <a:tcPr marL="36208" marR="36208" marT="18104" marB="18104" anchor="ctr"/>
                </a:tc>
                <a:extLst>
                  <a:ext uri="{0D108BD9-81ED-4DB2-BD59-A6C34878D82A}">
                    <a16:rowId xmlns:a16="http://schemas.microsoft.com/office/drawing/2014/main" val="3647818219"/>
                  </a:ext>
                </a:extLst>
              </a:tr>
              <a:tr h="178969">
                <a:tc>
                  <a:txBody>
                    <a:bodyPr/>
                    <a:lstStyle/>
                    <a:p>
                      <a:pPr>
                        <a:buNone/>
                      </a:pPr>
                      <a:r>
                        <a:rPr lang="fr-FR" sz="1200"/>
                        <a:t>215</a:t>
                      </a:r>
                    </a:p>
                  </a:txBody>
                  <a:tcPr marL="36208" marR="36208" marT="18104" marB="18104" anchor="ctr"/>
                </a:tc>
                <a:tc>
                  <a:txBody>
                    <a:bodyPr/>
                    <a:lstStyle/>
                    <a:p>
                      <a:pPr>
                        <a:buNone/>
                      </a:pPr>
                      <a:r>
                        <a:rPr lang="fr-FR" sz="1200"/>
                        <a:t>$c</a:t>
                      </a:r>
                    </a:p>
                  </a:txBody>
                  <a:tcPr marL="36208" marR="36208" marT="18104" marB="18104" anchor="ctr"/>
                </a:tc>
                <a:tc>
                  <a:txBody>
                    <a:bodyPr/>
                    <a:lstStyle/>
                    <a:p>
                      <a:pPr>
                        <a:buNone/>
                      </a:pPr>
                      <a:r>
                        <a:rPr lang="fr-FR" sz="1200"/>
                        <a:t>Illustration</a:t>
                      </a:r>
                    </a:p>
                  </a:txBody>
                  <a:tcPr marL="36208" marR="36208" marT="18104" marB="18104" anchor="ctr"/>
                </a:tc>
                <a:tc>
                  <a:txBody>
                    <a:bodyPr/>
                    <a:lstStyle/>
                    <a:p>
                      <a:pPr>
                        <a:buNone/>
                      </a:pPr>
                      <a:r>
                        <a:rPr lang="fr-FR" sz="1200"/>
                        <a:t>ill. en coul.</a:t>
                      </a:r>
                    </a:p>
                  </a:txBody>
                  <a:tcPr marL="36208" marR="36208" marT="18104" marB="18104" anchor="ctr"/>
                </a:tc>
                <a:extLst>
                  <a:ext uri="{0D108BD9-81ED-4DB2-BD59-A6C34878D82A}">
                    <a16:rowId xmlns:a16="http://schemas.microsoft.com/office/drawing/2014/main" val="3997688709"/>
                  </a:ext>
                </a:extLst>
              </a:tr>
              <a:tr h="178969">
                <a:tc>
                  <a:txBody>
                    <a:bodyPr/>
                    <a:lstStyle/>
                    <a:p>
                      <a:pPr>
                        <a:buNone/>
                      </a:pPr>
                      <a:r>
                        <a:rPr lang="fr-FR" sz="1200"/>
                        <a:t>215</a:t>
                      </a:r>
                    </a:p>
                  </a:txBody>
                  <a:tcPr marL="36208" marR="36208" marT="18104" marB="18104" anchor="ctr"/>
                </a:tc>
                <a:tc>
                  <a:txBody>
                    <a:bodyPr/>
                    <a:lstStyle/>
                    <a:p>
                      <a:pPr>
                        <a:buNone/>
                      </a:pPr>
                      <a:r>
                        <a:rPr lang="fr-FR" sz="1200"/>
                        <a:t>$d</a:t>
                      </a:r>
                    </a:p>
                  </a:txBody>
                  <a:tcPr marL="36208" marR="36208" marT="18104" marB="18104" anchor="ctr"/>
                </a:tc>
                <a:tc>
                  <a:txBody>
                    <a:bodyPr/>
                    <a:lstStyle/>
                    <a:p>
                      <a:pPr>
                        <a:buNone/>
                      </a:pPr>
                      <a:r>
                        <a:rPr lang="fr-FR" sz="1200"/>
                        <a:t>Format</a:t>
                      </a:r>
                    </a:p>
                  </a:txBody>
                  <a:tcPr marL="36208" marR="36208" marT="18104" marB="18104" anchor="ctr"/>
                </a:tc>
                <a:tc>
                  <a:txBody>
                    <a:bodyPr/>
                    <a:lstStyle/>
                    <a:p>
                      <a:pPr>
                        <a:buNone/>
                      </a:pPr>
                      <a:r>
                        <a:rPr lang="fr-FR" sz="1200"/>
                        <a:t>24 cm</a:t>
                      </a:r>
                    </a:p>
                  </a:txBody>
                  <a:tcPr marL="36208" marR="36208" marT="18104" marB="18104" anchor="ctr"/>
                </a:tc>
                <a:extLst>
                  <a:ext uri="{0D108BD9-81ED-4DB2-BD59-A6C34878D82A}">
                    <a16:rowId xmlns:a16="http://schemas.microsoft.com/office/drawing/2014/main" val="622773303"/>
                  </a:ext>
                </a:extLst>
              </a:tr>
              <a:tr h="178969">
                <a:tc>
                  <a:txBody>
                    <a:bodyPr/>
                    <a:lstStyle/>
                    <a:p>
                      <a:pPr>
                        <a:buNone/>
                      </a:pPr>
                      <a:r>
                        <a:rPr lang="fr-FR" sz="1200"/>
                        <a:t>225</a:t>
                      </a:r>
                    </a:p>
                  </a:txBody>
                  <a:tcPr marL="36208" marR="36208" marT="18104" marB="18104" anchor="ctr"/>
                </a:tc>
                <a:tc>
                  <a:txBody>
                    <a:bodyPr/>
                    <a:lstStyle/>
                    <a:p>
                      <a:pPr>
                        <a:buNone/>
                      </a:pPr>
                      <a:r>
                        <a:rPr lang="fr-FR" sz="1200"/>
                        <a:t>$a</a:t>
                      </a:r>
                    </a:p>
                  </a:txBody>
                  <a:tcPr marL="36208" marR="36208" marT="18104" marB="18104" anchor="ctr"/>
                </a:tc>
                <a:tc>
                  <a:txBody>
                    <a:bodyPr/>
                    <a:lstStyle/>
                    <a:p>
                      <a:pPr>
                        <a:buNone/>
                      </a:pPr>
                      <a:r>
                        <a:rPr lang="fr-FR" sz="1200"/>
                        <a:t>Collection</a:t>
                      </a:r>
                    </a:p>
                  </a:txBody>
                  <a:tcPr marL="36208" marR="36208" marT="18104" marB="18104" anchor="ctr"/>
                </a:tc>
                <a:tc>
                  <a:txBody>
                    <a:bodyPr/>
                    <a:lstStyle/>
                    <a:p>
                      <a:pPr>
                        <a:buNone/>
                      </a:pPr>
                      <a:r>
                        <a:rPr lang="fr-FR" sz="1200"/>
                        <a:t>Patrimoines</a:t>
                      </a:r>
                    </a:p>
                  </a:txBody>
                  <a:tcPr marL="36208" marR="36208" marT="18104" marB="18104" anchor="ctr"/>
                </a:tc>
                <a:extLst>
                  <a:ext uri="{0D108BD9-81ED-4DB2-BD59-A6C34878D82A}">
                    <a16:rowId xmlns:a16="http://schemas.microsoft.com/office/drawing/2014/main" val="2412495998"/>
                  </a:ext>
                </a:extLst>
              </a:tr>
              <a:tr h="178969">
                <a:tc>
                  <a:txBody>
                    <a:bodyPr/>
                    <a:lstStyle/>
                    <a:p>
                      <a:pPr>
                        <a:buNone/>
                      </a:pPr>
                      <a:r>
                        <a:rPr lang="fr-FR" sz="1200"/>
                        <a:t>300</a:t>
                      </a:r>
                    </a:p>
                  </a:txBody>
                  <a:tcPr marL="36208" marR="36208" marT="18104" marB="18104" anchor="ctr"/>
                </a:tc>
                <a:tc>
                  <a:txBody>
                    <a:bodyPr/>
                    <a:lstStyle/>
                    <a:p>
                      <a:pPr>
                        <a:buNone/>
                      </a:pPr>
                      <a:r>
                        <a:rPr lang="fr-FR" sz="1200"/>
                        <a:t>$a</a:t>
                      </a:r>
                    </a:p>
                  </a:txBody>
                  <a:tcPr marL="36208" marR="36208" marT="18104" marB="18104" anchor="ctr"/>
                </a:tc>
                <a:tc>
                  <a:txBody>
                    <a:bodyPr/>
                    <a:lstStyle/>
                    <a:p>
                      <a:pPr>
                        <a:buNone/>
                      </a:pPr>
                      <a:r>
                        <a:rPr lang="fr-FR" sz="1200"/>
                        <a:t>Note générale</a:t>
                      </a:r>
                    </a:p>
                  </a:txBody>
                  <a:tcPr marL="36208" marR="36208" marT="18104" marB="18104" anchor="ctr"/>
                </a:tc>
                <a:tc>
                  <a:txBody>
                    <a:bodyPr/>
                    <a:lstStyle/>
                    <a:p>
                      <a:pPr>
                        <a:buNone/>
                      </a:pPr>
                      <a:r>
                        <a:rPr lang="fr-FR" sz="1200"/>
                        <a:t>Texte remanié de…</a:t>
                      </a:r>
                    </a:p>
                  </a:txBody>
                  <a:tcPr marL="36208" marR="36208" marT="18104" marB="18104" anchor="ctr"/>
                </a:tc>
                <a:extLst>
                  <a:ext uri="{0D108BD9-81ED-4DB2-BD59-A6C34878D82A}">
                    <a16:rowId xmlns:a16="http://schemas.microsoft.com/office/drawing/2014/main" val="1428409714"/>
                  </a:ext>
                </a:extLst>
              </a:tr>
              <a:tr h="313195">
                <a:tc>
                  <a:txBody>
                    <a:bodyPr/>
                    <a:lstStyle/>
                    <a:p>
                      <a:pPr>
                        <a:buNone/>
                      </a:pPr>
                      <a:r>
                        <a:rPr lang="fr-FR" sz="1200"/>
                        <a:t>320</a:t>
                      </a:r>
                    </a:p>
                  </a:txBody>
                  <a:tcPr marL="36208" marR="36208" marT="18104" marB="18104" anchor="ctr"/>
                </a:tc>
                <a:tc>
                  <a:txBody>
                    <a:bodyPr/>
                    <a:lstStyle/>
                    <a:p>
                      <a:pPr>
                        <a:buNone/>
                      </a:pPr>
                      <a:r>
                        <a:rPr lang="fr-FR" sz="1200"/>
                        <a:t>$a</a:t>
                      </a:r>
                    </a:p>
                  </a:txBody>
                  <a:tcPr marL="36208" marR="36208" marT="18104" marB="18104" anchor="ctr"/>
                </a:tc>
                <a:tc>
                  <a:txBody>
                    <a:bodyPr/>
                    <a:lstStyle/>
                    <a:p>
                      <a:pPr>
                        <a:buNone/>
                      </a:pPr>
                      <a:r>
                        <a:rPr lang="fr-FR" sz="1200" dirty="0"/>
                        <a:t>Note bibliographie / index</a:t>
                      </a:r>
                    </a:p>
                  </a:txBody>
                  <a:tcPr marL="36208" marR="36208" marT="18104" marB="18104" anchor="ctr"/>
                </a:tc>
                <a:tc>
                  <a:txBody>
                    <a:bodyPr/>
                    <a:lstStyle/>
                    <a:p>
                      <a:pPr>
                        <a:buNone/>
                      </a:pPr>
                      <a:r>
                        <a:rPr lang="fr-FR" sz="1200"/>
                        <a:t>Bibliogr. p. 210-220</a:t>
                      </a:r>
                    </a:p>
                  </a:txBody>
                  <a:tcPr marL="36208" marR="36208" marT="18104" marB="18104" anchor="ctr"/>
                </a:tc>
                <a:extLst>
                  <a:ext uri="{0D108BD9-81ED-4DB2-BD59-A6C34878D82A}">
                    <a16:rowId xmlns:a16="http://schemas.microsoft.com/office/drawing/2014/main" val="247503507"/>
                  </a:ext>
                </a:extLst>
              </a:tr>
              <a:tr h="178969">
                <a:tc>
                  <a:txBody>
                    <a:bodyPr/>
                    <a:lstStyle/>
                    <a:p>
                      <a:pPr>
                        <a:buNone/>
                      </a:pPr>
                      <a:r>
                        <a:rPr lang="fr-FR" sz="1200"/>
                        <a:t>330</a:t>
                      </a:r>
                    </a:p>
                  </a:txBody>
                  <a:tcPr marL="36208" marR="36208" marT="18104" marB="18104" anchor="ctr"/>
                </a:tc>
                <a:tc>
                  <a:txBody>
                    <a:bodyPr/>
                    <a:lstStyle/>
                    <a:p>
                      <a:pPr>
                        <a:buNone/>
                      </a:pPr>
                      <a:r>
                        <a:rPr lang="fr-FR" sz="1200"/>
                        <a:t>$a</a:t>
                      </a:r>
                    </a:p>
                  </a:txBody>
                  <a:tcPr marL="36208" marR="36208" marT="18104" marB="18104" anchor="ctr"/>
                </a:tc>
                <a:tc>
                  <a:txBody>
                    <a:bodyPr/>
                    <a:lstStyle/>
                    <a:p>
                      <a:pPr>
                        <a:buNone/>
                      </a:pPr>
                      <a:r>
                        <a:rPr lang="fr-FR" sz="1200"/>
                        <a:t>Résumé</a:t>
                      </a:r>
                    </a:p>
                  </a:txBody>
                  <a:tcPr marL="36208" marR="36208" marT="18104" marB="18104" anchor="ctr"/>
                </a:tc>
                <a:tc>
                  <a:txBody>
                    <a:bodyPr/>
                    <a:lstStyle/>
                    <a:p>
                      <a:pPr>
                        <a:buNone/>
                      </a:pPr>
                      <a:r>
                        <a:rPr lang="fr-FR" sz="1200"/>
                        <a:t>…</a:t>
                      </a:r>
                    </a:p>
                  </a:txBody>
                  <a:tcPr marL="36208" marR="36208" marT="18104" marB="18104" anchor="ctr"/>
                </a:tc>
                <a:extLst>
                  <a:ext uri="{0D108BD9-81ED-4DB2-BD59-A6C34878D82A}">
                    <a16:rowId xmlns:a16="http://schemas.microsoft.com/office/drawing/2014/main" val="596552782"/>
                  </a:ext>
                </a:extLst>
              </a:tr>
              <a:tr h="178969">
                <a:tc>
                  <a:txBody>
                    <a:bodyPr/>
                    <a:lstStyle/>
                    <a:p>
                      <a:pPr>
                        <a:buNone/>
                      </a:pPr>
                      <a:r>
                        <a:rPr lang="fr-FR" sz="1200"/>
                        <a:t>6XX</a:t>
                      </a:r>
                    </a:p>
                  </a:txBody>
                  <a:tcPr marL="36208" marR="36208" marT="18104" marB="18104" anchor="ctr"/>
                </a:tc>
                <a:tc>
                  <a:txBody>
                    <a:bodyPr/>
                    <a:lstStyle/>
                    <a:p>
                      <a:pPr>
                        <a:buNone/>
                      </a:pPr>
                      <a:r>
                        <a:rPr lang="fr-FR" sz="1200"/>
                        <a:t>—</a:t>
                      </a:r>
                    </a:p>
                  </a:txBody>
                  <a:tcPr marL="36208" marR="36208" marT="18104" marB="18104" anchor="ctr"/>
                </a:tc>
                <a:tc>
                  <a:txBody>
                    <a:bodyPr/>
                    <a:lstStyle/>
                    <a:p>
                      <a:pPr>
                        <a:buNone/>
                      </a:pPr>
                      <a:r>
                        <a:rPr lang="fr-FR" sz="1200"/>
                        <a:t>Sujets / indexation</a:t>
                      </a:r>
                    </a:p>
                  </a:txBody>
                  <a:tcPr marL="36208" marR="36208" marT="18104" marB="18104" anchor="ctr"/>
                </a:tc>
                <a:tc>
                  <a:txBody>
                    <a:bodyPr/>
                    <a:lstStyle/>
                    <a:p>
                      <a:pPr>
                        <a:buNone/>
                      </a:pPr>
                      <a:r>
                        <a:rPr lang="fr-FR" sz="1200"/>
                        <a:t>Patrimoine culturel</a:t>
                      </a:r>
                    </a:p>
                  </a:txBody>
                  <a:tcPr marL="36208" marR="36208" marT="18104" marB="18104" anchor="ctr"/>
                </a:tc>
                <a:extLst>
                  <a:ext uri="{0D108BD9-81ED-4DB2-BD59-A6C34878D82A}">
                    <a16:rowId xmlns:a16="http://schemas.microsoft.com/office/drawing/2014/main" val="925549365"/>
                  </a:ext>
                </a:extLst>
              </a:tr>
              <a:tr h="313195">
                <a:tc>
                  <a:txBody>
                    <a:bodyPr/>
                    <a:lstStyle/>
                    <a:p>
                      <a:pPr>
                        <a:buNone/>
                      </a:pPr>
                      <a:r>
                        <a:rPr lang="fr-FR" sz="1200"/>
                        <a:t>7XX</a:t>
                      </a:r>
                    </a:p>
                  </a:txBody>
                  <a:tcPr marL="36208" marR="36208" marT="18104" marB="18104" anchor="ctr"/>
                </a:tc>
                <a:tc>
                  <a:txBody>
                    <a:bodyPr/>
                    <a:lstStyle/>
                    <a:p>
                      <a:pPr>
                        <a:buNone/>
                      </a:pPr>
                      <a:r>
                        <a:rPr lang="fr-FR" sz="1200"/>
                        <a:t>—</a:t>
                      </a:r>
                    </a:p>
                  </a:txBody>
                  <a:tcPr marL="36208" marR="36208" marT="18104" marB="18104" anchor="ctr"/>
                </a:tc>
                <a:tc>
                  <a:txBody>
                    <a:bodyPr/>
                    <a:lstStyle/>
                    <a:p>
                      <a:pPr>
                        <a:buNone/>
                      </a:pPr>
                      <a:r>
                        <a:rPr lang="fr-FR" sz="1200"/>
                        <a:t>Responsabilités</a:t>
                      </a:r>
                    </a:p>
                  </a:txBody>
                  <a:tcPr marL="36208" marR="36208" marT="18104" marB="18104" anchor="ctr"/>
                </a:tc>
                <a:tc>
                  <a:txBody>
                    <a:bodyPr/>
                    <a:lstStyle/>
                    <a:p>
                      <a:pPr>
                        <a:buNone/>
                      </a:pPr>
                      <a:r>
                        <a:rPr lang="fr-FR" sz="1200"/>
                        <a:t>auteurs, collectivités…</a:t>
                      </a:r>
                    </a:p>
                  </a:txBody>
                  <a:tcPr marL="36208" marR="36208" marT="18104" marB="18104" anchor="ctr"/>
                </a:tc>
                <a:extLst>
                  <a:ext uri="{0D108BD9-81ED-4DB2-BD59-A6C34878D82A}">
                    <a16:rowId xmlns:a16="http://schemas.microsoft.com/office/drawing/2014/main" val="2408922174"/>
                  </a:ext>
                </a:extLst>
              </a:tr>
              <a:tr h="313195">
                <a:tc>
                  <a:txBody>
                    <a:bodyPr/>
                    <a:lstStyle/>
                    <a:p>
                      <a:pPr>
                        <a:buNone/>
                      </a:pPr>
                      <a:r>
                        <a:rPr lang="fr-FR" sz="1200"/>
                        <a:t>856</a:t>
                      </a:r>
                    </a:p>
                  </a:txBody>
                  <a:tcPr marL="36208" marR="36208" marT="18104" marB="18104" anchor="ctr"/>
                </a:tc>
                <a:tc>
                  <a:txBody>
                    <a:bodyPr/>
                    <a:lstStyle/>
                    <a:p>
                      <a:pPr>
                        <a:buNone/>
                      </a:pPr>
                      <a:r>
                        <a:rPr lang="fr-FR" sz="1200"/>
                        <a:t>$u</a:t>
                      </a:r>
                    </a:p>
                  </a:txBody>
                  <a:tcPr marL="36208" marR="36208" marT="18104" marB="18104" anchor="ctr"/>
                </a:tc>
                <a:tc>
                  <a:txBody>
                    <a:bodyPr/>
                    <a:lstStyle/>
                    <a:p>
                      <a:pPr>
                        <a:buNone/>
                      </a:pPr>
                      <a:r>
                        <a:rPr lang="fr-FR" sz="1200" dirty="0"/>
                        <a:t>Adresse d'une ressource en ligne</a:t>
                      </a:r>
                    </a:p>
                  </a:txBody>
                  <a:tcPr marL="36208" marR="36208" marT="18104" marB="18104" anchor="ctr"/>
                </a:tc>
                <a:tc>
                  <a:txBody>
                    <a:bodyPr/>
                    <a:lstStyle/>
                    <a:p>
                      <a:pPr>
                        <a:buNone/>
                      </a:pPr>
                      <a:r>
                        <a:rPr lang="fr-FR" sz="1200" dirty="0"/>
                        <a:t>lien vers le document</a:t>
                      </a:r>
                    </a:p>
                  </a:txBody>
                  <a:tcPr marL="36208" marR="36208" marT="18104" marB="18104" anchor="ctr"/>
                </a:tc>
                <a:extLst>
                  <a:ext uri="{0D108BD9-81ED-4DB2-BD59-A6C34878D82A}">
                    <a16:rowId xmlns:a16="http://schemas.microsoft.com/office/drawing/2014/main" val="296736953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C228706-C4B2-FEC1-7E36-F7563E2096F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6F0694A-D816-36D6-44A6-CFFB9F3DBF29}"/>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2" name="Rectangle 11">
            <a:extLst>
              <a:ext uri="{FF2B5EF4-FFF2-40B4-BE49-F238E27FC236}">
                <a16:creationId xmlns:a16="http://schemas.microsoft.com/office/drawing/2014/main" id="{7ABC1C11-1F5E-53DB-EEC2-E3CBF6BAC4B4}"/>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4" name="TextBox 2">
            <a:extLst>
              <a:ext uri="{FF2B5EF4-FFF2-40B4-BE49-F238E27FC236}">
                <a16:creationId xmlns:a16="http://schemas.microsoft.com/office/drawing/2014/main" id="{7EC845CF-031D-521A-908E-F317134ABD0A}"/>
              </a:ext>
            </a:extLst>
          </p:cNvPr>
          <p:cNvSpPr txBox="1"/>
          <p:nvPr/>
        </p:nvSpPr>
        <p:spPr>
          <a:xfrm>
            <a:off x="8760542" y="914400"/>
            <a:ext cx="3352800" cy="2431435"/>
          </a:xfrm>
          <a:prstGeom prst="rect">
            <a:avLst/>
          </a:prstGeom>
          <a:noFill/>
        </p:spPr>
        <p:txBody>
          <a:bodyPr wrap="square">
            <a:spAutoFit/>
          </a:bodyPr>
          <a:lstStyle/>
          <a:p>
            <a:pPr>
              <a:defRPr sz="1600" b="1">
                <a:solidFill>
                  <a:srgbClr val="FFFFFF"/>
                </a:solidFill>
              </a:defRPr>
            </a:pPr>
            <a:r>
              <a:rPr lang="fr-FR" sz="3200" noProof="0" dirty="0"/>
              <a:t>Les zones </a:t>
            </a:r>
            <a:br>
              <a:rPr lang="fr-FR" sz="3200" noProof="0" dirty="0"/>
            </a:br>
            <a:r>
              <a:rPr lang="fr-FR" sz="3200" noProof="0" dirty="0"/>
              <a:t>à connaître </a:t>
            </a:r>
            <a:br>
              <a:rPr lang="fr-FR" sz="3200" noProof="0" dirty="0"/>
            </a:br>
            <a:r>
              <a:rPr lang="fr-FR" sz="3200" noProof="0" dirty="0"/>
              <a:t>en priorité</a:t>
            </a:r>
          </a:p>
          <a:p>
            <a:pPr>
              <a:defRPr sz="1600" b="1">
                <a:solidFill>
                  <a:srgbClr val="FFFFFF"/>
                </a:solidFill>
              </a:defRPr>
            </a:pPr>
            <a:endParaRPr lang="fr-FR" sz="3200" dirty="0"/>
          </a:p>
          <a:p>
            <a:pPr>
              <a:defRPr sz="1600" b="1">
                <a:solidFill>
                  <a:srgbClr val="FFFFFF"/>
                </a:solidFill>
              </a:defRPr>
            </a:pPr>
            <a:r>
              <a:rPr lang="fr-FR" sz="2400" noProof="0" dirty="0"/>
              <a:t>Champs et sous-champs</a:t>
            </a:r>
          </a:p>
        </p:txBody>
      </p:sp>
      <p:sp>
        <p:nvSpPr>
          <p:cNvPr id="16" name="TextBox 4">
            <a:extLst>
              <a:ext uri="{FF2B5EF4-FFF2-40B4-BE49-F238E27FC236}">
                <a16:creationId xmlns:a16="http://schemas.microsoft.com/office/drawing/2014/main" id="{9D69CDAD-873F-FE97-3616-96830CEADDEC}"/>
              </a:ext>
            </a:extLst>
          </p:cNvPr>
          <p:cNvSpPr txBox="1"/>
          <p:nvPr/>
        </p:nvSpPr>
        <p:spPr>
          <a:xfrm>
            <a:off x="10742454" y="6610350"/>
            <a:ext cx="1370888" cy="215444"/>
          </a:xfrm>
          <a:prstGeom prst="rect">
            <a:avLst/>
          </a:prstGeom>
          <a:noFill/>
        </p:spPr>
        <p:txBody>
          <a:bodyPr wrap="none">
            <a:spAutoFit/>
          </a:bodyPr>
          <a:lstStyle/>
          <a:p>
            <a:pPr algn="r">
              <a:defRPr sz="800">
                <a:solidFill>
                  <a:srgbClr val="696E7D"/>
                </a:solidFill>
              </a:defRPr>
            </a:pPr>
            <a:r>
              <a:rPr lang="fr-FR" noProof="0" dirty="0">
                <a:solidFill>
                  <a:schemeClr val="bg1"/>
                </a:solidFill>
              </a:rPr>
              <a:t>KOHA — Catalogueurs DRAC</a:t>
            </a:r>
          </a:p>
        </p:txBody>
      </p:sp>
      <p:sp>
        <p:nvSpPr>
          <p:cNvPr id="4" name="ZoneTexte 3">
            <a:extLst>
              <a:ext uri="{FF2B5EF4-FFF2-40B4-BE49-F238E27FC236}">
                <a16:creationId xmlns:a16="http://schemas.microsoft.com/office/drawing/2014/main" id="{B56858FC-233C-E479-9233-6EFEF42D5024}"/>
              </a:ext>
            </a:extLst>
          </p:cNvPr>
          <p:cNvSpPr txBox="1"/>
          <p:nvPr/>
        </p:nvSpPr>
        <p:spPr>
          <a:xfrm>
            <a:off x="479108" y="914400"/>
            <a:ext cx="7921941" cy="5909310"/>
          </a:xfrm>
          <a:prstGeom prst="rect">
            <a:avLst/>
          </a:prstGeom>
          <a:noFill/>
        </p:spPr>
        <p:txBody>
          <a:bodyPr wrap="square">
            <a:spAutoFit/>
          </a:bodyPr>
          <a:lstStyle/>
          <a:p>
            <a:r>
              <a:rPr lang="fr-FR" b="1" dirty="0">
                <a:solidFill>
                  <a:srgbClr val="002060"/>
                </a:solidFill>
              </a:rPr>
              <a:t>Le champ </a:t>
            </a:r>
            <a:r>
              <a:rPr lang="fr-FR" dirty="0">
                <a:solidFill>
                  <a:srgbClr val="002060"/>
                </a:solidFill>
              </a:rPr>
              <a:t>= une catégorie d'information</a:t>
            </a:r>
            <a:br>
              <a:rPr lang="fr-FR" dirty="0">
                <a:solidFill>
                  <a:srgbClr val="002060"/>
                </a:solidFill>
              </a:rPr>
            </a:br>
            <a:r>
              <a:rPr lang="fr-FR" dirty="0">
                <a:solidFill>
                  <a:srgbClr val="002060"/>
                </a:solidFill>
              </a:rPr>
              <a:t>Chaque information est rangée dans un champ identifié par 3 chiffres.</a:t>
            </a:r>
          </a:p>
          <a:p>
            <a:endParaRPr lang="fr-FR" dirty="0">
              <a:solidFill>
                <a:srgbClr val="002060"/>
              </a:solidFill>
            </a:endParaRPr>
          </a:p>
          <a:p>
            <a:r>
              <a:rPr lang="fr-FR" b="1" dirty="0">
                <a:solidFill>
                  <a:srgbClr val="002060"/>
                </a:solidFill>
              </a:rPr>
              <a:t>Le sous-champ </a:t>
            </a:r>
            <a:r>
              <a:rPr lang="fr-FR" dirty="0">
                <a:solidFill>
                  <a:srgbClr val="002060"/>
                </a:solidFill>
              </a:rPr>
              <a:t>= une information précise à l'intérieur du champ</a:t>
            </a:r>
            <a:br>
              <a:rPr lang="fr-FR" dirty="0">
                <a:solidFill>
                  <a:srgbClr val="002060"/>
                </a:solidFill>
              </a:rPr>
            </a:br>
            <a:r>
              <a:rPr lang="fr-FR" dirty="0">
                <a:solidFill>
                  <a:srgbClr val="002060"/>
                </a:solidFill>
              </a:rPr>
              <a:t>Un champ peut contenir plusieurs informations. On les distingue avec une lettre précédée de $.</a:t>
            </a:r>
          </a:p>
          <a:p>
            <a:endParaRPr lang="fr-FR" dirty="0">
              <a:solidFill>
                <a:srgbClr val="002060"/>
              </a:solidFill>
            </a:endParaRPr>
          </a:p>
          <a:p>
            <a:r>
              <a:rPr lang="fr-FR" u="sng" dirty="0">
                <a:solidFill>
                  <a:srgbClr val="002060"/>
                </a:solidFill>
              </a:rPr>
              <a:t>Exemple</a:t>
            </a:r>
            <a:br>
              <a:rPr lang="fr-FR" u="sng" dirty="0">
                <a:solidFill>
                  <a:srgbClr val="002060"/>
                </a:solidFill>
              </a:rPr>
            </a:br>
            <a:endParaRPr lang="fr-FR" u="sng" dirty="0">
              <a:solidFill>
                <a:srgbClr val="002060"/>
              </a:solidFill>
            </a:endParaRPr>
          </a:p>
          <a:p>
            <a:r>
              <a:rPr lang="fr-FR" dirty="0">
                <a:solidFill>
                  <a:srgbClr val="002060"/>
                </a:solidFill>
              </a:rPr>
              <a:t>champ 200 — Titre et mention de responsabilité : 200</a:t>
            </a:r>
          </a:p>
          <a:p>
            <a:r>
              <a:rPr lang="fr-FR" dirty="0">
                <a:solidFill>
                  <a:srgbClr val="002060"/>
                </a:solidFill>
              </a:rPr>
              <a:t>$a = titre propre</a:t>
            </a:r>
          </a:p>
          <a:p>
            <a:r>
              <a:rPr lang="fr-FR" dirty="0">
                <a:solidFill>
                  <a:srgbClr val="002060"/>
                </a:solidFill>
              </a:rPr>
              <a:t>$e = complément du titre</a:t>
            </a:r>
          </a:p>
          <a:p>
            <a:r>
              <a:rPr lang="fr-FR" dirty="0">
                <a:solidFill>
                  <a:srgbClr val="002060"/>
                </a:solidFill>
              </a:rPr>
              <a:t>$f = première mention de responsabilité</a:t>
            </a:r>
          </a:p>
          <a:p>
            <a:r>
              <a:rPr lang="fr-FR" dirty="0">
                <a:solidFill>
                  <a:srgbClr val="002060"/>
                </a:solidFill>
              </a:rPr>
              <a:t>$g = autre mention de responsabilité</a:t>
            </a:r>
            <a:br>
              <a:rPr lang="fr-FR" dirty="0">
                <a:solidFill>
                  <a:srgbClr val="002060"/>
                </a:solidFill>
              </a:rPr>
            </a:br>
            <a:endParaRPr lang="fr-FR" dirty="0">
              <a:solidFill>
                <a:srgbClr val="002060"/>
              </a:solidFill>
            </a:endParaRPr>
          </a:p>
          <a:p>
            <a:r>
              <a:rPr lang="fr-FR" dirty="0">
                <a:solidFill>
                  <a:srgbClr val="002060"/>
                </a:solidFill>
              </a:rPr>
              <a:t>Cela peut donner :</a:t>
            </a:r>
          </a:p>
          <a:p>
            <a:r>
              <a:rPr lang="fr-FR" dirty="0">
                <a:solidFill>
                  <a:srgbClr val="002060"/>
                </a:solidFill>
              </a:rPr>
              <a:t>200 $a Le patrimoine en France $e histoire et enjeux $f Jean Dupont</a:t>
            </a:r>
          </a:p>
          <a:p>
            <a:endParaRPr lang="fr-FR" dirty="0">
              <a:solidFill>
                <a:srgbClr val="002060"/>
              </a:solidFill>
            </a:endParaRPr>
          </a:p>
          <a:p>
            <a:r>
              <a:rPr lang="fr-FR" dirty="0">
                <a:solidFill>
                  <a:srgbClr val="002060"/>
                </a:solidFill>
              </a:rPr>
              <a:t>Le numéro du champ indique de quelle grande information on parle ; la lettre du sous-champ indique précisément quelle information on saisit.</a:t>
            </a:r>
          </a:p>
          <a:p>
            <a:endParaRPr lang="fr-FR" dirty="0">
              <a:solidFill>
                <a:srgbClr val="002060"/>
              </a:solidFill>
            </a:endParaRPr>
          </a:p>
        </p:txBody>
      </p:sp>
    </p:spTree>
    <p:extLst>
      <p:ext uri="{BB962C8B-B14F-4D97-AF65-F5344CB8AC3E}">
        <p14:creationId xmlns:p14="http://schemas.microsoft.com/office/powerpoint/2010/main" val="1948281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75285" y="596265"/>
            <a:ext cx="7530465" cy="2595582"/>
          </a:xfrm>
          <a:prstGeom prst="rect">
            <a:avLst/>
          </a:prstGeom>
          <a:noFill/>
        </p:spPr>
        <p:txBody>
          <a:bodyPr wrap="square">
            <a:spAutoFit/>
          </a:bodyPr>
          <a:lstStyle/>
          <a:p>
            <a:pPr>
              <a:spcAft>
                <a:spcPts val="1100"/>
              </a:spcAft>
              <a:defRPr sz="1800">
                <a:solidFill>
                  <a:srgbClr val="23232D"/>
                </a:solidFill>
              </a:defRPr>
            </a:pPr>
            <a:r>
              <a:rPr lang="fr-FR" noProof="0" dirty="0">
                <a:solidFill>
                  <a:srgbClr val="002060"/>
                </a:solidFill>
              </a:rPr>
              <a:t>• Toujours vérifier si le document existe déjà dans Koha.</a:t>
            </a:r>
          </a:p>
          <a:p>
            <a:pPr>
              <a:spcAft>
                <a:spcPts val="1100"/>
              </a:spcAft>
              <a:defRPr sz="1800">
                <a:solidFill>
                  <a:srgbClr val="23232D"/>
                </a:solidFill>
              </a:defRPr>
            </a:pPr>
            <a:r>
              <a:rPr lang="fr-FR" noProof="0" dirty="0">
                <a:solidFill>
                  <a:srgbClr val="002060"/>
                </a:solidFill>
              </a:rPr>
              <a:t>• Privilégier un identifiant normalisé : ISBN, EAN, ISSN ou autre identifiant disponible.</a:t>
            </a:r>
          </a:p>
          <a:p>
            <a:pPr>
              <a:spcAft>
                <a:spcPts val="1100"/>
              </a:spcAft>
              <a:defRPr sz="1800">
                <a:solidFill>
                  <a:srgbClr val="23232D"/>
                </a:solidFill>
              </a:defRPr>
            </a:pPr>
            <a:r>
              <a:rPr lang="fr-FR" noProof="0" dirty="0">
                <a:solidFill>
                  <a:srgbClr val="002060"/>
                </a:solidFill>
              </a:rPr>
              <a:t>• Compléter par une recherche titre / auteur lorsque nécessaire.</a:t>
            </a:r>
          </a:p>
          <a:p>
            <a:pPr>
              <a:spcAft>
                <a:spcPts val="1100"/>
              </a:spcAft>
              <a:defRPr sz="1800">
                <a:solidFill>
                  <a:srgbClr val="23232D"/>
                </a:solidFill>
              </a:defRPr>
            </a:pPr>
            <a:r>
              <a:rPr lang="fr-FR" noProof="0" dirty="0">
                <a:solidFill>
                  <a:srgbClr val="002060"/>
                </a:solidFill>
              </a:rPr>
              <a:t>• Si la notice existe : rattacher un exemplaire plutôt que recréer une notice.</a:t>
            </a:r>
          </a:p>
          <a:p>
            <a:pPr>
              <a:spcAft>
                <a:spcPts val="1100"/>
              </a:spcAft>
              <a:defRPr sz="1800">
                <a:solidFill>
                  <a:srgbClr val="23232D"/>
                </a:solidFill>
              </a:defRPr>
            </a:pPr>
            <a:r>
              <a:rPr lang="fr-FR" noProof="0" dirty="0">
                <a:solidFill>
                  <a:srgbClr val="002060"/>
                </a:solidFill>
              </a:rPr>
              <a:t>• Si elle n’existe pas : rechercher une notice dans les réservoirs externes (dérivation)</a:t>
            </a:r>
          </a:p>
        </p:txBody>
      </p:sp>
      <p:sp>
        <p:nvSpPr>
          <p:cNvPr id="8" name="Rectangle 7">
            <a:extLst>
              <a:ext uri="{FF2B5EF4-FFF2-40B4-BE49-F238E27FC236}">
                <a16:creationId xmlns:a16="http://schemas.microsoft.com/office/drawing/2014/main" id="{CE7FF2E0-D94E-E52E-ABEB-747C03173C88}"/>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0" name="TextBox 2">
            <a:extLst>
              <a:ext uri="{FF2B5EF4-FFF2-40B4-BE49-F238E27FC236}">
                <a16:creationId xmlns:a16="http://schemas.microsoft.com/office/drawing/2014/main" id="{1E3835D7-C6DC-BEA9-1282-846C0CE6ECCA}"/>
              </a:ext>
            </a:extLst>
          </p:cNvPr>
          <p:cNvSpPr txBox="1"/>
          <p:nvPr/>
        </p:nvSpPr>
        <p:spPr>
          <a:xfrm>
            <a:off x="8760542" y="914400"/>
            <a:ext cx="3352800" cy="3170099"/>
          </a:xfrm>
          <a:prstGeom prst="rect">
            <a:avLst/>
          </a:prstGeom>
          <a:noFill/>
        </p:spPr>
        <p:txBody>
          <a:bodyPr wrap="square">
            <a:spAutoFit/>
          </a:bodyPr>
          <a:lstStyle/>
          <a:p>
            <a:pPr>
              <a:defRPr sz="1600" b="1">
                <a:solidFill>
                  <a:srgbClr val="FFFFFF"/>
                </a:solidFill>
              </a:defRPr>
            </a:pPr>
            <a:r>
              <a:rPr lang="fr-FR" sz="3200" dirty="0"/>
              <a:t>Avant de cataloguer : rechercher</a:t>
            </a:r>
          </a:p>
          <a:p>
            <a:pPr>
              <a:defRPr sz="1600" b="1">
                <a:solidFill>
                  <a:srgbClr val="FFFFFF"/>
                </a:solidFill>
              </a:defRPr>
            </a:pPr>
            <a:endParaRPr lang="fr-FR" sz="3200" dirty="0"/>
          </a:p>
          <a:p>
            <a:pPr>
              <a:defRPr sz="1600" b="1">
                <a:solidFill>
                  <a:srgbClr val="FFFFFF"/>
                </a:solidFill>
              </a:defRPr>
            </a:pPr>
            <a:r>
              <a:rPr lang="fr-FR" sz="2400" noProof="0" dirty="0"/>
              <a:t>Le premier contrôle qualité est le dédoublonnage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Oval 3"/>
          <p:cNvSpPr/>
          <p:nvPr/>
        </p:nvSpPr>
        <p:spPr>
          <a:xfrm>
            <a:off x="228600" y="1146607"/>
            <a:ext cx="548640" cy="548640"/>
          </a:xfrm>
          <a:prstGeom prst="ellipse">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rPr lang="fr-FR" sz="2800" noProof="0" dirty="0"/>
              <a:t>1</a:t>
            </a:r>
          </a:p>
        </p:txBody>
      </p:sp>
      <p:sp>
        <p:nvSpPr>
          <p:cNvPr id="6" name="TextBox 5"/>
          <p:cNvSpPr txBox="1"/>
          <p:nvPr/>
        </p:nvSpPr>
        <p:spPr>
          <a:xfrm>
            <a:off x="1325800" y="1190095"/>
            <a:ext cx="1753881" cy="461665"/>
          </a:xfrm>
          <a:prstGeom prst="rect">
            <a:avLst/>
          </a:prstGeom>
          <a:noFill/>
        </p:spPr>
        <p:txBody>
          <a:bodyPr wrap="square">
            <a:spAutoFit/>
          </a:bodyPr>
          <a:lstStyle/>
          <a:p>
            <a:pPr>
              <a:defRPr sz="1600" b="1">
                <a:solidFill>
                  <a:srgbClr val="141991"/>
                </a:solidFill>
              </a:defRPr>
            </a:pPr>
            <a:r>
              <a:rPr lang="fr-FR" sz="2400" noProof="0" dirty="0">
                <a:solidFill>
                  <a:srgbClr val="002060"/>
                </a:solidFill>
              </a:rPr>
              <a:t>Rechercher</a:t>
            </a:r>
          </a:p>
        </p:txBody>
      </p:sp>
      <p:sp>
        <p:nvSpPr>
          <p:cNvPr id="7" name="TextBox 6"/>
          <p:cNvSpPr txBox="1"/>
          <p:nvPr/>
        </p:nvSpPr>
        <p:spPr>
          <a:xfrm>
            <a:off x="3788750" y="1220872"/>
            <a:ext cx="3309366" cy="400110"/>
          </a:xfrm>
          <a:prstGeom prst="rect">
            <a:avLst/>
          </a:prstGeom>
          <a:noFill/>
        </p:spPr>
        <p:txBody>
          <a:bodyPr wrap="square">
            <a:spAutoFit/>
          </a:bodyPr>
          <a:lstStyle/>
          <a:p>
            <a:pPr>
              <a:defRPr sz="1200">
                <a:solidFill>
                  <a:srgbClr val="23232D"/>
                </a:solidFill>
              </a:defRPr>
            </a:pPr>
            <a:r>
              <a:rPr lang="fr-FR" sz="2000" noProof="0" dirty="0">
                <a:solidFill>
                  <a:srgbClr val="002060"/>
                </a:solidFill>
              </a:rPr>
              <a:t>Vérifier l’existence dans Koha</a:t>
            </a:r>
          </a:p>
        </p:txBody>
      </p:sp>
      <p:sp>
        <p:nvSpPr>
          <p:cNvPr id="11" name="TextBox 10"/>
          <p:cNvSpPr txBox="1"/>
          <p:nvPr/>
        </p:nvSpPr>
        <p:spPr>
          <a:xfrm>
            <a:off x="1356809" y="2362673"/>
            <a:ext cx="1186366" cy="461665"/>
          </a:xfrm>
          <a:prstGeom prst="rect">
            <a:avLst/>
          </a:prstGeom>
          <a:noFill/>
        </p:spPr>
        <p:txBody>
          <a:bodyPr wrap="square">
            <a:spAutoFit/>
          </a:bodyPr>
          <a:lstStyle/>
          <a:p>
            <a:pPr>
              <a:defRPr sz="1600" b="1">
                <a:solidFill>
                  <a:srgbClr val="141991"/>
                </a:solidFill>
              </a:defRPr>
            </a:pPr>
            <a:r>
              <a:rPr lang="fr-FR" sz="2400" noProof="0" dirty="0">
                <a:solidFill>
                  <a:srgbClr val="002060"/>
                </a:solidFill>
              </a:rPr>
              <a:t>Dériver</a:t>
            </a:r>
          </a:p>
        </p:txBody>
      </p:sp>
      <p:sp>
        <p:nvSpPr>
          <p:cNvPr id="12" name="TextBox 11"/>
          <p:cNvSpPr txBox="1"/>
          <p:nvPr/>
        </p:nvSpPr>
        <p:spPr>
          <a:xfrm>
            <a:off x="3788750" y="2393450"/>
            <a:ext cx="4719793" cy="400110"/>
          </a:xfrm>
          <a:prstGeom prst="rect">
            <a:avLst/>
          </a:prstGeom>
          <a:noFill/>
        </p:spPr>
        <p:txBody>
          <a:bodyPr wrap="square">
            <a:spAutoFit/>
          </a:bodyPr>
          <a:lstStyle/>
          <a:p>
            <a:pPr>
              <a:defRPr sz="1200">
                <a:solidFill>
                  <a:srgbClr val="23232D"/>
                </a:solidFill>
              </a:defRPr>
            </a:pPr>
            <a:r>
              <a:rPr lang="fr-FR" sz="2000" noProof="0" dirty="0">
                <a:solidFill>
                  <a:srgbClr val="002060"/>
                </a:solidFill>
              </a:rPr>
              <a:t>Interroger BnF / SUDOC ou autres cibles</a:t>
            </a:r>
          </a:p>
        </p:txBody>
      </p:sp>
      <p:sp>
        <p:nvSpPr>
          <p:cNvPr id="16" name="TextBox 15"/>
          <p:cNvSpPr txBox="1"/>
          <p:nvPr/>
        </p:nvSpPr>
        <p:spPr>
          <a:xfrm>
            <a:off x="1345188" y="3535251"/>
            <a:ext cx="1445637" cy="461665"/>
          </a:xfrm>
          <a:prstGeom prst="rect">
            <a:avLst/>
          </a:prstGeom>
          <a:noFill/>
        </p:spPr>
        <p:txBody>
          <a:bodyPr wrap="square">
            <a:spAutoFit/>
          </a:bodyPr>
          <a:lstStyle/>
          <a:p>
            <a:pPr>
              <a:defRPr sz="1600" b="1">
                <a:solidFill>
                  <a:srgbClr val="141991"/>
                </a:solidFill>
              </a:defRPr>
            </a:pPr>
            <a:r>
              <a:rPr lang="fr-FR" sz="2400" noProof="0" dirty="0">
                <a:solidFill>
                  <a:srgbClr val="002060"/>
                </a:solidFill>
              </a:rPr>
              <a:t>Contrôler</a:t>
            </a:r>
          </a:p>
        </p:txBody>
      </p:sp>
      <p:sp>
        <p:nvSpPr>
          <p:cNvPr id="17" name="TextBox 16"/>
          <p:cNvSpPr txBox="1"/>
          <p:nvPr/>
        </p:nvSpPr>
        <p:spPr>
          <a:xfrm>
            <a:off x="3788750" y="3566028"/>
            <a:ext cx="3750366" cy="400110"/>
          </a:xfrm>
          <a:prstGeom prst="rect">
            <a:avLst/>
          </a:prstGeom>
          <a:noFill/>
        </p:spPr>
        <p:txBody>
          <a:bodyPr wrap="square">
            <a:spAutoFit/>
          </a:bodyPr>
          <a:lstStyle/>
          <a:p>
            <a:pPr>
              <a:defRPr sz="1200">
                <a:solidFill>
                  <a:srgbClr val="23232D"/>
                </a:solidFill>
              </a:defRPr>
            </a:pPr>
            <a:r>
              <a:rPr lang="fr-FR" sz="2000" noProof="0" dirty="0">
                <a:solidFill>
                  <a:srgbClr val="002060"/>
                </a:solidFill>
              </a:rPr>
              <a:t>Vérifier et compléter l’UNIMARC</a:t>
            </a:r>
          </a:p>
        </p:txBody>
      </p:sp>
      <p:sp>
        <p:nvSpPr>
          <p:cNvPr id="21" name="TextBox 20"/>
          <p:cNvSpPr txBox="1"/>
          <p:nvPr/>
        </p:nvSpPr>
        <p:spPr>
          <a:xfrm>
            <a:off x="1271084" y="4707829"/>
            <a:ext cx="1910266" cy="461665"/>
          </a:xfrm>
          <a:prstGeom prst="rect">
            <a:avLst/>
          </a:prstGeom>
          <a:noFill/>
        </p:spPr>
        <p:txBody>
          <a:bodyPr wrap="square">
            <a:spAutoFit/>
          </a:bodyPr>
          <a:lstStyle/>
          <a:p>
            <a:pPr>
              <a:defRPr sz="1600" b="1">
                <a:solidFill>
                  <a:srgbClr val="141991"/>
                </a:solidFill>
              </a:defRPr>
            </a:pPr>
            <a:r>
              <a:rPr lang="fr-FR" sz="2400" noProof="0" dirty="0">
                <a:solidFill>
                  <a:srgbClr val="002060"/>
                </a:solidFill>
              </a:rPr>
              <a:t>Exemplariser</a:t>
            </a:r>
          </a:p>
        </p:txBody>
      </p:sp>
      <p:sp>
        <p:nvSpPr>
          <p:cNvPr id="22" name="TextBox 21"/>
          <p:cNvSpPr txBox="1"/>
          <p:nvPr/>
        </p:nvSpPr>
        <p:spPr>
          <a:xfrm>
            <a:off x="3788750" y="4738606"/>
            <a:ext cx="3195066" cy="400110"/>
          </a:xfrm>
          <a:prstGeom prst="rect">
            <a:avLst/>
          </a:prstGeom>
          <a:noFill/>
        </p:spPr>
        <p:txBody>
          <a:bodyPr wrap="square">
            <a:spAutoFit/>
          </a:bodyPr>
          <a:lstStyle/>
          <a:p>
            <a:pPr>
              <a:defRPr sz="1200">
                <a:solidFill>
                  <a:srgbClr val="23232D"/>
                </a:solidFill>
              </a:defRPr>
            </a:pPr>
            <a:r>
              <a:rPr lang="fr-FR" sz="2000" noProof="0" dirty="0">
                <a:solidFill>
                  <a:srgbClr val="002060"/>
                </a:solidFill>
              </a:rPr>
              <a:t>Créer les données locales</a:t>
            </a:r>
          </a:p>
        </p:txBody>
      </p:sp>
      <p:sp>
        <p:nvSpPr>
          <p:cNvPr id="26" name="TextBox 25"/>
          <p:cNvSpPr txBox="1"/>
          <p:nvPr/>
        </p:nvSpPr>
        <p:spPr>
          <a:xfrm>
            <a:off x="1345188" y="5880408"/>
            <a:ext cx="1197987" cy="461665"/>
          </a:xfrm>
          <a:prstGeom prst="rect">
            <a:avLst/>
          </a:prstGeom>
          <a:noFill/>
        </p:spPr>
        <p:txBody>
          <a:bodyPr wrap="square">
            <a:spAutoFit/>
          </a:bodyPr>
          <a:lstStyle/>
          <a:p>
            <a:pPr>
              <a:defRPr sz="1600" b="1">
                <a:solidFill>
                  <a:srgbClr val="141991"/>
                </a:solidFill>
              </a:defRPr>
            </a:pPr>
            <a:r>
              <a:rPr lang="fr-FR" sz="2400" noProof="0" dirty="0">
                <a:solidFill>
                  <a:srgbClr val="002060"/>
                </a:solidFill>
              </a:rPr>
              <a:t>Vérifier</a:t>
            </a:r>
          </a:p>
        </p:txBody>
      </p:sp>
      <p:sp>
        <p:nvSpPr>
          <p:cNvPr id="27" name="TextBox 26"/>
          <p:cNvSpPr txBox="1"/>
          <p:nvPr/>
        </p:nvSpPr>
        <p:spPr>
          <a:xfrm>
            <a:off x="3788750" y="5911185"/>
            <a:ext cx="3195065" cy="400110"/>
          </a:xfrm>
          <a:prstGeom prst="rect">
            <a:avLst/>
          </a:prstGeom>
          <a:noFill/>
        </p:spPr>
        <p:txBody>
          <a:bodyPr wrap="square">
            <a:spAutoFit/>
          </a:bodyPr>
          <a:lstStyle/>
          <a:p>
            <a:pPr>
              <a:defRPr sz="1200">
                <a:solidFill>
                  <a:srgbClr val="23232D"/>
                </a:solidFill>
              </a:defRPr>
            </a:pPr>
            <a:r>
              <a:rPr lang="fr-FR" sz="2000" noProof="0" dirty="0">
                <a:solidFill>
                  <a:srgbClr val="002060"/>
                </a:solidFill>
              </a:rPr>
              <a:t>Contrôler l’affichage final</a:t>
            </a:r>
          </a:p>
        </p:txBody>
      </p:sp>
      <p:sp>
        <p:nvSpPr>
          <p:cNvPr id="30" name="Rectangle 29">
            <a:extLst>
              <a:ext uri="{FF2B5EF4-FFF2-40B4-BE49-F238E27FC236}">
                <a16:creationId xmlns:a16="http://schemas.microsoft.com/office/drawing/2014/main" id="{99B6D84F-17CD-62CD-48FB-1CC554882397}"/>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2" name="TextBox 2">
            <a:extLst>
              <a:ext uri="{FF2B5EF4-FFF2-40B4-BE49-F238E27FC236}">
                <a16:creationId xmlns:a16="http://schemas.microsoft.com/office/drawing/2014/main" id="{3B192720-FB05-0E70-B6C7-ABAC51A44E65}"/>
              </a:ext>
            </a:extLst>
          </p:cNvPr>
          <p:cNvSpPr txBox="1"/>
          <p:nvPr/>
        </p:nvSpPr>
        <p:spPr>
          <a:xfrm>
            <a:off x="8760542" y="914400"/>
            <a:ext cx="3352800" cy="1569660"/>
          </a:xfrm>
          <a:prstGeom prst="rect">
            <a:avLst/>
          </a:prstGeom>
          <a:noFill/>
        </p:spPr>
        <p:txBody>
          <a:bodyPr wrap="square">
            <a:spAutoFit/>
          </a:bodyPr>
          <a:lstStyle/>
          <a:p>
            <a:pPr>
              <a:defRPr sz="1600" b="1">
                <a:solidFill>
                  <a:srgbClr val="FFFFFF"/>
                </a:solidFill>
              </a:defRPr>
            </a:pPr>
            <a:r>
              <a:rPr lang="fr-FR" sz="3200" noProof="0" dirty="0"/>
              <a:t>Le workflow commun de catalogage</a:t>
            </a:r>
          </a:p>
        </p:txBody>
      </p:sp>
      <p:sp>
        <p:nvSpPr>
          <p:cNvPr id="33" name="Oval 3">
            <a:extLst>
              <a:ext uri="{FF2B5EF4-FFF2-40B4-BE49-F238E27FC236}">
                <a16:creationId xmlns:a16="http://schemas.microsoft.com/office/drawing/2014/main" id="{47B748AE-FF03-79BA-024E-C24877693AA5}"/>
              </a:ext>
            </a:extLst>
          </p:cNvPr>
          <p:cNvSpPr/>
          <p:nvPr/>
        </p:nvSpPr>
        <p:spPr>
          <a:xfrm>
            <a:off x="228600" y="2319185"/>
            <a:ext cx="548640" cy="548640"/>
          </a:xfrm>
          <a:prstGeom prst="ellipse">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rPr lang="fr-FR" sz="2800" noProof="0" dirty="0"/>
              <a:t>2</a:t>
            </a:r>
          </a:p>
        </p:txBody>
      </p:sp>
      <p:sp>
        <p:nvSpPr>
          <p:cNvPr id="34" name="Oval 3">
            <a:extLst>
              <a:ext uri="{FF2B5EF4-FFF2-40B4-BE49-F238E27FC236}">
                <a16:creationId xmlns:a16="http://schemas.microsoft.com/office/drawing/2014/main" id="{8555BDC7-1808-BCB4-23E3-2B73FF23B2F6}"/>
              </a:ext>
            </a:extLst>
          </p:cNvPr>
          <p:cNvSpPr/>
          <p:nvPr/>
        </p:nvSpPr>
        <p:spPr>
          <a:xfrm>
            <a:off x="228600" y="3491763"/>
            <a:ext cx="548640" cy="548640"/>
          </a:xfrm>
          <a:prstGeom prst="ellipse">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rPr lang="fr-FR" sz="2800" noProof="0" dirty="0"/>
              <a:t>3</a:t>
            </a:r>
          </a:p>
        </p:txBody>
      </p:sp>
      <p:sp>
        <p:nvSpPr>
          <p:cNvPr id="35" name="Oval 3">
            <a:extLst>
              <a:ext uri="{FF2B5EF4-FFF2-40B4-BE49-F238E27FC236}">
                <a16:creationId xmlns:a16="http://schemas.microsoft.com/office/drawing/2014/main" id="{E5EC126C-CDF3-32D1-9118-5E301CD89C45}"/>
              </a:ext>
            </a:extLst>
          </p:cNvPr>
          <p:cNvSpPr/>
          <p:nvPr/>
        </p:nvSpPr>
        <p:spPr>
          <a:xfrm>
            <a:off x="228600" y="4664341"/>
            <a:ext cx="548640" cy="548640"/>
          </a:xfrm>
          <a:prstGeom prst="ellipse">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rPr lang="fr-FR" sz="2800" noProof="0" dirty="0"/>
              <a:t>4</a:t>
            </a:r>
          </a:p>
        </p:txBody>
      </p:sp>
      <p:sp>
        <p:nvSpPr>
          <p:cNvPr id="36" name="Oval 3">
            <a:extLst>
              <a:ext uri="{FF2B5EF4-FFF2-40B4-BE49-F238E27FC236}">
                <a16:creationId xmlns:a16="http://schemas.microsoft.com/office/drawing/2014/main" id="{6128393E-E29E-E39D-FDB8-AE7E59851A99}"/>
              </a:ext>
            </a:extLst>
          </p:cNvPr>
          <p:cNvSpPr/>
          <p:nvPr/>
        </p:nvSpPr>
        <p:spPr>
          <a:xfrm>
            <a:off x="228600" y="5836920"/>
            <a:ext cx="548640" cy="548640"/>
          </a:xfrm>
          <a:prstGeom prst="ellipse">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rPr lang="fr-FR" sz="2800" noProof="0" dirty="0"/>
              <a:t>5</a:t>
            </a:r>
          </a:p>
        </p:txBody>
      </p:sp>
      <p:cxnSp>
        <p:nvCxnSpPr>
          <p:cNvPr id="38" name="Connecteur droit avec flèche 37">
            <a:extLst>
              <a:ext uri="{FF2B5EF4-FFF2-40B4-BE49-F238E27FC236}">
                <a16:creationId xmlns:a16="http://schemas.microsoft.com/office/drawing/2014/main" id="{063FD72D-4ABA-2683-379F-84CCCB426176}"/>
              </a:ext>
            </a:extLst>
          </p:cNvPr>
          <p:cNvCxnSpPr>
            <a:cxnSpLocks/>
            <a:stCxn id="4" idx="6"/>
            <a:endCxn id="6" idx="1"/>
          </p:cNvCxnSpPr>
          <p:nvPr/>
        </p:nvCxnSpPr>
        <p:spPr>
          <a:xfrm>
            <a:off x="777240" y="1420927"/>
            <a:ext cx="548560"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Connecteur droit avec flèche 39">
            <a:extLst>
              <a:ext uri="{FF2B5EF4-FFF2-40B4-BE49-F238E27FC236}">
                <a16:creationId xmlns:a16="http://schemas.microsoft.com/office/drawing/2014/main" id="{0DDA9D96-416D-C3AB-179A-0BEC295C330A}"/>
              </a:ext>
            </a:extLst>
          </p:cNvPr>
          <p:cNvCxnSpPr>
            <a:cxnSpLocks/>
            <a:stCxn id="6" idx="3"/>
            <a:endCxn id="7" idx="1"/>
          </p:cNvCxnSpPr>
          <p:nvPr/>
        </p:nvCxnSpPr>
        <p:spPr>
          <a:xfrm flipV="1">
            <a:off x="3079681" y="1420927"/>
            <a:ext cx="709069"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3" name="Connecteur droit avec flèche 42">
            <a:extLst>
              <a:ext uri="{FF2B5EF4-FFF2-40B4-BE49-F238E27FC236}">
                <a16:creationId xmlns:a16="http://schemas.microsoft.com/office/drawing/2014/main" id="{11E7D9E6-EF65-EC09-8609-517CED00103F}"/>
              </a:ext>
            </a:extLst>
          </p:cNvPr>
          <p:cNvCxnSpPr>
            <a:cxnSpLocks/>
            <a:stCxn id="33" idx="6"/>
            <a:endCxn id="11" idx="1"/>
          </p:cNvCxnSpPr>
          <p:nvPr/>
        </p:nvCxnSpPr>
        <p:spPr>
          <a:xfrm>
            <a:off x="777240" y="2593505"/>
            <a:ext cx="579569"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Connecteur droit avec flèche 45">
            <a:extLst>
              <a:ext uri="{FF2B5EF4-FFF2-40B4-BE49-F238E27FC236}">
                <a16:creationId xmlns:a16="http://schemas.microsoft.com/office/drawing/2014/main" id="{DB852ED0-0196-79AC-1283-09E07A2F37F9}"/>
              </a:ext>
            </a:extLst>
          </p:cNvPr>
          <p:cNvCxnSpPr>
            <a:cxnSpLocks/>
            <a:stCxn id="34" idx="6"/>
            <a:endCxn id="16" idx="1"/>
          </p:cNvCxnSpPr>
          <p:nvPr/>
        </p:nvCxnSpPr>
        <p:spPr>
          <a:xfrm>
            <a:off x="777240" y="3766083"/>
            <a:ext cx="567948"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Connecteur droit avec flèche 48">
            <a:extLst>
              <a:ext uri="{FF2B5EF4-FFF2-40B4-BE49-F238E27FC236}">
                <a16:creationId xmlns:a16="http://schemas.microsoft.com/office/drawing/2014/main" id="{8AABB99D-E874-4507-C811-2B8AAE1B93E8}"/>
              </a:ext>
            </a:extLst>
          </p:cNvPr>
          <p:cNvCxnSpPr>
            <a:cxnSpLocks/>
            <a:stCxn id="35" idx="6"/>
            <a:endCxn id="21" idx="1"/>
          </p:cNvCxnSpPr>
          <p:nvPr/>
        </p:nvCxnSpPr>
        <p:spPr>
          <a:xfrm>
            <a:off x="777240" y="4938661"/>
            <a:ext cx="493844"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2" name="Connecteur droit avec flèche 51">
            <a:extLst>
              <a:ext uri="{FF2B5EF4-FFF2-40B4-BE49-F238E27FC236}">
                <a16:creationId xmlns:a16="http://schemas.microsoft.com/office/drawing/2014/main" id="{AE004130-76FA-4BB9-56D9-E10CB1640DE6}"/>
              </a:ext>
            </a:extLst>
          </p:cNvPr>
          <p:cNvCxnSpPr>
            <a:cxnSpLocks/>
            <a:stCxn id="36" idx="6"/>
            <a:endCxn id="26" idx="1"/>
          </p:cNvCxnSpPr>
          <p:nvPr/>
        </p:nvCxnSpPr>
        <p:spPr>
          <a:xfrm>
            <a:off x="777240" y="6111240"/>
            <a:ext cx="567948"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Connecteur droit avec flèche 54">
            <a:extLst>
              <a:ext uri="{FF2B5EF4-FFF2-40B4-BE49-F238E27FC236}">
                <a16:creationId xmlns:a16="http://schemas.microsoft.com/office/drawing/2014/main" id="{E4FFE3DE-5175-724D-3B00-E6A5E6408E66}"/>
              </a:ext>
            </a:extLst>
          </p:cNvPr>
          <p:cNvCxnSpPr>
            <a:cxnSpLocks/>
            <a:stCxn id="11" idx="3"/>
            <a:endCxn id="12" idx="1"/>
          </p:cNvCxnSpPr>
          <p:nvPr/>
        </p:nvCxnSpPr>
        <p:spPr>
          <a:xfrm flipV="1">
            <a:off x="2543175" y="2593505"/>
            <a:ext cx="1245575"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1" name="Connecteur droit avec flèche 60">
            <a:extLst>
              <a:ext uri="{FF2B5EF4-FFF2-40B4-BE49-F238E27FC236}">
                <a16:creationId xmlns:a16="http://schemas.microsoft.com/office/drawing/2014/main" id="{5E29D80B-434A-B6DB-E7EF-1B404D4E85E1}"/>
              </a:ext>
            </a:extLst>
          </p:cNvPr>
          <p:cNvCxnSpPr>
            <a:cxnSpLocks/>
            <a:stCxn id="16" idx="3"/>
            <a:endCxn id="17" idx="1"/>
          </p:cNvCxnSpPr>
          <p:nvPr/>
        </p:nvCxnSpPr>
        <p:spPr>
          <a:xfrm flipV="1">
            <a:off x="2790825" y="3766083"/>
            <a:ext cx="997925"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6" name="Connecteur droit avec flèche 65">
            <a:extLst>
              <a:ext uri="{FF2B5EF4-FFF2-40B4-BE49-F238E27FC236}">
                <a16:creationId xmlns:a16="http://schemas.microsoft.com/office/drawing/2014/main" id="{62830375-8215-C53D-DC9C-0EDCACDB80B3}"/>
              </a:ext>
            </a:extLst>
          </p:cNvPr>
          <p:cNvCxnSpPr>
            <a:cxnSpLocks/>
            <a:stCxn id="21" idx="3"/>
            <a:endCxn id="22" idx="1"/>
          </p:cNvCxnSpPr>
          <p:nvPr/>
        </p:nvCxnSpPr>
        <p:spPr>
          <a:xfrm flipV="1">
            <a:off x="3181350" y="4938661"/>
            <a:ext cx="607400"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1" name="Connecteur droit avec flèche 70">
            <a:extLst>
              <a:ext uri="{FF2B5EF4-FFF2-40B4-BE49-F238E27FC236}">
                <a16:creationId xmlns:a16="http://schemas.microsoft.com/office/drawing/2014/main" id="{91E0C4ED-5D82-9F59-6B56-CF38A763DD65}"/>
              </a:ext>
            </a:extLst>
          </p:cNvPr>
          <p:cNvCxnSpPr>
            <a:cxnSpLocks/>
            <a:stCxn id="26" idx="3"/>
            <a:endCxn id="27" idx="1"/>
          </p:cNvCxnSpPr>
          <p:nvPr/>
        </p:nvCxnSpPr>
        <p:spPr>
          <a:xfrm flipV="1">
            <a:off x="2543175" y="6111240"/>
            <a:ext cx="1245575"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2435" y="443865"/>
            <a:ext cx="7168515" cy="2736647"/>
          </a:xfrm>
          <a:prstGeom prst="rect">
            <a:avLst/>
          </a:prstGeom>
          <a:noFill/>
        </p:spPr>
        <p:txBody>
          <a:bodyPr wrap="square">
            <a:spAutoFit/>
          </a:bodyPr>
          <a:lstStyle/>
          <a:p>
            <a:pPr>
              <a:spcAft>
                <a:spcPts val="1100"/>
              </a:spcAft>
              <a:defRPr sz="1800">
                <a:solidFill>
                  <a:srgbClr val="23232D"/>
                </a:solidFill>
              </a:defRPr>
            </a:pPr>
            <a:r>
              <a:rPr lang="fr-FR" noProof="0">
                <a:solidFill>
                  <a:srgbClr val="002060"/>
                </a:solidFill>
              </a:rPr>
              <a:t>• Lancer la recherche Z39.50 / SRU depuis Koha.</a:t>
            </a:r>
          </a:p>
          <a:p>
            <a:pPr>
              <a:spcAft>
                <a:spcPts val="1100"/>
              </a:spcAft>
              <a:defRPr sz="1800">
                <a:solidFill>
                  <a:srgbClr val="23232D"/>
                </a:solidFill>
              </a:defRPr>
            </a:pPr>
            <a:r>
              <a:rPr lang="fr-FR" noProof="0" dirty="0">
                <a:solidFill>
                  <a:srgbClr val="002060"/>
                </a:solidFill>
              </a:rPr>
              <a:t>• Utiliser de préférence l’ISBN ou un autre identifiant normalisé.</a:t>
            </a:r>
          </a:p>
          <a:p>
            <a:pPr>
              <a:spcAft>
                <a:spcPts val="1100"/>
              </a:spcAft>
              <a:defRPr sz="1800">
                <a:solidFill>
                  <a:srgbClr val="23232D"/>
                </a:solidFill>
              </a:defRPr>
            </a:pPr>
            <a:r>
              <a:rPr lang="fr-FR" noProof="0" dirty="0">
                <a:solidFill>
                  <a:srgbClr val="002060"/>
                </a:solidFill>
              </a:rPr>
              <a:t>• Comparer les résultats proposés par les réservoirs.</a:t>
            </a:r>
          </a:p>
          <a:p>
            <a:pPr>
              <a:spcAft>
                <a:spcPts val="1100"/>
              </a:spcAft>
              <a:defRPr sz="1800">
                <a:solidFill>
                  <a:srgbClr val="23232D"/>
                </a:solidFill>
              </a:defRPr>
            </a:pPr>
            <a:r>
              <a:rPr lang="fr-FR" noProof="0" dirty="0">
                <a:solidFill>
                  <a:srgbClr val="002060"/>
                </a:solidFill>
              </a:rPr>
              <a:t>• Choisir la notice la plus adaptée selon la convention commune.</a:t>
            </a:r>
          </a:p>
          <a:p>
            <a:pPr>
              <a:spcAft>
                <a:spcPts val="1100"/>
              </a:spcAft>
              <a:defRPr sz="1800">
                <a:solidFill>
                  <a:srgbClr val="23232D"/>
                </a:solidFill>
              </a:defRPr>
            </a:pPr>
            <a:r>
              <a:rPr lang="fr-FR" noProof="0" dirty="0">
                <a:solidFill>
                  <a:srgbClr val="002060"/>
                </a:solidFill>
              </a:rPr>
              <a:t>• Importer la notice dans la grille Koha.</a:t>
            </a:r>
          </a:p>
          <a:p>
            <a:pPr>
              <a:spcAft>
                <a:spcPts val="1100"/>
              </a:spcAft>
              <a:defRPr sz="1800">
                <a:solidFill>
                  <a:srgbClr val="23232D"/>
                </a:solidFill>
              </a:defRPr>
            </a:pPr>
            <a:r>
              <a:rPr lang="fr-FR" noProof="0" dirty="0">
                <a:solidFill>
                  <a:srgbClr val="002060"/>
                </a:solidFill>
              </a:rPr>
              <a:t>• Ne jamais considérer une notice importée comme automatiquement correcte.</a:t>
            </a:r>
          </a:p>
        </p:txBody>
      </p:sp>
      <p:sp>
        <p:nvSpPr>
          <p:cNvPr id="7" name="Rectangle 6">
            <a:extLst>
              <a:ext uri="{FF2B5EF4-FFF2-40B4-BE49-F238E27FC236}">
                <a16:creationId xmlns:a16="http://schemas.microsoft.com/office/drawing/2014/main" id="{338BD78A-CA30-EBE2-2A65-B6B71CC65BF0}"/>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9" name="TextBox 2">
            <a:extLst>
              <a:ext uri="{FF2B5EF4-FFF2-40B4-BE49-F238E27FC236}">
                <a16:creationId xmlns:a16="http://schemas.microsoft.com/office/drawing/2014/main" id="{BACB9E79-F82E-F9D3-CA8B-A725A3F534C2}"/>
              </a:ext>
            </a:extLst>
          </p:cNvPr>
          <p:cNvSpPr txBox="1"/>
          <p:nvPr/>
        </p:nvSpPr>
        <p:spPr>
          <a:xfrm>
            <a:off x="8760542" y="914400"/>
            <a:ext cx="3352800" cy="1077218"/>
          </a:xfrm>
          <a:prstGeom prst="rect">
            <a:avLst/>
          </a:prstGeom>
          <a:noFill/>
        </p:spPr>
        <p:txBody>
          <a:bodyPr wrap="square">
            <a:spAutoFit/>
          </a:bodyPr>
          <a:lstStyle/>
          <a:p>
            <a:pPr>
              <a:defRPr sz="1600" b="1">
                <a:solidFill>
                  <a:srgbClr val="FFFFFF"/>
                </a:solidFill>
              </a:defRPr>
            </a:pPr>
            <a:r>
              <a:rPr lang="fr-FR" sz="3200" dirty="0"/>
              <a:t>Cataloguer </a:t>
            </a:r>
            <a:br>
              <a:rPr lang="fr-FR" sz="3200" dirty="0"/>
            </a:br>
            <a:r>
              <a:rPr lang="fr-FR" sz="3200" dirty="0"/>
              <a:t>par dérivation</a:t>
            </a:r>
            <a:endParaRPr lang="fr-FR" sz="3200" noProof="0" dirty="0"/>
          </a:p>
        </p:txBody>
      </p:sp>
      <p:pic>
        <p:nvPicPr>
          <p:cNvPr id="11" name="Image 10">
            <a:extLst>
              <a:ext uri="{FF2B5EF4-FFF2-40B4-BE49-F238E27FC236}">
                <a16:creationId xmlns:a16="http://schemas.microsoft.com/office/drawing/2014/main" id="{AE606651-39EB-5827-5147-4AD225B0C6BD}"/>
              </a:ext>
            </a:extLst>
          </p:cNvPr>
          <p:cNvPicPr>
            <a:picLocks noChangeAspect="1"/>
          </p:cNvPicPr>
          <p:nvPr/>
        </p:nvPicPr>
        <p:blipFill>
          <a:blip r:embed="rId2"/>
          <a:stretch>
            <a:fillRect/>
          </a:stretch>
        </p:blipFill>
        <p:spPr>
          <a:xfrm>
            <a:off x="248583" y="3429000"/>
            <a:ext cx="3000794" cy="543001"/>
          </a:xfrm>
          <a:prstGeom prst="rect">
            <a:avLst/>
          </a:prstGeom>
        </p:spPr>
      </p:pic>
      <p:pic>
        <p:nvPicPr>
          <p:cNvPr id="13" name="Image 12">
            <a:extLst>
              <a:ext uri="{FF2B5EF4-FFF2-40B4-BE49-F238E27FC236}">
                <a16:creationId xmlns:a16="http://schemas.microsoft.com/office/drawing/2014/main" id="{3950D4D6-4C03-E094-4AF3-5D51C69791E4}"/>
              </a:ext>
            </a:extLst>
          </p:cNvPr>
          <p:cNvPicPr>
            <a:picLocks noChangeAspect="1"/>
          </p:cNvPicPr>
          <p:nvPr/>
        </p:nvPicPr>
        <p:blipFill>
          <a:blip r:embed="rId3"/>
          <a:stretch>
            <a:fillRect/>
          </a:stretch>
        </p:blipFill>
        <p:spPr>
          <a:xfrm>
            <a:off x="3171825" y="2990931"/>
            <a:ext cx="5848350" cy="3750904"/>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1ADED2F-197B-D8E4-81B2-7E94ADBF4D4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087DFEE-D1FB-4F1A-9990-0A127EEF166B}"/>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30C7AB2F-2330-C4CA-D266-A36F15A9FD49}"/>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9" name="TextBox 2">
            <a:extLst>
              <a:ext uri="{FF2B5EF4-FFF2-40B4-BE49-F238E27FC236}">
                <a16:creationId xmlns:a16="http://schemas.microsoft.com/office/drawing/2014/main" id="{089AEAC3-1E3A-BA9D-93B0-5FA5D5A09EE7}"/>
              </a:ext>
            </a:extLst>
          </p:cNvPr>
          <p:cNvSpPr txBox="1"/>
          <p:nvPr/>
        </p:nvSpPr>
        <p:spPr>
          <a:xfrm>
            <a:off x="8760542" y="914400"/>
            <a:ext cx="3352800" cy="1077218"/>
          </a:xfrm>
          <a:prstGeom prst="rect">
            <a:avLst/>
          </a:prstGeom>
          <a:noFill/>
        </p:spPr>
        <p:txBody>
          <a:bodyPr wrap="square">
            <a:spAutoFit/>
          </a:bodyPr>
          <a:lstStyle/>
          <a:p>
            <a:pPr>
              <a:defRPr sz="1600" b="1">
                <a:solidFill>
                  <a:srgbClr val="FFFFFF"/>
                </a:solidFill>
              </a:defRPr>
            </a:pPr>
            <a:r>
              <a:rPr lang="fr-FR" sz="3200" dirty="0"/>
              <a:t>Cataloguer </a:t>
            </a:r>
            <a:br>
              <a:rPr lang="fr-FR" sz="3200" dirty="0"/>
            </a:br>
            <a:r>
              <a:rPr lang="fr-FR" sz="3200" dirty="0"/>
              <a:t>par dérivation</a:t>
            </a:r>
            <a:endParaRPr lang="fr-FR" sz="3200" noProof="0" dirty="0"/>
          </a:p>
        </p:txBody>
      </p:sp>
      <p:pic>
        <p:nvPicPr>
          <p:cNvPr id="5" name="Image 4">
            <a:extLst>
              <a:ext uri="{FF2B5EF4-FFF2-40B4-BE49-F238E27FC236}">
                <a16:creationId xmlns:a16="http://schemas.microsoft.com/office/drawing/2014/main" id="{FF9D15CB-FC20-3723-5CB7-FE5C32432729}"/>
              </a:ext>
            </a:extLst>
          </p:cNvPr>
          <p:cNvPicPr>
            <a:picLocks noChangeAspect="1"/>
          </p:cNvPicPr>
          <p:nvPr/>
        </p:nvPicPr>
        <p:blipFill>
          <a:blip r:embed="rId2"/>
          <a:stretch>
            <a:fillRect/>
          </a:stretch>
        </p:blipFill>
        <p:spPr>
          <a:xfrm>
            <a:off x="423360" y="147314"/>
            <a:ext cx="5087625" cy="3281686"/>
          </a:xfrm>
          <a:prstGeom prst="rect">
            <a:avLst/>
          </a:prstGeom>
        </p:spPr>
      </p:pic>
      <p:pic>
        <p:nvPicPr>
          <p:cNvPr id="8" name="Image 7">
            <a:extLst>
              <a:ext uri="{FF2B5EF4-FFF2-40B4-BE49-F238E27FC236}">
                <a16:creationId xmlns:a16="http://schemas.microsoft.com/office/drawing/2014/main" id="{D509856E-E4D2-527D-E48B-1164DBD263A0}"/>
              </a:ext>
            </a:extLst>
          </p:cNvPr>
          <p:cNvPicPr>
            <a:picLocks noChangeAspect="1"/>
          </p:cNvPicPr>
          <p:nvPr/>
        </p:nvPicPr>
        <p:blipFill>
          <a:blip r:embed="rId3"/>
          <a:stretch>
            <a:fillRect/>
          </a:stretch>
        </p:blipFill>
        <p:spPr>
          <a:xfrm>
            <a:off x="423360" y="3823249"/>
            <a:ext cx="4495800" cy="1764930"/>
          </a:xfrm>
          <a:prstGeom prst="rect">
            <a:avLst/>
          </a:prstGeom>
        </p:spPr>
      </p:pic>
      <p:pic>
        <p:nvPicPr>
          <p:cNvPr id="12" name="Image 11">
            <a:extLst>
              <a:ext uri="{FF2B5EF4-FFF2-40B4-BE49-F238E27FC236}">
                <a16:creationId xmlns:a16="http://schemas.microsoft.com/office/drawing/2014/main" id="{7D5FAB6C-B575-2F2A-96C7-FD639B746C23}"/>
              </a:ext>
            </a:extLst>
          </p:cNvPr>
          <p:cNvPicPr>
            <a:picLocks noChangeAspect="1"/>
          </p:cNvPicPr>
          <p:nvPr/>
        </p:nvPicPr>
        <p:blipFill>
          <a:blip r:embed="rId4"/>
          <a:stretch>
            <a:fillRect/>
          </a:stretch>
        </p:blipFill>
        <p:spPr>
          <a:xfrm>
            <a:off x="5391151" y="3515618"/>
            <a:ext cx="5181598" cy="2380192"/>
          </a:xfrm>
          <a:prstGeom prst="rect">
            <a:avLst/>
          </a:prstGeom>
        </p:spPr>
      </p:pic>
      <p:cxnSp>
        <p:nvCxnSpPr>
          <p:cNvPr id="15" name="Connecteur droit avec flèche 14">
            <a:extLst>
              <a:ext uri="{FF2B5EF4-FFF2-40B4-BE49-F238E27FC236}">
                <a16:creationId xmlns:a16="http://schemas.microsoft.com/office/drawing/2014/main" id="{788739DF-F0EC-7D87-E657-2BDA33884BE1}"/>
              </a:ext>
            </a:extLst>
          </p:cNvPr>
          <p:cNvCxnSpPr/>
          <p:nvPr/>
        </p:nvCxnSpPr>
        <p:spPr>
          <a:xfrm>
            <a:off x="2590800" y="3191685"/>
            <a:ext cx="0" cy="6478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Connecteur droit avec flèche 15">
            <a:extLst>
              <a:ext uri="{FF2B5EF4-FFF2-40B4-BE49-F238E27FC236}">
                <a16:creationId xmlns:a16="http://schemas.microsoft.com/office/drawing/2014/main" id="{FFA1300C-38FB-A0B1-9326-97F77EE4AEA9}"/>
              </a:ext>
            </a:extLst>
          </p:cNvPr>
          <p:cNvCxnSpPr>
            <a:cxnSpLocks/>
          </p:cNvCxnSpPr>
          <p:nvPr/>
        </p:nvCxnSpPr>
        <p:spPr>
          <a:xfrm rot="16200000">
            <a:off x="5067219" y="4582335"/>
            <a:ext cx="0" cy="6478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023121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84810" y="501015"/>
            <a:ext cx="7568565" cy="2041585"/>
          </a:xfrm>
          <a:prstGeom prst="rect">
            <a:avLst/>
          </a:prstGeom>
          <a:noFill/>
        </p:spPr>
        <p:txBody>
          <a:bodyPr wrap="square">
            <a:spAutoFit/>
          </a:bodyPr>
          <a:lstStyle/>
          <a:p>
            <a:pPr>
              <a:spcAft>
                <a:spcPts val="1100"/>
              </a:spcAft>
              <a:defRPr sz="1800">
                <a:solidFill>
                  <a:srgbClr val="23232D"/>
                </a:solidFill>
              </a:defRPr>
            </a:pPr>
            <a:r>
              <a:rPr lang="fr-FR" noProof="0">
                <a:solidFill>
                  <a:srgbClr val="002060"/>
                </a:solidFill>
              </a:rPr>
              <a:t>• Vérifier que l’identifiant correspond exactement au document.</a:t>
            </a:r>
          </a:p>
          <a:p>
            <a:pPr>
              <a:spcAft>
                <a:spcPts val="1100"/>
              </a:spcAft>
              <a:defRPr sz="1800">
                <a:solidFill>
                  <a:srgbClr val="23232D"/>
                </a:solidFill>
              </a:defRPr>
            </a:pPr>
            <a:r>
              <a:rPr lang="fr-FR" noProof="0" dirty="0">
                <a:solidFill>
                  <a:srgbClr val="002060"/>
                </a:solidFill>
              </a:rPr>
              <a:t>• Comparer le titre, l’auteur, l’édition et la date.</a:t>
            </a:r>
          </a:p>
          <a:p>
            <a:pPr>
              <a:spcAft>
                <a:spcPts val="1100"/>
              </a:spcAft>
              <a:defRPr sz="1800">
                <a:solidFill>
                  <a:srgbClr val="23232D"/>
                </a:solidFill>
              </a:defRPr>
            </a:pPr>
            <a:r>
              <a:rPr lang="fr-FR" noProof="0" dirty="0">
                <a:solidFill>
                  <a:srgbClr val="002060"/>
                </a:solidFill>
              </a:rPr>
              <a:t>• Repérer les différences de support ou de version.</a:t>
            </a:r>
          </a:p>
          <a:p>
            <a:pPr>
              <a:spcAft>
                <a:spcPts val="1100"/>
              </a:spcAft>
              <a:defRPr sz="1800">
                <a:solidFill>
                  <a:srgbClr val="23232D"/>
                </a:solidFill>
              </a:defRPr>
            </a:pPr>
            <a:r>
              <a:rPr lang="fr-FR" noProof="0" dirty="0">
                <a:solidFill>
                  <a:srgbClr val="002060"/>
                </a:solidFill>
              </a:rPr>
              <a:t>• Privilégier le réservoir défini dans les règles communes de catalogage.</a:t>
            </a:r>
          </a:p>
          <a:p>
            <a:pPr>
              <a:spcAft>
                <a:spcPts val="1100"/>
              </a:spcAft>
              <a:defRPr sz="1800">
                <a:solidFill>
                  <a:srgbClr val="23232D"/>
                </a:solidFill>
              </a:defRPr>
            </a:pPr>
            <a:r>
              <a:rPr lang="fr-FR" noProof="0" dirty="0">
                <a:solidFill>
                  <a:srgbClr val="002060"/>
                </a:solidFill>
              </a:rPr>
              <a:t>• En cas de doute : ne pas importer trop vite ; revenir au document.</a:t>
            </a:r>
          </a:p>
        </p:txBody>
      </p:sp>
      <p:sp>
        <p:nvSpPr>
          <p:cNvPr id="7" name="Rectangle 6">
            <a:extLst>
              <a:ext uri="{FF2B5EF4-FFF2-40B4-BE49-F238E27FC236}">
                <a16:creationId xmlns:a16="http://schemas.microsoft.com/office/drawing/2014/main" id="{7CBF453F-9606-BD4C-7073-DA731632F692}"/>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9" name="TextBox 2">
            <a:extLst>
              <a:ext uri="{FF2B5EF4-FFF2-40B4-BE49-F238E27FC236}">
                <a16:creationId xmlns:a16="http://schemas.microsoft.com/office/drawing/2014/main" id="{D7C9DE48-5890-4E12-F0EC-A9CD6CF7840D}"/>
              </a:ext>
            </a:extLst>
          </p:cNvPr>
          <p:cNvSpPr txBox="1"/>
          <p:nvPr/>
        </p:nvSpPr>
        <p:spPr>
          <a:xfrm>
            <a:off x="8760542" y="914400"/>
            <a:ext cx="3352800" cy="2308324"/>
          </a:xfrm>
          <a:prstGeom prst="rect">
            <a:avLst/>
          </a:prstGeom>
          <a:noFill/>
        </p:spPr>
        <p:txBody>
          <a:bodyPr wrap="square">
            <a:spAutoFit/>
          </a:bodyPr>
          <a:lstStyle/>
          <a:p>
            <a:pPr>
              <a:defRPr sz="1600" b="1">
                <a:solidFill>
                  <a:srgbClr val="FFFFFF"/>
                </a:solidFill>
              </a:defRPr>
            </a:pPr>
            <a:r>
              <a:rPr lang="fr-FR" sz="3200" dirty="0"/>
              <a:t>Cataloguer </a:t>
            </a:r>
            <a:br>
              <a:rPr lang="fr-FR" sz="3200" dirty="0"/>
            </a:br>
            <a:r>
              <a:rPr lang="fr-FR" sz="3200" dirty="0"/>
              <a:t>par dérivation </a:t>
            </a:r>
          </a:p>
          <a:p>
            <a:pPr>
              <a:defRPr sz="1600" b="1">
                <a:solidFill>
                  <a:srgbClr val="FFFFFF"/>
                </a:solidFill>
              </a:defRPr>
            </a:pPr>
            <a:endParaRPr lang="fr-FR" sz="3200" noProof="0" dirty="0"/>
          </a:p>
          <a:p>
            <a:pPr>
              <a:defRPr sz="1600" b="1">
                <a:solidFill>
                  <a:srgbClr val="FFFFFF"/>
                </a:solidFill>
              </a:defRPr>
            </a:pPr>
            <a:r>
              <a:rPr lang="fr-FR" sz="2400" dirty="0"/>
              <a:t>Choisir la bonne notice </a:t>
            </a:r>
            <a:br>
              <a:rPr lang="fr-FR" sz="2400" dirty="0"/>
            </a:br>
            <a:r>
              <a:rPr lang="fr-FR" sz="2400" dirty="0"/>
              <a:t>à dériver</a:t>
            </a:r>
          </a:p>
        </p:txBody>
      </p:sp>
      <p:pic>
        <p:nvPicPr>
          <p:cNvPr id="11" name="Image 10">
            <a:extLst>
              <a:ext uri="{FF2B5EF4-FFF2-40B4-BE49-F238E27FC236}">
                <a16:creationId xmlns:a16="http://schemas.microsoft.com/office/drawing/2014/main" id="{048A3CFC-2691-157B-0E0F-F0222F102E62}"/>
              </a:ext>
            </a:extLst>
          </p:cNvPr>
          <p:cNvPicPr>
            <a:picLocks noChangeAspect="1"/>
          </p:cNvPicPr>
          <p:nvPr/>
        </p:nvPicPr>
        <p:blipFill>
          <a:blip r:embed="rId2"/>
          <a:stretch>
            <a:fillRect/>
          </a:stretch>
        </p:blipFill>
        <p:spPr>
          <a:xfrm>
            <a:off x="995172" y="2750074"/>
            <a:ext cx="6815328" cy="313065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dirty="0"/>
          </a:p>
        </p:txBody>
      </p:sp>
      <p:sp>
        <p:nvSpPr>
          <p:cNvPr id="5" name="TextBox 4"/>
          <p:cNvSpPr txBox="1"/>
          <p:nvPr/>
        </p:nvSpPr>
        <p:spPr>
          <a:xfrm>
            <a:off x="868680" y="396240"/>
            <a:ext cx="4709160" cy="502920"/>
          </a:xfrm>
          <a:prstGeom prst="rect">
            <a:avLst/>
          </a:prstGeom>
          <a:noFill/>
        </p:spPr>
        <p:txBody>
          <a:bodyPr wrap="none">
            <a:spAutoFit/>
          </a:bodyPr>
          <a:lstStyle/>
          <a:p>
            <a:pPr>
              <a:defRPr sz="1700" b="1">
                <a:solidFill>
                  <a:srgbClr val="141991"/>
                </a:solidFill>
              </a:defRPr>
            </a:pPr>
            <a:r>
              <a:rPr lang="fr-FR" dirty="0"/>
              <a:t>Contrôles bibliographiques</a:t>
            </a:r>
          </a:p>
        </p:txBody>
      </p:sp>
      <p:sp>
        <p:nvSpPr>
          <p:cNvPr id="6" name="TextBox 5"/>
          <p:cNvSpPr txBox="1"/>
          <p:nvPr/>
        </p:nvSpPr>
        <p:spPr>
          <a:xfrm>
            <a:off x="868680" y="934125"/>
            <a:ext cx="3103245" cy="1579920"/>
          </a:xfrm>
          <a:prstGeom prst="rect">
            <a:avLst/>
          </a:prstGeom>
          <a:noFill/>
        </p:spPr>
        <p:txBody>
          <a:bodyPr wrap="square">
            <a:spAutoFit/>
          </a:bodyPr>
          <a:lstStyle/>
          <a:p>
            <a:pPr>
              <a:spcAft>
                <a:spcPts val="800"/>
              </a:spcAft>
              <a:defRPr sz="1400">
                <a:solidFill>
                  <a:srgbClr val="23232D"/>
                </a:solidFill>
              </a:defRPr>
            </a:pPr>
            <a:r>
              <a:rPr lang="fr-FR" dirty="0">
                <a:solidFill>
                  <a:srgbClr val="002060"/>
                </a:solidFill>
              </a:rPr>
              <a:t>• 200 — titre / responsabilité</a:t>
            </a:r>
          </a:p>
          <a:p>
            <a:pPr>
              <a:spcAft>
                <a:spcPts val="800"/>
              </a:spcAft>
              <a:defRPr sz="1400">
                <a:solidFill>
                  <a:srgbClr val="23232D"/>
                </a:solidFill>
              </a:defRPr>
            </a:pPr>
            <a:r>
              <a:rPr lang="fr-FR" dirty="0">
                <a:solidFill>
                  <a:srgbClr val="002060"/>
                </a:solidFill>
              </a:rPr>
              <a:t>• 214 — lieu / éditeur / date</a:t>
            </a:r>
          </a:p>
          <a:p>
            <a:pPr>
              <a:spcAft>
                <a:spcPts val="800"/>
              </a:spcAft>
              <a:defRPr sz="1400">
                <a:solidFill>
                  <a:srgbClr val="23232D"/>
                </a:solidFill>
              </a:defRPr>
            </a:pPr>
            <a:r>
              <a:rPr lang="fr-FR" dirty="0">
                <a:solidFill>
                  <a:srgbClr val="002060"/>
                </a:solidFill>
              </a:rPr>
              <a:t>• 215 — importance matérielle</a:t>
            </a:r>
          </a:p>
          <a:p>
            <a:pPr>
              <a:spcAft>
                <a:spcPts val="800"/>
              </a:spcAft>
              <a:defRPr sz="1400">
                <a:solidFill>
                  <a:srgbClr val="23232D"/>
                </a:solidFill>
              </a:defRPr>
            </a:pPr>
            <a:r>
              <a:rPr lang="fr-FR" dirty="0">
                <a:solidFill>
                  <a:srgbClr val="002060"/>
                </a:solidFill>
              </a:rPr>
              <a:t>• 225 / 4XX — collection</a:t>
            </a:r>
          </a:p>
          <a:p>
            <a:pPr>
              <a:spcAft>
                <a:spcPts val="800"/>
              </a:spcAft>
              <a:defRPr sz="1400">
                <a:solidFill>
                  <a:srgbClr val="23232D"/>
                </a:solidFill>
              </a:defRPr>
            </a:pPr>
            <a:r>
              <a:rPr lang="fr-FR" dirty="0">
                <a:solidFill>
                  <a:srgbClr val="002060"/>
                </a:solidFill>
              </a:rPr>
              <a:t>• 300 / 320 / 330 — notes et résumé</a:t>
            </a:r>
          </a:p>
        </p:txBody>
      </p:sp>
      <p:sp>
        <p:nvSpPr>
          <p:cNvPr id="8" name="TextBox 7"/>
          <p:cNvSpPr txBox="1"/>
          <p:nvPr/>
        </p:nvSpPr>
        <p:spPr>
          <a:xfrm>
            <a:off x="4754880" y="396240"/>
            <a:ext cx="2938653" cy="353943"/>
          </a:xfrm>
          <a:prstGeom prst="rect">
            <a:avLst/>
          </a:prstGeom>
          <a:noFill/>
        </p:spPr>
        <p:txBody>
          <a:bodyPr wrap="square">
            <a:spAutoFit/>
          </a:bodyPr>
          <a:lstStyle/>
          <a:p>
            <a:pPr>
              <a:defRPr sz="1700" b="1">
                <a:solidFill>
                  <a:srgbClr val="141991"/>
                </a:solidFill>
              </a:defRPr>
            </a:pPr>
            <a:r>
              <a:rPr lang="fr-FR" dirty="0"/>
              <a:t>Contrôles techniques</a:t>
            </a:r>
          </a:p>
        </p:txBody>
      </p:sp>
      <p:sp>
        <p:nvSpPr>
          <p:cNvPr id="9" name="TextBox 8"/>
          <p:cNvSpPr txBox="1"/>
          <p:nvPr/>
        </p:nvSpPr>
        <p:spPr>
          <a:xfrm>
            <a:off x="4754880" y="934125"/>
            <a:ext cx="2938653" cy="1579920"/>
          </a:xfrm>
          <a:prstGeom prst="rect">
            <a:avLst/>
          </a:prstGeom>
          <a:noFill/>
        </p:spPr>
        <p:txBody>
          <a:bodyPr wrap="square">
            <a:spAutoFit/>
          </a:bodyPr>
          <a:lstStyle/>
          <a:p>
            <a:pPr>
              <a:spcAft>
                <a:spcPts val="800"/>
              </a:spcAft>
              <a:defRPr sz="1400">
                <a:solidFill>
                  <a:srgbClr val="23232D"/>
                </a:solidFill>
              </a:defRPr>
            </a:pPr>
            <a:r>
              <a:rPr lang="fr-FR" dirty="0">
                <a:solidFill>
                  <a:srgbClr val="002060"/>
                </a:solidFill>
              </a:rPr>
              <a:t>• 010 / 073 — identifiants</a:t>
            </a:r>
          </a:p>
          <a:p>
            <a:pPr>
              <a:spcAft>
                <a:spcPts val="800"/>
              </a:spcAft>
              <a:defRPr sz="1400">
                <a:solidFill>
                  <a:srgbClr val="23232D"/>
                </a:solidFill>
              </a:defRPr>
            </a:pPr>
            <a:r>
              <a:rPr lang="fr-FR" dirty="0">
                <a:solidFill>
                  <a:srgbClr val="002060"/>
                </a:solidFill>
              </a:rPr>
              <a:t>• 100 / 101 — données codées</a:t>
            </a:r>
          </a:p>
          <a:p>
            <a:pPr>
              <a:spcAft>
                <a:spcPts val="800"/>
              </a:spcAft>
              <a:defRPr sz="1400">
                <a:solidFill>
                  <a:srgbClr val="23232D"/>
                </a:solidFill>
              </a:defRPr>
            </a:pPr>
            <a:r>
              <a:rPr lang="fr-FR" dirty="0">
                <a:solidFill>
                  <a:srgbClr val="002060"/>
                </a:solidFill>
              </a:rPr>
              <a:t>• 6XX — indexation</a:t>
            </a:r>
          </a:p>
          <a:p>
            <a:pPr>
              <a:spcAft>
                <a:spcPts val="800"/>
              </a:spcAft>
              <a:defRPr sz="1400">
                <a:solidFill>
                  <a:srgbClr val="23232D"/>
                </a:solidFill>
              </a:defRPr>
            </a:pPr>
            <a:r>
              <a:rPr lang="fr-FR" dirty="0">
                <a:solidFill>
                  <a:srgbClr val="002060"/>
                </a:solidFill>
              </a:rPr>
              <a:t>• 7XX — responsabilités</a:t>
            </a:r>
          </a:p>
          <a:p>
            <a:pPr>
              <a:spcAft>
                <a:spcPts val="800"/>
              </a:spcAft>
              <a:defRPr sz="1400">
                <a:solidFill>
                  <a:srgbClr val="23232D"/>
                </a:solidFill>
              </a:defRPr>
            </a:pPr>
            <a:r>
              <a:rPr lang="fr-FR" dirty="0">
                <a:solidFill>
                  <a:srgbClr val="002060"/>
                </a:solidFill>
              </a:rPr>
              <a:t>• Zones locales nécessaires</a:t>
            </a:r>
          </a:p>
        </p:txBody>
      </p:sp>
      <p:sp>
        <p:nvSpPr>
          <p:cNvPr id="12" name="Rectangle 11">
            <a:extLst>
              <a:ext uri="{FF2B5EF4-FFF2-40B4-BE49-F238E27FC236}">
                <a16:creationId xmlns:a16="http://schemas.microsoft.com/office/drawing/2014/main" id="{3FF2C5E2-63D2-B936-74D3-4276D18E073D}"/>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4" name="TextBox 2">
            <a:extLst>
              <a:ext uri="{FF2B5EF4-FFF2-40B4-BE49-F238E27FC236}">
                <a16:creationId xmlns:a16="http://schemas.microsoft.com/office/drawing/2014/main" id="{E442144B-8643-0D61-093D-1673DBCD2777}"/>
              </a:ext>
            </a:extLst>
          </p:cNvPr>
          <p:cNvSpPr txBox="1"/>
          <p:nvPr/>
        </p:nvSpPr>
        <p:spPr>
          <a:xfrm>
            <a:off x="8760542" y="914400"/>
            <a:ext cx="3352800" cy="2308324"/>
          </a:xfrm>
          <a:prstGeom prst="rect">
            <a:avLst/>
          </a:prstGeom>
          <a:noFill/>
        </p:spPr>
        <p:txBody>
          <a:bodyPr wrap="square">
            <a:spAutoFit/>
          </a:bodyPr>
          <a:lstStyle/>
          <a:p>
            <a:pPr>
              <a:defRPr sz="1600" b="1">
                <a:solidFill>
                  <a:srgbClr val="FFFFFF"/>
                </a:solidFill>
              </a:defRPr>
            </a:pPr>
            <a:r>
              <a:rPr lang="fr-FR" sz="3200" dirty="0"/>
              <a:t>Cataloguer </a:t>
            </a:r>
            <a:br>
              <a:rPr lang="fr-FR" sz="3200" dirty="0"/>
            </a:br>
            <a:r>
              <a:rPr lang="fr-FR" sz="3200" dirty="0"/>
              <a:t>par dérivation </a:t>
            </a:r>
          </a:p>
          <a:p>
            <a:pPr>
              <a:defRPr sz="1600" b="1">
                <a:solidFill>
                  <a:srgbClr val="FFFFFF"/>
                </a:solidFill>
              </a:defRPr>
            </a:pPr>
            <a:endParaRPr lang="fr-FR" sz="3200" noProof="0" dirty="0"/>
          </a:p>
          <a:p>
            <a:pPr>
              <a:defRPr sz="1600" b="1">
                <a:solidFill>
                  <a:srgbClr val="FFFFFF"/>
                </a:solidFill>
              </a:defRPr>
            </a:pPr>
            <a:r>
              <a:rPr lang="fr-FR" sz="2400" dirty="0"/>
              <a:t>Contrôler la notice importée</a:t>
            </a:r>
          </a:p>
        </p:txBody>
      </p:sp>
      <p:pic>
        <p:nvPicPr>
          <p:cNvPr id="16" name="Image 15">
            <a:extLst>
              <a:ext uri="{FF2B5EF4-FFF2-40B4-BE49-F238E27FC236}">
                <a16:creationId xmlns:a16="http://schemas.microsoft.com/office/drawing/2014/main" id="{15EC3929-C758-68D9-C787-1B0BC93380DD}"/>
              </a:ext>
            </a:extLst>
          </p:cNvPr>
          <p:cNvPicPr>
            <a:picLocks noChangeAspect="1"/>
          </p:cNvPicPr>
          <p:nvPr/>
        </p:nvPicPr>
        <p:blipFill>
          <a:blip r:embed="rId2"/>
          <a:stretch>
            <a:fillRect/>
          </a:stretch>
        </p:blipFill>
        <p:spPr>
          <a:xfrm>
            <a:off x="1347597" y="2815710"/>
            <a:ext cx="6110478" cy="377708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41960" y="339090"/>
            <a:ext cx="7184898" cy="2736647"/>
          </a:xfrm>
          <a:prstGeom prst="rect">
            <a:avLst/>
          </a:prstGeom>
          <a:noFill/>
        </p:spPr>
        <p:txBody>
          <a:bodyPr wrap="square">
            <a:spAutoFit/>
          </a:bodyPr>
          <a:lstStyle/>
          <a:p>
            <a:pPr>
              <a:spcAft>
                <a:spcPts val="1100"/>
              </a:spcAft>
              <a:defRPr sz="1800">
                <a:solidFill>
                  <a:srgbClr val="23232D"/>
                </a:solidFill>
              </a:defRPr>
            </a:pPr>
            <a:r>
              <a:rPr lang="fr-FR" noProof="0" dirty="0">
                <a:solidFill>
                  <a:srgbClr val="002060"/>
                </a:solidFill>
              </a:rPr>
              <a:t>• 200$a : titre propre</a:t>
            </a:r>
          </a:p>
          <a:p>
            <a:pPr>
              <a:spcAft>
                <a:spcPts val="1100"/>
              </a:spcAft>
              <a:defRPr sz="1800">
                <a:solidFill>
                  <a:srgbClr val="23232D"/>
                </a:solidFill>
              </a:defRPr>
            </a:pPr>
            <a:r>
              <a:rPr lang="fr-FR" noProof="0" dirty="0">
                <a:solidFill>
                  <a:srgbClr val="002060"/>
                </a:solidFill>
              </a:rPr>
              <a:t>• 200$e : complément du titre</a:t>
            </a:r>
          </a:p>
          <a:p>
            <a:pPr>
              <a:spcAft>
                <a:spcPts val="1100"/>
              </a:spcAft>
              <a:defRPr sz="1800">
                <a:solidFill>
                  <a:srgbClr val="23232D"/>
                </a:solidFill>
              </a:defRPr>
            </a:pPr>
            <a:r>
              <a:rPr lang="fr-FR" noProof="0" dirty="0">
                <a:solidFill>
                  <a:srgbClr val="002060"/>
                </a:solidFill>
              </a:rPr>
              <a:t>• 200$f : première mention de responsabilité</a:t>
            </a:r>
          </a:p>
          <a:p>
            <a:pPr>
              <a:spcAft>
                <a:spcPts val="1100"/>
              </a:spcAft>
              <a:defRPr sz="1800">
                <a:solidFill>
                  <a:srgbClr val="23232D"/>
                </a:solidFill>
              </a:defRPr>
            </a:pPr>
            <a:r>
              <a:rPr lang="fr-FR" noProof="0" dirty="0">
                <a:solidFill>
                  <a:srgbClr val="002060"/>
                </a:solidFill>
              </a:rPr>
              <a:t>• 200$g : mention de responsabilité suivante</a:t>
            </a:r>
          </a:p>
          <a:p>
            <a:pPr>
              <a:spcAft>
                <a:spcPts val="1100"/>
              </a:spcAft>
              <a:defRPr sz="1800">
                <a:solidFill>
                  <a:srgbClr val="23232D"/>
                </a:solidFill>
              </a:defRPr>
            </a:pPr>
            <a:r>
              <a:rPr lang="fr-FR" noProof="0" dirty="0">
                <a:solidFill>
                  <a:srgbClr val="002060"/>
                </a:solidFill>
              </a:rPr>
              <a:t>• Identifier les titres parallèles, titres dépendants ou volumaisons lorsque le document l’exige.</a:t>
            </a:r>
          </a:p>
          <a:p>
            <a:pPr>
              <a:spcAft>
                <a:spcPts val="1100"/>
              </a:spcAft>
              <a:defRPr sz="1800">
                <a:solidFill>
                  <a:srgbClr val="23232D"/>
                </a:solidFill>
              </a:defRPr>
            </a:pPr>
            <a:r>
              <a:rPr lang="fr-FR" noProof="0" dirty="0">
                <a:solidFill>
                  <a:srgbClr val="002060"/>
                </a:solidFill>
              </a:rPr>
              <a:t>• Transcrire les informations à partir de la source appropriée.</a:t>
            </a:r>
          </a:p>
        </p:txBody>
      </p:sp>
      <p:sp>
        <p:nvSpPr>
          <p:cNvPr id="7" name="Rectangle 6">
            <a:extLst>
              <a:ext uri="{FF2B5EF4-FFF2-40B4-BE49-F238E27FC236}">
                <a16:creationId xmlns:a16="http://schemas.microsoft.com/office/drawing/2014/main" id="{BE450023-382D-C983-4915-D410136259FE}"/>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9" name="TextBox 2">
            <a:extLst>
              <a:ext uri="{FF2B5EF4-FFF2-40B4-BE49-F238E27FC236}">
                <a16:creationId xmlns:a16="http://schemas.microsoft.com/office/drawing/2014/main" id="{89159C30-8573-58D3-7282-4E4A1F336527}"/>
              </a:ext>
            </a:extLst>
          </p:cNvPr>
          <p:cNvSpPr txBox="1"/>
          <p:nvPr/>
        </p:nvSpPr>
        <p:spPr>
          <a:xfrm>
            <a:off x="8760542" y="914400"/>
            <a:ext cx="3352800" cy="1815882"/>
          </a:xfrm>
          <a:prstGeom prst="rect">
            <a:avLst/>
          </a:prstGeom>
          <a:noFill/>
        </p:spPr>
        <p:txBody>
          <a:bodyPr wrap="square">
            <a:spAutoFit/>
          </a:bodyPr>
          <a:lstStyle/>
          <a:p>
            <a:pPr>
              <a:defRPr sz="1600" b="1">
                <a:solidFill>
                  <a:srgbClr val="FFFFFF"/>
                </a:solidFill>
              </a:defRPr>
            </a:pPr>
            <a:r>
              <a:rPr lang="fr-FR" sz="3200" dirty="0"/>
              <a:t>Cataloguer </a:t>
            </a:r>
            <a:br>
              <a:rPr lang="fr-FR" sz="3200" dirty="0"/>
            </a:br>
            <a:endParaRPr lang="fr-FR" sz="3200" dirty="0"/>
          </a:p>
          <a:p>
            <a:pPr>
              <a:defRPr sz="1600" b="1">
                <a:solidFill>
                  <a:srgbClr val="FFFFFF"/>
                </a:solidFill>
              </a:defRPr>
            </a:pPr>
            <a:r>
              <a:rPr lang="fr-FR" sz="2400" dirty="0"/>
              <a:t>Titre et mention de responsabilité — 200</a:t>
            </a:r>
          </a:p>
        </p:txBody>
      </p:sp>
      <p:pic>
        <p:nvPicPr>
          <p:cNvPr id="11" name="Image 10">
            <a:extLst>
              <a:ext uri="{FF2B5EF4-FFF2-40B4-BE49-F238E27FC236}">
                <a16:creationId xmlns:a16="http://schemas.microsoft.com/office/drawing/2014/main" id="{CB480F06-2F17-2BA0-7C66-A07698E5698C}"/>
              </a:ext>
            </a:extLst>
          </p:cNvPr>
          <p:cNvPicPr>
            <a:picLocks noChangeAspect="1"/>
          </p:cNvPicPr>
          <p:nvPr/>
        </p:nvPicPr>
        <p:blipFill>
          <a:blip r:embed="rId2"/>
          <a:stretch>
            <a:fillRect/>
          </a:stretch>
        </p:blipFill>
        <p:spPr>
          <a:xfrm>
            <a:off x="304800" y="3429000"/>
            <a:ext cx="10629900" cy="3268296"/>
          </a:xfrm>
          <a:prstGeom prst="rect">
            <a:avLst/>
          </a:prstGeom>
        </p:spPr>
      </p:pic>
      <p:sp>
        <p:nvSpPr>
          <p:cNvPr id="16" name="Rectangle : coins arrondis 15">
            <a:extLst>
              <a:ext uri="{FF2B5EF4-FFF2-40B4-BE49-F238E27FC236}">
                <a16:creationId xmlns:a16="http://schemas.microsoft.com/office/drawing/2014/main" id="{221BAF8F-54EB-ACEA-E315-875BEDAD9773}"/>
              </a:ext>
            </a:extLst>
          </p:cNvPr>
          <p:cNvSpPr/>
          <p:nvPr/>
        </p:nvSpPr>
        <p:spPr>
          <a:xfrm>
            <a:off x="7223379" y="3999665"/>
            <a:ext cx="4338447" cy="2519245"/>
          </a:xfrm>
          <a:prstGeom prst="roundRect">
            <a:avLst/>
          </a:prstGeom>
          <a:solidFill>
            <a:srgbClr val="141991"/>
          </a:solidFill>
        </p:spPr>
        <p:style>
          <a:lnRef idx="1">
            <a:schemeClr val="accent1"/>
          </a:lnRef>
          <a:fillRef idx="3">
            <a:schemeClr val="accent1"/>
          </a:fillRef>
          <a:effectRef idx="2">
            <a:schemeClr val="accent1"/>
          </a:effectRef>
          <a:fontRef idx="minor">
            <a:schemeClr val="lt1"/>
          </a:fontRef>
        </p:style>
        <p:txBody>
          <a:bodyPr rtlCol="0" anchor="ctr"/>
          <a:lstStyle/>
          <a:p>
            <a:r>
              <a:rPr lang="fr-FR" sz="1400" b="1" dirty="0"/>
              <a:t>Transcription textuelle </a:t>
            </a:r>
            <a:r>
              <a:rPr lang="fr-FR" sz="1400" dirty="0"/>
              <a:t>: On transcrit la mention de responsabilité telle qu'elle apparaît sur la page de titre.</a:t>
            </a:r>
          </a:p>
          <a:p>
            <a:r>
              <a:rPr lang="fr-FR" sz="1400" b="1" dirty="0"/>
              <a:t>S'il y a plus de 3 auteurs </a:t>
            </a:r>
            <a:r>
              <a:rPr lang="fr-FR" sz="1400" dirty="0"/>
              <a:t>: Selon les usages traditionnels de l'ISBD, on peut abréger la mention en ne citant que le premier auteur suivi de la mention abrégée (ex: [et al.] ou et alii), bien que les règles modernes (RDA-FR) tendent à limiter ou modifier l'emploi des abréviations. La zone 200 retranscrit ce qui est estimé pertinent ou présent sur le document</a:t>
            </a:r>
          </a:p>
        </p:txBody>
      </p:sp>
      <p:sp>
        <p:nvSpPr>
          <p:cNvPr id="18" name="Rectangle : coins arrondis 17">
            <a:extLst>
              <a:ext uri="{FF2B5EF4-FFF2-40B4-BE49-F238E27FC236}">
                <a16:creationId xmlns:a16="http://schemas.microsoft.com/office/drawing/2014/main" id="{3091928F-9DFA-6028-A659-176BA74119E3}"/>
              </a:ext>
            </a:extLst>
          </p:cNvPr>
          <p:cNvSpPr/>
          <p:nvPr/>
        </p:nvSpPr>
        <p:spPr>
          <a:xfrm>
            <a:off x="304800" y="4504491"/>
            <a:ext cx="3278315" cy="1667710"/>
          </a:xfrm>
          <a:prstGeom prst="roundRect">
            <a:avLst/>
          </a:prstGeom>
          <a:solidFill>
            <a:srgbClr val="141991"/>
          </a:solidFill>
        </p:spPr>
        <p:style>
          <a:lnRef idx="1">
            <a:schemeClr val="accent1"/>
          </a:lnRef>
          <a:fillRef idx="3">
            <a:schemeClr val="accent1"/>
          </a:fillRef>
          <a:effectRef idx="2">
            <a:schemeClr val="accent1"/>
          </a:effectRef>
          <a:fontRef idx="minor">
            <a:schemeClr val="lt1"/>
          </a:fontRef>
        </p:style>
        <p:txBody>
          <a:bodyPr rtlCol="0" anchor="ctr"/>
          <a:lstStyle/>
          <a:p>
            <a:r>
              <a:rPr lang="fr-FR" sz="1400" dirty="0"/>
              <a:t>Dans le format UNIMARC moderne, la zone 200 reste obligatoire mais elle est souvent réservée au titre uniforme (pour les œuvres) ou à la forme textuelle retenue, tandis que l'identité de la personne est basculée en 700.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dirty="0"/>
          </a:p>
        </p:txBody>
      </p:sp>
      <p:sp>
        <p:nvSpPr>
          <p:cNvPr id="4" name="TextBox 3"/>
          <p:cNvSpPr txBox="1"/>
          <p:nvPr/>
        </p:nvSpPr>
        <p:spPr>
          <a:xfrm>
            <a:off x="441960" y="443865"/>
            <a:ext cx="7511415" cy="2459648"/>
          </a:xfrm>
          <a:prstGeom prst="rect">
            <a:avLst/>
          </a:prstGeom>
          <a:noFill/>
        </p:spPr>
        <p:txBody>
          <a:bodyPr wrap="square">
            <a:spAutoFit/>
          </a:bodyPr>
          <a:lstStyle/>
          <a:p>
            <a:pPr>
              <a:spcAft>
                <a:spcPts val="1100"/>
              </a:spcAft>
              <a:defRPr sz="1800">
                <a:solidFill>
                  <a:srgbClr val="23232D"/>
                </a:solidFill>
              </a:defRPr>
            </a:pPr>
            <a:r>
              <a:rPr lang="fr-FR" dirty="0">
                <a:solidFill>
                  <a:srgbClr val="002060"/>
                </a:solidFill>
              </a:rPr>
              <a:t>• 214$a : lieu de publication</a:t>
            </a:r>
          </a:p>
          <a:p>
            <a:pPr>
              <a:spcAft>
                <a:spcPts val="1100"/>
              </a:spcAft>
              <a:defRPr sz="1800">
                <a:solidFill>
                  <a:srgbClr val="23232D"/>
                </a:solidFill>
              </a:defRPr>
            </a:pPr>
            <a:r>
              <a:rPr lang="fr-FR" dirty="0">
                <a:solidFill>
                  <a:srgbClr val="002060"/>
                </a:solidFill>
              </a:rPr>
              <a:t>• 214$c : nom de l’éditeur</a:t>
            </a:r>
          </a:p>
          <a:p>
            <a:pPr>
              <a:spcAft>
                <a:spcPts val="1100"/>
              </a:spcAft>
              <a:defRPr sz="1800">
                <a:solidFill>
                  <a:srgbClr val="23232D"/>
                </a:solidFill>
              </a:defRPr>
            </a:pPr>
            <a:r>
              <a:rPr lang="fr-FR" dirty="0">
                <a:solidFill>
                  <a:srgbClr val="002060"/>
                </a:solidFill>
              </a:rPr>
              <a:t>• 214$d : date de publication</a:t>
            </a:r>
          </a:p>
          <a:p>
            <a:pPr>
              <a:spcAft>
                <a:spcPts val="1100"/>
              </a:spcAft>
              <a:defRPr sz="1800">
                <a:solidFill>
                  <a:srgbClr val="23232D"/>
                </a:solidFill>
              </a:defRPr>
            </a:pPr>
            <a:r>
              <a:rPr lang="fr-FR" dirty="0">
                <a:solidFill>
                  <a:srgbClr val="002060"/>
                </a:solidFill>
              </a:rPr>
              <a:t>• 215$a : importance matérielle</a:t>
            </a:r>
          </a:p>
          <a:p>
            <a:pPr>
              <a:spcAft>
                <a:spcPts val="1100"/>
              </a:spcAft>
              <a:defRPr sz="1800">
                <a:solidFill>
                  <a:srgbClr val="23232D"/>
                </a:solidFill>
              </a:defRPr>
            </a:pPr>
            <a:r>
              <a:rPr lang="fr-FR" dirty="0">
                <a:solidFill>
                  <a:srgbClr val="002060"/>
                </a:solidFill>
              </a:rPr>
              <a:t>• Compléter, lorsque nécessaire, les mentions d’illustration et le format.</a:t>
            </a:r>
          </a:p>
          <a:p>
            <a:pPr>
              <a:spcAft>
                <a:spcPts val="1100"/>
              </a:spcAft>
              <a:defRPr sz="1800">
                <a:solidFill>
                  <a:srgbClr val="23232D"/>
                </a:solidFill>
              </a:defRPr>
            </a:pPr>
            <a:r>
              <a:rPr lang="fr-FR" dirty="0">
                <a:solidFill>
                  <a:srgbClr val="002060"/>
                </a:solidFill>
              </a:rPr>
              <a:t>• Contrôler la cohérence entre le document et la notice dérivée.</a:t>
            </a:r>
          </a:p>
        </p:txBody>
      </p:sp>
      <p:sp>
        <p:nvSpPr>
          <p:cNvPr id="7" name="Rectangle 6">
            <a:extLst>
              <a:ext uri="{FF2B5EF4-FFF2-40B4-BE49-F238E27FC236}">
                <a16:creationId xmlns:a16="http://schemas.microsoft.com/office/drawing/2014/main" id="{1C8D3EDE-35DD-F202-079D-264108DC40B5}"/>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9" name="TextBox 2">
            <a:extLst>
              <a:ext uri="{FF2B5EF4-FFF2-40B4-BE49-F238E27FC236}">
                <a16:creationId xmlns:a16="http://schemas.microsoft.com/office/drawing/2014/main" id="{DB33C910-0F6B-EF31-A06E-94C0775055A3}"/>
              </a:ext>
            </a:extLst>
          </p:cNvPr>
          <p:cNvSpPr txBox="1"/>
          <p:nvPr/>
        </p:nvSpPr>
        <p:spPr>
          <a:xfrm>
            <a:off x="8760542" y="914400"/>
            <a:ext cx="3352800" cy="2185214"/>
          </a:xfrm>
          <a:prstGeom prst="rect">
            <a:avLst/>
          </a:prstGeom>
          <a:noFill/>
        </p:spPr>
        <p:txBody>
          <a:bodyPr wrap="square">
            <a:spAutoFit/>
          </a:bodyPr>
          <a:lstStyle/>
          <a:p>
            <a:pPr>
              <a:defRPr sz="1600" b="1">
                <a:solidFill>
                  <a:srgbClr val="FFFFFF"/>
                </a:solidFill>
              </a:defRPr>
            </a:pPr>
            <a:r>
              <a:rPr lang="fr-FR" sz="3200" dirty="0"/>
              <a:t>Cataloguer </a:t>
            </a:r>
          </a:p>
          <a:p>
            <a:pPr>
              <a:defRPr sz="1600" b="1">
                <a:solidFill>
                  <a:srgbClr val="FFFFFF"/>
                </a:solidFill>
              </a:defRPr>
            </a:pPr>
            <a:endParaRPr lang="fr-FR" sz="3200" noProof="0" dirty="0"/>
          </a:p>
          <a:p>
            <a:pPr>
              <a:defRPr sz="1600" b="1">
                <a:solidFill>
                  <a:srgbClr val="FFFFFF"/>
                </a:solidFill>
              </a:defRPr>
            </a:pPr>
            <a:r>
              <a:rPr lang="fr-FR" sz="2400" dirty="0"/>
              <a:t>Publication et description matérielle — 214 / 215</a:t>
            </a:r>
          </a:p>
        </p:txBody>
      </p:sp>
      <p:pic>
        <p:nvPicPr>
          <p:cNvPr id="11" name="Image 10">
            <a:extLst>
              <a:ext uri="{FF2B5EF4-FFF2-40B4-BE49-F238E27FC236}">
                <a16:creationId xmlns:a16="http://schemas.microsoft.com/office/drawing/2014/main" id="{D1FCDEB1-B7ED-130D-B9A9-85CE44ADBE18}"/>
              </a:ext>
            </a:extLst>
          </p:cNvPr>
          <p:cNvPicPr>
            <a:picLocks noChangeAspect="1"/>
          </p:cNvPicPr>
          <p:nvPr/>
        </p:nvPicPr>
        <p:blipFill>
          <a:blip r:embed="rId2"/>
          <a:stretch>
            <a:fillRect/>
          </a:stretch>
        </p:blipFill>
        <p:spPr>
          <a:xfrm>
            <a:off x="466725" y="3817913"/>
            <a:ext cx="10306050" cy="237416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BCACC6C-70E0-C660-D77D-74E69034A80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ADF92EB-48FC-3D64-2AA9-F93A9C8071CC}"/>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dirty="0"/>
          </a:p>
        </p:txBody>
      </p:sp>
      <p:sp>
        <p:nvSpPr>
          <p:cNvPr id="7" name="Rectangle 6">
            <a:extLst>
              <a:ext uri="{FF2B5EF4-FFF2-40B4-BE49-F238E27FC236}">
                <a16:creationId xmlns:a16="http://schemas.microsoft.com/office/drawing/2014/main" id="{12E5C304-5258-8D5F-8F50-5C6B2A9E493A}"/>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9" name="TextBox 2">
            <a:extLst>
              <a:ext uri="{FF2B5EF4-FFF2-40B4-BE49-F238E27FC236}">
                <a16:creationId xmlns:a16="http://schemas.microsoft.com/office/drawing/2014/main" id="{D9340F9A-F8CB-43E2-FF36-DD32C28F711F}"/>
              </a:ext>
            </a:extLst>
          </p:cNvPr>
          <p:cNvSpPr txBox="1"/>
          <p:nvPr/>
        </p:nvSpPr>
        <p:spPr>
          <a:xfrm>
            <a:off x="8760542" y="914400"/>
            <a:ext cx="3352800" cy="2185214"/>
          </a:xfrm>
          <a:prstGeom prst="rect">
            <a:avLst/>
          </a:prstGeom>
          <a:noFill/>
        </p:spPr>
        <p:txBody>
          <a:bodyPr wrap="square">
            <a:spAutoFit/>
          </a:bodyPr>
          <a:lstStyle/>
          <a:p>
            <a:pPr>
              <a:defRPr sz="1600" b="1">
                <a:solidFill>
                  <a:srgbClr val="FFFFFF"/>
                </a:solidFill>
              </a:defRPr>
            </a:pPr>
            <a:r>
              <a:rPr lang="fr-FR" sz="3200" dirty="0"/>
              <a:t>Cataloguer </a:t>
            </a:r>
          </a:p>
          <a:p>
            <a:pPr>
              <a:defRPr sz="1600" b="1">
                <a:solidFill>
                  <a:srgbClr val="FFFFFF"/>
                </a:solidFill>
              </a:defRPr>
            </a:pPr>
            <a:endParaRPr lang="fr-FR" sz="3200" noProof="0" dirty="0"/>
          </a:p>
          <a:p>
            <a:pPr>
              <a:defRPr sz="1600" b="1">
                <a:solidFill>
                  <a:srgbClr val="FFFFFF"/>
                </a:solidFill>
              </a:defRPr>
            </a:pPr>
            <a:r>
              <a:rPr lang="fr-FR" sz="2400" dirty="0"/>
              <a:t>Description matérielle — Liste alphabétique </a:t>
            </a:r>
            <a:br>
              <a:rPr lang="fr-FR" sz="2400" dirty="0"/>
            </a:br>
            <a:r>
              <a:rPr lang="fr-FR" sz="2400" dirty="0"/>
              <a:t>par mot abrégé</a:t>
            </a:r>
          </a:p>
        </p:txBody>
      </p:sp>
      <p:graphicFrame>
        <p:nvGraphicFramePr>
          <p:cNvPr id="3" name="Tableau 2">
            <a:extLst>
              <a:ext uri="{FF2B5EF4-FFF2-40B4-BE49-F238E27FC236}">
                <a16:creationId xmlns:a16="http://schemas.microsoft.com/office/drawing/2014/main" id="{F83A2006-AD06-CB82-7FD6-0EADD65B743C}"/>
              </a:ext>
            </a:extLst>
          </p:cNvPr>
          <p:cNvGraphicFramePr>
            <a:graphicFrameLocks noGrp="1"/>
          </p:cNvGraphicFramePr>
          <p:nvPr>
            <p:extLst>
              <p:ext uri="{D42A27DB-BD31-4B8C-83A1-F6EECF244321}">
                <p14:modId xmlns:p14="http://schemas.microsoft.com/office/powerpoint/2010/main" val="1216754655"/>
              </p:ext>
            </p:extLst>
          </p:nvPr>
        </p:nvGraphicFramePr>
        <p:xfrm>
          <a:off x="630173" y="533399"/>
          <a:ext cx="7799452" cy="6238882"/>
        </p:xfrm>
        <a:graphic>
          <a:graphicData uri="http://schemas.openxmlformats.org/drawingml/2006/table">
            <a:tbl>
              <a:tblPr>
                <a:tableStyleId>{5C22544A-7EE6-4342-B048-85BDC9FD1C3A}</a:tableStyleId>
              </a:tblPr>
              <a:tblGrid>
                <a:gridCol w="3899726">
                  <a:extLst>
                    <a:ext uri="{9D8B030D-6E8A-4147-A177-3AD203B41FA5}">
                      <a16:colId xmlns:a16="http://schemas.microsoft.com/office/drawing/2014/main" val="1449248089"/>
                    </a:ext>
                  </a:extLst>
                </a:gridCol>
                <a:gridCol w="3899726">
                  <a:extLst>
                    <a:ext uri="{9D8B030D-6E8A-4147-A177-3AD203B41FA5}">
                      <a16:colId xmlns:a16="http://schemas.microsoft.com/office/drawing/2014/main" val="3119528990"/>
                    </a:ext>
                  </a:extLst>
                </a:gridCol>
              </a:tblGrid>
              <a:tr h="319943">
                <a:tc>
                  <a:txBody>
                    <a:bodyPr/>
                    <a:lstStyle/>
                    <a:p>
                      <a:pPr>
                        <a:buNone/>
                      </a:pPr>
                      <a:r>
                        <a:rPr lang="fr-FR" sz="1100"/>
                        <a:t>Mot</a:t>
                      </a:r>
                    </a:p>
                  </a:txBody>
                  <a:tcPr marL="58025" marR="58025" marT="29013" marB="29013" anchor="ctr"/>
                </a:tc>
                <a:tc>
                  <a:txBody>
                    <a:bodyPr/>
                    <a:lstStyle/>
                    <a:p>
                      <a:pPr>
                        <a:buNone/>
                      </a:pPr>
                      <a:r>
                        <a:rPr lang="fr-FR" sz="1100"/>
                        <a:t>Abréviation</a:t>
                      </a:r>
                    </a:p>
                  </a:txBody>
                  <a:tcPr marL="58025" marR="58025" marT="29013" marB="29013" anchor="ctr"/>
                </a:tc>
                <a:extLst>
                  <a:ext uri="{0D108BD9-81ED-4DB2-BD59-A6C34878D82A}">
                    <a16:rowId xmlns:a16="http://schemas.microsoft.com/office/drawing/2014/main" val="3406500563"/>
                  </a:ext>
                </a:extLst>
              </a:tr>
              <a:tr h="319943">
                <a:tc>
                  <a:txBody>
                    <a:bodyPr/>
                    <a:lstStyle/>
                    <a:p>
                      <a:pPr>
                        <a:buNone/>
                      </a:pPr>
                      <a:r>
                        <a:rPr lang="fr-FR" sz="1100"/>
                        <a:t>centimètres</a:t>
                      </a:r>
                    </a:p>
                  </a:txBody>
                  <a:tcPr marL="58025" marR="58025" marT="29013" marB="29013" anchor="ctr"/>
                </a:tc>
                <a:tc>
                  <a:txBody>
                    <a:bodyPr/>
                    <a:lstStyle/>
                    <a:p>
                      <a:pPr>
                        <a:buNone/>
                      </a:pPr>
                      <a:r>
                        <a:rPr lang="fr-FR" sz="1100"/>
                        <a:t>cm</a:t>
                      </a:r>
                    </a:p>
                  </a:txBody>
                  <a:tcPr marL="58025" marR="58025" marT="29013" marB="29013" anchor="ctr"/>
                </a:tc>
                <a:extLst>
                  <a:ext uri="{0D108BD9-81ED-4DB2-BD59-A6C34878D82A}">
                    <a16:rowId xmlns:a16="http://schemas.microsoft.com/office/drawing/2014/main" val="612281636"/>
                  </a:ext>
                </a:extLst>
              </a:tr>
              <a:tr h="319943">
                <a:tc>
                  <a:txBody>
                    <a:bodyPr/>
                    <a:lstStyle/>
                    <a:p>
                      <a:pPr>
                        <a:buNone/>
                      </a:pPr>
                      <a:r>
                        <a:rPr lang="fr-FR" sz="1100"/>
                        <a:t>id est (= c’est-à-dire)</a:t>
                      </a:r>
                    </a:p>
                  </a:txBody>
                  <a:tcPr marL="58025" marR="58025" marT="29013" marB="29013" anchor="ctr"/>
                </a:tc>
                <a:tc>
                  <a:txBody>
                    <a:bodyPr/>
                    <a:lstStyle/>
                    <a:p>
                      <a:pPr>
                        <a:buNone/>
                      </a:pPr>
                      <a:r>
                        <a:rPr lang="fr-FR" sz="1100"/>
                        <a:t>i. e.</a:t>
                      </a:r>
                    </a:p>
                  </a:txBody>
                  <a:tcPr marL="58025" marR="58025" marT="29013" marB="29013" anchor="ctr"/>
                </a:tc>
                <a:extLst>
                  <a:ext uri="{0D108BD9-81ED-4DB2-BD59-A6C34878D82A}">
                    <a16:rowId xmlns:a16="http://schemas.microsoft.com/office/drawing/2014/main" val="3726799853"/>
                  </a:ext>
                </a:extLst>
              </a:tr>
              <a:tr h="319943">
                <a:tc>
                  <a:txBody>
                    <a:bodyPr/>
                    <a:lstStyle/>
                    <a:p>
                      <a:pPr>
                        <a:buNone/>
                      </a:pPr>
                      <a:r>
                        <a:rPr lang="fr-FR" sz="1100"/>
                        <a:t>colonne(s)</a:t>
                      </a:r>
                    </a:p>
                  </a:txBody>
                  <a:tcPr marL="58025" marR="58025" marT="29013" marB="29013" anchor="ctr"/>
                </a:tc>
                <a:tc>
                  <a:txBody>
                    <a:bodyPr/>
                    <a:lstStyle/>
                    <a:p>
                      <a:pPr>
                        <a:buNone/>
                      </a:pPr>
                      <a:r>
                        <a:rPr lang="fr-FR" sz="1100"/>
                        <a:t>col.</a:t>
                      </a:r>
                    </a:p>
                  </a:txBody>
                  <a:tcPr marL="58025" marR="58025" marT="29013" marB="29013" anchor="ctr"/>
                </a:tc>
                <a:extLst>
                  <a:ext uri="{0D108BD9-81ED-4DB2-BD59-A6C34878D82A}">
                    <a16:rowId xmlns:a16="http://schemas.microsoft.com/office/drawing/2014/main" val="3305686961"/>
                  </a:ext>
                </a:extLst>
              </a:tr>
              <a:tr h="319943">
                <a:tc>
                  <a:txBody>
                    <a:bodyPr/>
                    <a:lstStyle/>
                    <a:p>
                      <a:pPr>
                        <a:buNone/>
                      </a:pPr>
                      <a:r>
                        <a:rPr lang="fr-FR" sz="1100"/>
                        <a:t>dépliant(s)*</a:t>
                      </a:r>
                    </a:p>
                  </a:txBody>
                  <a:tcPr marL="58025" marR="58025" marT="29013" marB="29013" anchor="ctr"/>
                </a:tc>
                <a:tc>
                  <a:txBody>
                    <a:bodyPr/>
                    <a:lstStyle/>
                    <a:p>
                      <a:pPr>
                        <a:buNone/>
                      </a:pPr>
                      <a:r>
                        <a:rPr lang="fr-FR" sz="1100"/>
                        <a:t>dépl.</a:t>
                      </a:r>
                    </a:p>
                  </a:txBody>
                  <a:tcPr marL="58025" marR="58025" marT="29013" marB="29013" anchor="ctr"/>
                </a:tc>
                <a:extLst>
                  <a:ext uri="{0D108BD9-81ED-4DB2-BD59-A6C34878D82A}">
                    <a16:rowId xmlns:a16="http://schemas.microsoft.com/office/drawing/2014/main" val="1979593982"/>
                  </a:ext>
                </a:extLst>
              </a:tr>
              <a:tr h="319943">
                <a:tc>
                  <a:txBody>
                    <a:bodyPr/>
                    <a:lstStyle/>
                    <a:p>
                      <a:pPr>
                        <a:buNone/>
                      </a:pPr>
                      <a:r>
                        <a:rPr lang="fr-FR" sz="1100"/>
                        <a:t>exemplaire*</a:t>
                      </a:r>
                    </a:p>
                  </a:txBody>
                  <a:tcPr marL="58025" marR="58025" marT="29013" marB="29013" anchor="ctr"/>
                </a:tc>
                <a:tc>
                  <a:txBody>
                    <a:bodyPr/>
                    <a:lstStyle/>
                    <a:p>
                      <a:pPr>
                        <a:buNone/>
                      </a:pPr>
                      <a:r>
                        <a:rPr lang="fr-FR" sz="1100"/>
                        <a:t>ex.</a:t>
                      </a:r>
                    </a:p>
                  </a:txBody>
                  <a:tcPr marL="58025" marR="58025" marT="29013" marB="29013" anchor="ctr"/>
                </a:tc>
                <a:extLst>
                  <a:ext uri="{0D108BD9-81ED-4DB2-BD59-A6C34878D82A}">
                    <a16:rowId xmlns:a16="http://schemas.microsoft.com/office/drawing/2014/main" val="3935063186"/>
                  </a:ext>
                </a:extLst>
              </a:tr>
              <a:tr h="319943">
                <a:tc>
                  <a:txBody>
                    <a:bodyPr/>
                    <a:lstStyle/>
                    <a:p>
                      <a:pPr>
                        <a:buNone/>
                      </a:pPr>
                      <a:r>
                        <a:rPr lang="fr-FR" sz="1100"/>
                        <a:t>fascicule</a:t>
                      </a:r>
                    </a:p>
                  </a:txBody>
                  <a:tcPr marL="58025" marR="58025" marT="29013" marB="29013" anchor="ctr"/>
                </a:tc>
                <a:tc>
                  <a:txBody>
                    <a:bodyPr/>
                    <a:lstStyle/>
                    <a:p>
                      <a:pPr>
                        <a:buNone/>
                      </a:pPr>
                      <a:r>
                        <a:rPr lang="fr-FR" sz="1100"/>
                        <a:t>fasc.</a:t>
                      </a:r>
                    </a:p>
                  </a:txBody>
                  <a:tcPr marL="58025" marR="58025" marT="29013" marB="29013" anchor="ctr"/>
                </a:tc>
                <a:extLst>
                  <a:ext uri="{0D108BD9-81ED-4DB2-BD59-A6C34878D82A}">
                    <a16:rowId xmlns:a16="http://schemas.microsoft.com/office/drawing/2014/main" val="2504672491"/>
                  </a:ext>
                </a:extLst>
              </a:tr>
              <a:tr h="319943">
                <a:tc>
                  <a:txBody>
                    <a:bodyPr/>
                    <a:lstStyle/>
                    <a:p>
                      <a:pPr>
                        <a:buNone/>
                      </a:pPr>
                      <a:r>
                        <a:rPr lang="fr-FR" sz="1100"/>
                        <a:t>feuillet(s)*</a:t>
                      </a:r>
                    </a:p>
                  </a:txBody>
                  <a:tcPr marL="58025" marR="58025" marT="29013" marB="29013" anchor="ctr"/>
                </a:tc>
                <a:tc>
                  <a:txBody>
                    <a:bodyPr/>
                    <a:lstStyle/>
                    <a:p>
                      <a:pPr>
                        <a:buNone/>
                      </a:pPr>
                      <a:r>
                        <a:rPr lang="fr-FR" sz="1100"/>
                        <a:t>f.</a:t>
                      </a:r>
                    </a:p>
                  </a:txBody>
                  <a:tcPr marL="58025" marR="58025" marT="29013" marB="29013" anchor="ctr"/>
                </a:tc>
                <a:extLst>
                  <a:ext uri="{0D108BD9-81ED-4DB2-BD59-A6C34878D82A}">
                    <a16:rowId xmlns:a16="http://schemas.microsoft.com/office/drawing/2014/main" val="1285574843"/>
                  </a:ext>
                </a:extLst>
              </a:tr>
              <a:tr h="319943">
                <a:tc>
                  <a:txBody>
                    <a:bodyPr/>
                    <a:lstStyle/>
                    <a:p>
                      <a:pPr>
                        <a:buNone/>
                      </a:pPr>
                      <a:r>
                        <a:rPr lang="fr-FR" sz="1100"/>
                        <a:t>illustration(s)</a:t>
                      </a:r>
                    </a:p>
                  </a:txBody>
                  <a:tcPr marL="58025" marR="58025" marT="29013" marB="29013" anchor="ctr"/>
                </a:tc>
                <a:tc>
                  <a:txBody>
                    <a:bodyPr/>
                    <a:lstStyle/>
                    <a:p>
                      <a:pPr>
                        <a:buNone/>
                      </a:pPr>
                      <a:r>
                        <a:rPr lang="fr-FR" sz="1100"/>
                        <a:t>ill.</a:t>
                      </a:r>
                    </a:p>
                  </a:txBody>
                  <a:tcPr marL="58025" marR="58025" marT="29013" marB="29013" anchor="ctr"/>
                </a:tc>
                <a:extLst>
                  <a:ext uri="{0D108BD9-81ED-4DB2-BD59-A6C34878D82A}">
                    <a16:rowId xmlns:a16="http://schemas.microsoft.com/office/drawing/2014/main" val="3781755345"/>
                  </a:ext>
                </a:extLst>
              </a:tr>
              <a:tr h="319943">
                <a:tc>
                  <a:txBody>
                    <a:bodyPr/>
                    <a:lstStyle/>
                    <a:p>
                      <a:pPr>
                        <a:buNone/>
                      </a:pPr>
                      <a:r>
                        <a:rPr lang="fr-FR" sz="1100"/>
                        <a:t>manuscrit(s)</a:t>
                      </a:r>
                    </a:p>
                  </a:txBody>
                  <a:tcPr marL="58025" marR="58025" marT="29013" marB="29013" anchor="ctr"/>
                </a:tc>
                <a:tc>
                  <a:txBody>
                    <a:bodyPr/>
                    <a:lstStyle/>
                    <a:p>
                      <a:pPr>
                        <a:buNone/>
                      </a:pPr>
                      <a:r>
                        <a:rPr lang="fr-FR" sz="1100"/>
                        <a:t>ms</a:t>
                      </a:r>
                    </a:p>
                  </a:txBody>
                  <a:tcPr marL="58025" marR="58025" marT="29013" marB="29013" anchor="ctr"/>
                </a:tc>
                <a:extLst>
                  <a:ext uri="{0D108BD9-81ED-4DB2-BD59-A6C34878D82A}">
                    <a16:rowId xmlns:a16="http://schemas.microsoft.com/office/drawing/2014/main" val="3884130311"/>
                  </a:ext>
                </a:extLst>
              </a:tr>
              <a:tr h="319943">
                <a:tc>
                  <a:txBody>
                    <a:bodyPr/>
                    <a:lstStyle/>
                    <a:p>
                      <a:pPr>
                        <a:buNone/>
                      </a:pPr>
                      <a:r>
                        <a:rPr lang="fr-FR" sz="1100"/>
                        <a:t>millimètres</a:t>
                      </a:r>
                    </a:p>
                  </a:txBody>
                  <a:tcPr marL="58025" marR="58025" marT="29013" marB="29013" anchor="ctr"/>
                </a:tc>
                <a:tc>
                  <a:txBody>
                    <a:bodyPr/>
                    <a:lstStyle/>
                    <a:p>
                      <a:pPr>
                        <a:buNone/>
                      </a:pPr>
                      <a:r>
                        <a:rPr lang="fr-FR" sz="1100"/>
                        <a:t>mm</a:t>
                      </a:r>
                    </a:p>
                  </a:txBody>
                  <a:tcPr marL="58025" marR="58025" marT="29013" marB="29013" anchor="ctr"/>
                </a:tc>
                <a:extLst>
                  <a:ext uri="{0D108BD9-81ED-4DB2-BD59-A6C34878D82A}">
                    <a16:rowId xmlns:a16="http://schemas.microsoft.com/office/drawing/2014/main" val="2224582948"/>
                  </a:ext>
                </a:extLst>
              </a:tr>
              <a:tr h="319943">
                <a:tc>
                  <a:txBody>
                    <a:bodyPr/>
                    <a:lstStyle/>
                    <a:p>
                      <a:pPr>
                        <a:buNone/>
                      </a:pPr>
                      <a:r>
                        <a:rPr lang="fr-FR" sz="1100"/>
                        <a:t>numéro</a:t>
                      </a:r>
                    </a:p>
                  </a:txBody>
                  <a:tcPr marL="58025" marR="58025" marT="29013" marB="29013" anchor="ctr"/>
                </a:tc>
                <a:tc>
                  <a:txBody>
                    <a:bodyPr/>
                    <a:lstStyle/>
                    <a:p>
                      <a:pPr>
                        <a:buNone/>
                      </a:pPr>
                      <a:r>
                        <a:rPr lang="fr-FR" sz="1100"/>
                        <a:t>n°</a:t>
                      </a:r>
                    </a:p>
                  </a:txBody>
                  <a:tcPr marL="58025" marR="58025" marT="29013" marB="29013" anchor="ctr"/>
                </a:tc>
                <a:extLst>
                  <a:ext uri="{0D108BD9-81ED-4DB2-BD59-A6C34878D82A}">
                    <a16:rowId xmlns:a16="http://schemas.microsoft.com/office/drawing/2014/main" val="3118581455"/>
                  </a:ext>
                </a:extLst>
              </a:tr>
              <a:tr h="319943">
                <a:tc>
                  <a:txBody>
                    <a:bodyPr/>
                    <a:lstStyle/>
                    <a:p>
                      <a:pPr>
                        <a:buNone/>
                      </a:pPr>
                      <a:r>
                        <a:rPr lang="fr-FR" sz="1100"/>
                        <a:t>page(s)</a:t>
                      </a:r>
                    </a:p>
                  </a:txBody>
                  <a:tcPr marL="58025" marR="58025" marT="29013" marB="29013" anchor="ctr"/>
                </a:tc>
                <a:tc>
                  <a:txBody>
                    <a:bodyPr/>
                    <a:lstStyle/>
                    <a:p>
                      <a:pPr>
                        <a:buNone/>
                      </a:pPr>
                      <a:r>
                        <a:rPr lang="fr-FR" sz="1100"/>
                        <a:t>p.</a:t>
                      </a:r>
                    </a:p>
                  </a:txBody>
                  <a:tcPr marL="58025" marR="58025" marT="29013" marB="29013" anchor="ctr"/>
                </a:tc>
                <a:extLst>
                  <a:ext uri="{0D108BD9-81ED-4DB2-BD59-A6C34878D82A}">
                    <a16:rowId xmlns:a16="http://schemas.microsoft.com/office/drawing/2014/main" val="1778748807"/>
                  </a:ext>
                </a:extLst>
              </a:tr>
              <a:tr h="319943">
                <a:tc>
                  <a:txBody>
                    <a:bodyPr/>
                    <a:lstStyle/>
                    <a:p>
                      <a:pPr>
                        <a:buNone/>
                      </a:pPr>
                      <a:r>
                        <a:rPr lang="fr-FR" sz="1100"/>
                        <a:t>planche(s)*</a:t>
                      </a:r>
                    </a:p>
                  </a:txBody>
                  <a:tcPr marL="58025" marR="58025" marT="29013" marB="29013" anchor="ctr"/>
                </a:tc>
                <a:tc>
                  <a:txBody>
                    <a:bodyPr/>
                    <a:lstStyle/>
                    <a:p>
                      <a:pPr>
                        <a:buNone/>
                      </a:pPr>
                      <a:r>
                        <a:rPr lang="fr-FR" sz="1100"/>
                        <a:t>pl.</a:t>
                      </a:r>
                    </a:p>
                  </a:txBody>
                  <a:tcPr marL="58025" marR="58025" marT="29013" marB="29013" anchor="ctr"/>
                </a:tc>
                <a:extLst>
                  <a:ext uri="{0D108BD9-81ED-4DB2-BD59-A6C34878D82A}">
                    <a16:rowId xmlns:a16="http://schemas.microsoft.com/office/drawing/2014/main" val="3849183848"/>
                  </a:ext>
                </a:extLst>
              </a:tr>
              <a:tr h="559897">
                <a:tc>
                  <a:txBody>
                    <a:bodyPr/>
                    <a:lstStyle/>
                    <a:p>
                      <a:pPr>
                        <a:buNone/>
                      </a:pPr>
                      <a:r>
                        <a:rPr lang="fr-FR" sz="1100"/>
                        <a:t>recto</a:t>
                      </a:r>
                    </a:p>
                  </a:txBody>
                  <a:tcPr marL="58025" marR="58025" marT="29013" marB="29013" anchor="ctr"/>
                </a:tc>
                <a:tc>
                  <a:txBody>
                    <a:bodyPr/>
                    <a:lstStyle/>
                    <a:p>
                      <a:pPr>
                        <a:buNone/>
                      </a:pPr>
                      <a:r>
                        <a:rPr lang="fr-FR" sz="1100"/>
                        <a:t>r (à utiliser seulement en complément d’une signature : f. A5r)</a:t>
                      </a:r>
                    </a:p>
                  </a:txBody>
                  <a:tcPr marL="58025" marR="58025" marT="29013" marB="29013" anchor="ctr"/>
                </a:tc>
                <a:extLst>
                  <a:ext uri="{0D108BD9-81ED-4DB2-BD59-A6C34878D82A}">
                    <a16:rowId xmlns:a16="http://schemas.microsoft.com/office/drawing/2014/main" val="4105645245"/>
                  </a:ext>
                </a:extLst>
              </a:tr>
              <a:tr h="319943">
                <a:tc>
                  <a:txBody>
                    <a:bodyPr/>
                    <a:lstStyle/>
                    <a:p>
                      <a:pPr>
                        <a:buNone/>
                      </a:pPr>
                      <a:r>
                        <a:rPr lang="fr-FR" sz="1100"/>
                        <a:t>signature*</a:t>
                      </a:r>
                    </a:p>
                  </a:txBody>
                  <a:tcPr marL="58025" marR="58025" marT="29013" marB="29013" anchor="ctr"/>
                </a:tc>
                <a:tc>
                  <a:txBody>
                    <a:bodyPr/>
                    <a:lstStyle/>
                    <a:p>
                      <a:pPr>
                        <a:buNone/>
                      </a:pPr>
                      <a:r>
                        <a:rPr lang="fr-FR" sz="1100"/>
                        <a:t>sig.</a:t>
                      </a:r>
                    </a:p>
                  </a:txBody>
                  <a:tcPr marL="58025" marR="58025" marT="29013" marB="29013" anchor="ctr"/>
                </a:tc>
                <a:extLst>
                  <a:ext uri="{0D108BD9-81ED-4DB2-BD59-A6C34878D82A}">
                    <a16:rowId xmlns:a16="http://schemas.microsoft.com/office/drawing/2014/main" val="2938835276"/>
                  </a:ext>
                </a:extLst>
              </a:tr>
              <a:tr h="559897">
                <a:tc>
                  <a:txBody>
                    <a:bodyPr/>
                    <a:lstStyle/>
                    <a:p>
                      <a:pPr>
                        <a:buNone/>
                      </a:pPr>
                      <a:r>
                        <a:rPr lang="fr-FR" sz="1100"/>
                        <a:t>verso</a:t>
                      </a:r>
                    </a:p>
                  </a:txBody>
                  <a:tcPr marL="58025" marR="58025" marT="29013" marB="29013" anchor="ctr"/>
                </a:tc>
                <a:tc>
                  <a:txBody>
                    <a:bodyPr/>
                    <a:lstStyle/>
                    <a:p>
                      <a:pPr>
                        <a:buNone/>
                      </a:pPr>
                      <a:r>
                        <a:rPr lang="fr-FR" sz="1100"/>
                        <a:t>v (à utiliser seulement en complément d’une signature : f. A5v)</a:t>
                      </a:r>
                    </a:p>
                  </a:txBody>
                  <a:tcPr marL="58025" marR="58025" marT="29013" marB="29013" anchor="ctr"/>
                </a:tc>
                <a:extLst>
                  <a:ext uri="{0D108BD9-81ED-4DB2-BD59-A6C34878D82A}">
                    <a16:rowId xmlns:a16="http://schemas.microsoft.com/office/drawing/2014/main" val="3011941085"/>
                  </a:ext>
                </a:extLst>
              </a:tr>
              <a:tr h="319943">
                <a:tc>
                  <a:txBody>
                    <a:bodyPr/>
                    <a:lstStyle/>
                    <a:p>
                      <a:pPr>
                        <a:buNone/>
                      </a:pPr>
                      <a:r>
                        <a:rPr lang="fr-FR" sz="1100"/>
                        <a:t>volume(s)</a:t>
                      </a:r>
                    </a:p>
                  </a:txBody>
                  <a:tcPr marL="58025" marR="58025" marT="29013" marB="29013" anchor="ctr"/>
                </a:tc>
                <a:tc>
                  <a:txBody>
                    <a:bodyPr/>
                    <a:lstStyle/>
                    <a:p>
                      <a:pPr>
                        <a:buNone/>
                      </a:pPr>
                      <a:r>
                        <a:rPr lang="fr-FR" sz="1100" dirty="0"/>
                        <a:t>vol.</a:t>
                      </a:r>
                    </a:p>
                  </a:txBody>
                  <a:tcPr marL="58025" marR="58025" marT="29013" marB="29013" anchor="ctr"/>
                </a:tc>
                <a:extLst>
                  <a:ext uri="{0D108BD9-81ED-4DB2-BD59-A6C34878D82A}">
                    <a16:rowId xmlns:a16="http://schemas.microsoft.com/office/drawing/2014/main" val="3451419411"/>
                  </a:ext>
                </a:extLst>
              </a:tr>
            </a:tbl>
          </a:graphicData>
        </a:graphic>
      </p:graphicFrame>
    </p:spTree>
    <p:extLst>
      <p:ext uri="{BB962C8B-B14F-4D97-AF65-F5344CB8AC3E}">
        <p14:creationId xmlns:p14="http://schemas.microsoft.com/office/powerpoint/2010/main" val="16407870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4045" y="411699"/>
            <a:ext cx="7937582" cy="2318583"/>
          </a:xfrm>
          <a:prstGeom prst="rect">
            <a:avLst/>
          </a:prstGeom>
          <a:noFill/>
        </p:spPr>
        <p:txBody>
          <a:bodyPr wrap="square">
            <a:spAutoFit/>
          </a:bodyPr>
          <a:lstStyle/>
          <a:p>
            <a:pPr>
              <a:spcAft>
                <a:spcPts val="1100"/>
              </a:spcAft>
              <a:defRPr sz="1800">
                <a:solidFill>
                  <a:srgbClr val="23232D"/>
                </a:solidFill>
              </a:defRPr>
            </a:pPr>
            <a:r>
              <a:rPr lang="fr-FR" noProof="0" dirty="0">
                <a:solidFill>
                  <a:srgbClr val="002060"/>
                </a:solidFill>
              </a:rPr>
              <a:t>• 300 : note générale lorsque l’information est utile à l’identification ou à la compréhension.</a:t>
            </a:r>
          </a:p>
          <a:p>
            <a:pPr>
              <a:spcAft>
                <a:spcPts val="1100"/>
              </a:spcAft>
              <a:defRPr sz="1800">
                <a:solidFill>
                  <a:srgbClr val="23232D"/>
                </a:solidFill>
              </a:defRPr>
            </a:pPr>
            <a:r>
              <a:rPr lang="fr-FR" noProof="0" dirty="0">
                <a:solidFill>
                  <a:srgbClr val="002060"/>
                </a:solidFill>
              </a:rPr>
              <a:t>• 320 : présence de bibliographie ou d’index.</a:t>
            </a:r>
          </a:p>
          <a:p>
            <a:pPr>
              <a:spcAft>
                <a:spcPts val="1100"/>
              </a:spcAft>
              <a:defRPr sz="1800">
                <a:solidFill>
                  <a:srgbClr val="23232D"/>
                </a:solidFill>
              </a:defRPr>
            </a:pPr>
            <a:r>
              <a:rPr lang="fr-FR" noProof="0" dirty="0">
                <a:solidFill>
                  <a:srgbClr val="002060"/>
                </a:solidFill>
              </a:rPr>
              <a:t>• 330 : résumé lorsque la politique documentaire le prévoit.</a:t>
            </a:r>
          </a:p>
          <a:p>
            <a:pPr>
              <a:spcAft>
                <a:spcPts val="1100"/>
              </a:spcAft>
              <a:defRPr sz="1800">
                <a:solidFill>
                  <a:srgbClr val="23232D"/>
                </a:solidFill>
              </a:defRPr>
            </a:pPr>
            <a:r>
              <a:rPr lang="fr-FR" noProof="0" dirty="0">
                <a:solidFill>
                  <a:srgbClr val="002060"/>
                </a:solidFill>
              </a:rPr>
              <a:t>• 225 : mention de collection.</a:t>
            </a:r>
          </a:p>
          <a:p>
            <a:pPr>
              <a:spcAft>
                <a:spcPts val="1100"/>
              </a:spcAft>
              <a:defRPr sz="1800">
                <a:solidFill>
                  <a:srgbClr val="23232D"/>
                </a:solidFill>
              </a:defRPr>
            </a:pPr>
            <a:r>
              <a:rPr lang="fr-FR" noProof="0" dirty="0">
                <a:solidFill>
                  <a:srgbClr val="002060"/>
                </a:solidFill>
              </a:rPr>
              <a:t>• 4XX : liens bibliographiques associés à la collection ou à d’autres notices.</a:t>
            </a:r>
          </a:p>
        </p:txBody>
      </p:sp>
      <p:sp>
        <p:nvSpPr>
          <p:cNvPr id="7" name="Rectangle 6">
            <a:extLst>
              <a:ext uri="{FF2B5EF4-FFF2-40B4-BE49-F238E27FC236}">
                <a16:creationId xmlns:a16="http://schemas.microsoft.com/office/drawing/2014/main" id="{496F7162-FE33-A4F9-3DDF-DB1C5DFEC2BF}"/>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9" name="TextBox 2">
            <a:extLst>
              <a:ext uri="{FF2B5EF4-FFF2-40B4-BE49-F238E27FC236}">
                <a16:creationId xmlns:a16="http://schemas.microsoft.com/office/drawing/2014/main" id="{F1BC8CC9-0765-BDA6-40CF-66ED885A645C}"/>
              </a:ext>
            </a:extLst>
          </p:cNvPr>
          <p:cNvSpPr txBox="1"/>
          <p:nvPr/>
        </p:nvSpPr>
        <p:spPr>
          <a:xfrm>
            <a:off x="8760542" y="914400"/>
            <a:ext cx="3352800" cy="2185214"/>
          </a:xfrm>
          <a:prstGeom prst="rect">
            <a:avLst/>
          </a:prstGeom>
          <a:noFill/>
        </p:spPr>
        <p:txBody>
          <a:bodyPr wrap="square">
            <a:spAutoFit/>
          </a:bodyPr>
          <a:lstStyle/>
          <a:p>
            <a:pPr>
              <a:defRPr sz="1600" b="1">
                <a:solidFill>
                  <a:srgbClr val="FFFFFF"/>
                </a:solidFill>
              </a:defRPr>
            </a:pPr>
            <a:r>
              <a:rPr lang="fr-FR" sz="3200" dirty="0"/>
              <a:t>Cataloguer </a:t>
            </a:r>
          </a:p>
          <a:p>
            <a:pPr>
              <a:defRPr sz="1600" b="1">
                <a:solidFill>
                  <a:srgbClr val="FFFFFF"/>
                </a:solidFill>
              </a:defRPr>
            </a:pPr>
            <a:endParaRPr lang="fr-FR" sz="3200" noProof="0" dirty="0"/>
          </a:p>
          <a:p>
            <a:pPr>
              <a:defRPr sz="1600" b="1">
                <a:solidFill>
                  <a:srgbClr val="FFFFFF"/>
                </a:solidFill>
              </a:defRPr>
            </a:pPr>
            <a:r>
              <a:rPr lang="fr-FR" sz="2400" dirty="0"/>
              <a:t>Notes, résumé et collection — 300 / 320 / 330 </a:t>
            </a:r>
          </a:p>
        </p:txBody>
      </p:sp>
      <p:pic>
        <p:nvPicPr>
          <p:cNvPr id="11" name="Image 10">
            <a:extLst>
              <a:ext uri="{FF2B5EF4-FFF2-40B4-BE49-F238E27FC236}">
                <a16:creationId xmlns:a16="http://schemas.microsoft.com/office/drawing/2014/main" id="{AB6230BD-4287-ECB1-22F5-A311A2089ADC}"/>
              </a:ext>
            </a:extLst>
          </p:cNvPr>
          <p:cNvPicPr>
            <a:picLocks noChangeAspect="1"/>
          </p:cNvPicPr>
          <p:nvPr/>
        </p:nvPicPr>
        <p:blipFill>
          <a:blip r:embed="rId2"/>
          <a:stretch>
            <a:fillRect/>
          </a:stretch>
        </p:blipFill>
        <p:spPr>
          <a:xfrm>
            <a:off x="1533525" y="3099614"/>
            <a:ext cx="8096250" cy="371300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AEE1D4F-4AD2-68A5-C8A5-2C35A880DA1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70FD6BC-CADC-68DB-427B-BAA20BACF589}"/>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 name="TextBox 3">
            <a:extLst>
              <a:ext uri="{FF2B5EF4-FFF2-40B4-BE49-F238E27FC236}">
                <a16:creationId xmlns:a16="http://schemas.microsoft.com/office/drawing/2014/main" id="{B5295B47-712D-F2D1-A029-F62B8BD0EE0F}"/>
              </a:ext>
            </a:extLst>
          </p:cNvPr>
          <p:cNvSpPr txBox="1"/>
          <p:nvPr/>
        </p:nvSpPr>
        <p:spPr>
          <a:xfrm>
            <a:off x="394335" y="501015"/>
            <a:ext cx="7501890" cy="2590453"/>
          </a:xfrm>
          <a:prstGeom prst="rect">
            <a:avLst/>
          </a:prstGeom>
          <a:noFill/>
        </p:spPr>
        <p:txBody>
          <a:bodyPr wrap="square">
            <a:spAutoFit/>
          </a:bodyPr>
          <a:lstStyle/>
          <a:p>
            <a:pPr>
              <a:spcAft>
                <a:spcPts val="1100"/>
              </a:spcAft>
              <a:defRPr sz="1800">
                <a:solidFill>
                  <a:srgbClr val="23232D"/>
                </a:solidFill>
              </a:defRPr>
            </a:pPr>
            <a:r>
              <a:rPr lang="fr-FR" dirty="0">
                <a:solidFill>
                  <a:srgbClr val="002060"/>
                </a:solidFill>
              </a:rPr>
              <a:t>Ces champs permettent d’identifier précisément le document grâce à des numéros normalisés, notamment l’</a:t>
            </a:r>
            <a:r>
              <a:rPr lang="fr-FR" b="1" dirty="0">
                <a:solidFill>
                  <a:srgbClr val="002060"/>
                </a:solidFill>
              </a:rPr>
              <a:t>ISBN</a:t>
            </a:r>
            <a:r>
              <a:rPr lang="fr-FR" dirty="0">
                <a:solidFill>
                  <a:srgbClr val="002060"/>
                </a:solidFill>
              </a:rPr>
              <a:t> (010), l’ISSN (011) et l’</a:t>
            </a:r>
            <a:r>
              <a:rPr lang="fr-FR" b="1" dirty="0">
                <a:solidFill>
                  <a:srgbClr val="002060"/>
                </a:solidFill>
              </a:rPr>
              <a:t>EAN</a:t>
            </a:r>
            <a:r>
              <a:rPr lang="fr-FR" dirty="0">
                <a:solidFill>
                  <a:srgbClr val="002060"/>
                </a:solidFill>
              </a:rPr>
              <a:t> (073). Ils facilitent la recherche, la récupération et le dédoublonnage des notices.</a:t>
            </a:r>
          </a:p>
          <a:p>
            <a:pPr>
              <a:spcAft>
                <a:spcPts val="1100"/>
              </a:spcAft>
              <a:defRPr sz="1800">
                <a:solidFill>
                  <a:srgbClr val="23232D"/>
                </a:solidFill>
              </a:defRPr>
            </a:pPr>
            <a:endParaRPr lang="fr-FR" noProof="0" dirty="0">
              <a:solidFill>
                <a:srgbClr val="002060"/>
              </a:solidFill>
            </a:endParaRPr>
          </a:p>
          <a:p>
            <a:pPr>
              <a:spcAft>
                <a:spcPts val="1100"/>
              </a:spcAft>
              <a:defRPr sz="1800">
                <a:solidFill>
                  <a:srgbClr val="23232D"/>
                </a:solidFill>
              </a:defRPr>
            </a:pPr>
            <a:r>
              <a:rPr lang="fr-FR" dirty="0">
                <a:solidFill>
                  <a:srgbClr val="002060"/>
                </a:solidFill>
              </a:rPr>
              <a:t>À noter — ARK BnF : lorsqu’une notice provient de la Bibliothèque nationale de France, elle peut comporter un identifiant ARK, identifiant pérenne attribué par la BnF à la notice. Dans notre catalogue, il est conservé en 003 et permet notamment de maintenir un lien fiable avec la notice source de la BnF.</a:t>
            </a:r>
            <a:endParaRPr lang="fr-FR" noProof="0" dirty="0">
              <a:solidFill>
                <a:srgbClr val="002060"/>
              </a:solidFill>
            </a:endParaRPr>
          </a:p>
        </p:txBody>
      </p:sp>
      <p:sp>
        <p:nvSpPr>
          <p:cNvPr id="7" name="Rectangle 6">
            <a:extLst>
              <a:ext uri="{FF2B5EF4-FFF2-40B4-BE49-F238E27FC236}">
                <a16:creationId xmlns:a16="http://schemas.microsoft.com/office/drawing/2014/main" id="{F59B51D8-9694-2685-15DD-40103EDF5878}"/>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9" name="TextBox 2">
            <a:extLst>
              <a:ext uri="{FF2B5EF4-FFF2-40B4-BE49-F238E27FC236}">
                <a16:creationId xmlns:a16="http://schemas.microsoft.com/office/drawing/2014/main" id="{E700792C-EF15-F41C-9A86-963D94F955C3}"/>
              </a:ext>
            </a:extLst>
          </p:cNvPr>
          <p:cNvSpPr txBox="1"/>
          <p:nvPr/>
        </p:nvSpPr>
        <p:spPr>
          <a:xfrm>
            <a:off x="8760542" y="914400"/>
            <a:ext cx="3352800" cy="1446550"/>
          </a:xfrm>
          <a:prstGeom prst="rect">
            <a:avLst/>
          </a:prstGeom>
          <a:noFill/>
        </p:spPr>
        <p:txBody>
          <a:bodyPr wrap="square">
            <a:spAutoFit/>
          </a:bodyPr>
          <a:lstStyle/>
          <a:p>
            <a:pPr>
              <a:defRPr sz="1600" b="1">
                <a:solidFill>
                  <a:srgbClr val="FFFFFF"/>
                </a:solidFill>
              </a:defRPr>
            </a:pPr>
            <a:r>
              <a:rPr lang="fr-FR" sz="3200" noProof="0" dirty="0"/>
              <a:t>Cataloguer </a:t>
            </a:r>
          </a:p>
          <a:p>
            <a:pPr>
              <a:defRPr sz="1600" b="1">
                <a:solidFill>
                  <a:srgbClr val="FFFFFF"/>
                </a:solidFill>
              </a:defRPr>
            </a:pPr>
            <a:endParaRPr lang="fr-FR" sz="3200" noProof="0" dirty="0"/>
          </a:p>
          <a:p>
            <a:pPr>
              <a:defRPr sz="1600" b="1">
                <a:solidFill>
                  <a:srgbClr val="FFFFFF"/>
                </a:solidFill>
              </a:defRPr>
            </a:pPr>
            <a:r>
              <a:rPr lang="fr-FR" sz="2400" noProof="0" dirty="0"/>
              <a:t>Identifiants — 010 / 073 </a:t>
            </a:r>
          </a:p>
        </p:txBody>
      </p:sp>
      <p:pic>
        <p:nvPicPr>
          <p:cNvPr id="5" name="Image 4">
            <a:extLst>
              <a:ext uri="{FF2B5EF4-FFF2-40B4-BE49-F238E27FC236}">
                <a16:creationId xmlns:a16="http://schemas.microsoft.com/office/drawing/2014/main" id="{91260B2E-5F9E-9340-FA6A-53B10BF1DCEA}"/>
              </a:ext>
            </a:extLst>
          </p:cNvPr>
          <p:cNvPicPr>
            <a:picLocks noChangeAspect="1"/>
          </p:cNvPicPr>
          <p:nvPr/>
        </p:nvPicPr>
        <p:blipFill>
          <a:blip r:embed="rId2"/>
          <a:stretch>
            <a:fillRect/>
          </a:stretch>
        </p:blipFill>
        <p:spPr>
          <a:xfrm>
            <a:off x="394335" y="5509541"/>
            <a:ext cx="10586466" cy="1134818"/>
          </a:xfrm>
          <a:prstGeom prst="rect">
            <a:avLst/>
          </a:prstGeom>
        </p:spPr>
      </p:pic>
    </p:spTree>
    <p:extLst>
      <p:ext uri="{BB962C8B-B14F-4D97-AF65-F5344CB8AC3E}">
        <p14:creationId xmlns:p14="http://schemas.microsoft.com/office/powerpoint/2010/main" val="37125471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985DE4C-4059-51D0-8C90-62108AFF30D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792BF63-F23F-21AF-AFB2-905DB2481622}"/>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 name="TextBox 3">
            <a:extLst>
              <a:ext uri="{FF2B5EF4-FFF2-40B4-BE49-F238E27FC236}">
                <a16:creationId xmlns:a16="http://schemas.microsoft.com/office/drawing/2014/main" id="{3F539289-6F98-D4BD-144A-853C8DA3D7DF}"/>
              </a:ext>
            </a:extLst>
          </p:cNvPr>
          <p:cNvSpPr txBox="1"/>
          <p:nvPr/>
        </p:nvSpPr>
        <p:spPr>
          <a:xfrm>
            <a:off x="394335" y="501015"/>
            <a:ext cx="7501890" cy="923330"/>
          </a:xfrm>
          <a:prstGeom prst="rect">
            <a:avLst/>
          </a:prstGeom>
          <a:noFill/>
        </p:spPr>
        <p:txBody>
          <a:bodyPr wrap="square">
            <a:spAutoFit/>
          </a:bodyPr>
          <a:lstStyle/>
          <a:p>
            <a:pPr>
              <a:spcAft>
                <a:spcPts val="1100"/>
              </a:spcAft>
              <a:defRPr sz="1800">
                <a:solidFill>
                  <a:srgbClr val="23232D"/>
                </a:solidFill>
              </a:defRPr>
            </a:pPr>
            <a:r>
              <a:rPr lang="fr-FR" dirty="0">
                <a:solidFill>
                  <a:srgbClr val="002060"/>
                </a:solidFill>
              </a:rPr>
              <a:t>Les champs 6XX décrivent le contenu intellectuel du document à l’aide de sujets et de points d’accès matière. Ils permettent notamment l'utilisation d'autorités comme RAMEAU.</a:t>
            </a:r>
            <a:endParaRPr lang="fr-FR" noProof="0" dirty="0">
              <a:solidFill>
                <a:srgbClr val="002060"/>
              </a:solidFill>
            </a:endParaRPr>
          </a:p>
        </p:txBody>
      </p:sp>
      <p:sp>
        <p:nvSpPr>
          <p:cNvPr id="7" name="Rectangle 6">
            <a:extLst>
              <a:ext uri="{FF2B5EF4-FFF2-40B4-BE49-F238E27FC236}">
                <a16:creationId xmlns:a16="http://schemas.microsoft.com/office/drawing/2014/main" id="{0E37450B-6B86-BDA0-53EB-CB212FD92FE7}"/>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9" name="TextBox 2">
            <a:extLst>
              <a:ext uri="{FF2B5EF4-FFF2-40B4-BE49-F238E27FC236}">
                <a16:creationId xmlns:a16="http://schemas.microsoft.com/office/drawing/2014/main" id="{1AF4BA5B-6C8E-7E6C-59B0-1981564F614A}"/>
              </a:ext>
            </a:extLst>
          </p:cNvPr>
          <p:cNvSpPr txBox="1"/>
          <p:nvPr/>
        </p:nvSpPr>
        <p:spPr>
          <a:xfrm>
            <a:off x="8760542" y="914400"/>
            <a:ext cx="3352800" cy="1446550"/>
          </a:xfrm>
          <a:prstGeom prst="rect">
            <a:avLst/>
          </a:prstGeom>
          <a:noFill/>
        </p:spPr>
        <p:txBody>
          <a:bodyPr wrap="square">
            <a:spAutoFit/>
          </a:bodyPr>
          <a:lstStyle/>
          <a:p>
            <a:pPr>
              <a:defRPr sz="1600" b="1">
                <a:solidFill>
                  <a:srgbClr val="FFFFFF"/>
                </a:solidFill>
              </a:defRPr>
            </a:pPr>
            <a:r>
              <a:rPr lang="fr-FR" sz="3200" noProof="0" dirty="0"/>
              <a:t>Cataloguer </a:t>
            </a:r>
          </a:p>
          <a:p>
            <a:pPr>
              <a:defRPr sz="1600" b="1">
                <a:solidFill>
                  <a:srgbClr val="FFFFFF"/>
                </a:solidFill>
              </a:defRPr>
            </a:pPr>
            <a:endParaRPr lang="fr-FR" sz="3200" noProof="0" dirty="0"/>
          </a:p>
          <a:p>
            <a:pPr>
              <a:defRPr sz="1600" b="1">
                <a:solidFill>
                  <a:srgbClr val="FFFFFF"/>
                </a:solidFill>
              </a:defRPr>
            </a:pPr>
            <a:r>
              <a:rPr lang="fr-FR" sz="2400" noProof="0" dirty="0"/>
              <a:t>6XX — Indexation</a:t>
            </a:r>
          </a:p>
        </p:txBody>
      </p:sp>
      <p:pic>
        <p:nvPicPr>
          <p:cNvPr id="6" name="Image 5">
            <a:extLst>
              <a:ext uri="{FF2B5EF4-FFF2-40B4-BE49-F238E27FC236}">
                <a16:creationId xmlns:a16="http://schemas.microsoft.com/office/drawing/2014/main" id="{810DAED6-0F03-5654-00AA-4CE5EFBF2B6C}"/>
              </a:ext>
            </a:extLst>
          </p:cNvPr>
          <p:cNvPicPr>
            <a:picLocks noChangeAspect="1"/>
          </p:cNvPicPr>
          <p:nvPr/>
        </p:nvPicPr>
        <p:blipFill>
          <a:blip r:embed="rId2"/>
          <a:stretch>
            <a:fillRect/>
          </a:stretch>
        </p:blipFill>
        <p:spPr>
          <a:xfrm>
            <a:off x="476250" y="2989421"/>
            <a:ext cx="9410700" cy="3546158"/>
          </a:xfrm>
          <a:prstGeom prst="rect">
            <a:avLst/>
          </a:prstGeom>
        </p:spPr>
      </p:pic>
    </p:spTree>
    <p:extLst>
      <p:ext uri="{BB962C8B-B14F-4D97-AF65-F5344CB8AC3E}">
        <p14:creationId xmlns:p14="http://schemas.microsoft.com/office/powerpoint/2010/main" val="28324863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ACC7020-AFCE-4D4C-3DE0-D876342BB3B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F8240E9-CE2F-484C-30B3-ABE0825E387B}"/>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 name="TextBox 3">
            <a:extLst>
              <a:ext uri="{FF2B5EF4-FFF2-40B4-BE49-F238E27FC236}">
                <a16:creationId xmlns:a16="http://schemas.microsoft.com/office/drawing/2014/main" id="{0C0481B6-7ED0-8BA4-9C74-190AE687CCC2}"/>
              </a:ext>
            </a:extLst>
          </p:cNvPr>
          <p:cNvSpPr txBox="1"/>
          <p:nvPr/>
        </p:nvSpPr>
        <p:spPr>
          <a:xfrm>
            <a:off x="394335" y="501015"/>
            <a:ext cx="7501890" cy="1759456"/>
          </a:xfrm>
          <a:prstGeom prst="rect">
            <a:avLst/>
          </a:prstGeom>
          <a:noFill/>
        </p:spPr>
        <p:txBody>
          <a:bodyPr wrap="square">
            <a:spAutoFit/>
          </a:bodyPr>
          <a:lstStyle/>
          <a:p>
            <a:pPr>
              <a:spcAft>
                <a:spcPts val="1100"/>
              </a:spcAft>
              <a:defRPr sz="1800">
                <a:solidFill>
                  <a:srgbClr val="23232D"/>
                </a:solidFill>
              </a:defRPr>
            </a:pPr>
            <a:r>
              <a:rPr lang="fr-FR" dirty="0">
                <a:solidFill>
                  <a:srgbClr val="002060"/>
                </a:solidFill>
              </a:rPr>
              <a:t>Les champs 6XX décrivent le contenu intellectuel du document à l’aide de sujets et de points d’accès matière. Ils permettent notamment l'utilisation d'autorités comme RAMEAU.</a:t>
            </a:r>
          </a:p>
          <a:p>
            <a:pPr>
              <a:spcAft>
                <a:spcPts val="1100"/>
              </a:spcAft>
              <a:defRPr sz="1800">
                <a:solidFill>
                  <a:srgbClr val="23232D"/>
                </a:solidFill>
              </a:defRPr>
            </a:pPr>
            <a:endParaRPr lang="fr-FR" noProof="0" dirty="0">
              <a:solidFill>
                <a:srgbClr val="002060"/>
              </a:solidFill>
            </a:endParaRPr>
          </a:p>
          <a:p>
            <a:pPr>
              <a:spcAft>
                <a:spcPts val="1100"/>
              </a:spcAft>
              <a:defRPr sz="1800">
                <a:solidFill>
                  <a:srgbClr val="23232D"/>
                </a:solidFill>
              </a:defRPr>
            </a:pPr>
            <a:r>
              <a:rPr lang="fr-FR" dirty="0">
                <a:solidFill>
                  <a:srgbClr val="002060"/>
                </a:solidFill>
              </a:rPr>
              <a:t>Utiliser l’éditeur de champ</a:t>
            </a:r>
            <a:endParaRPr lang="fr-FR" noProof="0" dirty="0">
              <a:solidFill>
                <a:srgbClr val="002060"/>
              </a:solidFill>
            </a:endParaRPr>
          </a:p>
        </p:txBody>
      </p:sp>
      <p:sp>
        <p:nvSpPr>
          <p:cNvPr id="7" name="Rectangle 6">
            <a:extLst>
              <a:ext uri="{FF2B5EF4-FFF2-40B4-BE49-F238E27FC236}">
                <a16:creationId xmlns:a16="http://schemas.microsoft.com/office/drawing/2014/main" id="{E4C545D5-AE03-9527-0FD3-15401AA29C01}"/>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9" name="TextBox 2">
            <a:extLst>
              <a:ext uri="{FF2B5EF4-FFF2-40B4-BE49-F238E27FC236}">
                <a16:creationId xmlns:a16="http://schemas.microsoft.com/office/drawing/2014/main" id="{4C4F6E42-DBF3-0E0A-99E5-1A24694E2E69}"/>
              </a:ext>
            </a:extLst>
          </p:cNvPr>
          <p:cNvSpPr txBox="1"/>
          <p:nvPr/>
        </p:nvSpPr>
        <p:spPr>
          <a:xfrm>
            <a:off x="8760542" y="914400"/>
            <a:ext cx="3352800" cy="1446550"/>
          </a:xfrm>
          <a:prstGeom prst="rect">
            <a:avLst/>
          </a:prstGeom>
          <a:noFill/>
        </p:spPr>
        <p:txBody>
          <a:bodyPr wrap="square">
            <a:spAutoFit/>
          </a:bodyPr>
          <a:lstStyle/>
          <a:p>
            <a:pPr>
              <a:defRPr sz="1600" b="1">
                <a:solidFill>
                  <a:srgbClr val="FFFFFF"/>
                </a:solidFill>
              </a:defRPr>
            </a:pPr>
            <a:r>
              <a:rPr lang="fr-FR" sz="3200" noProof="0" dirty="0"/>
              <a:t>Cataloguer </a:t>
            </a:r>
          </a:p>
          <a:p>
            <a:pPr>
              <a:defRPr sz="1600" b="1">
                <a:solidFill>
                  <a:srgbClr val="FFFFFF"/>
                </a:solidFill>
              </a:defRPr>
            </a:pPr>
            <a:endParaRPr lang="fr-FR" sz="3200" noProof="0" dirty="0"/>
          </a:p>
          <a:p>
            <a:pPr>
              <a:defRPr sz="1600" b="1">
                <a:solidFill>
                  <a:srgbClr val="FFFFFF"/>
                </a:solidFill>
              </a:defRPr>
            </a:pPr>
            <a:r>
              <a:rPr lang="fr-FR" sz="2400" noProof="0" dirty="0"/>
              <a:t>6XX — Indexation</a:t>
            </a:r>
          </a:p>
        </p:txBody>
      </p:sp>
      <p:pic>
        <p:nvPicPr>
          <p:cNvPr id="5" name="Image 4">
            <a:extLst>
              <a:ext uri="{FF2B5EF4-FFF2-40B4-BE49-F238E27FC236}">
                <a16:creationId xmlns:a16="http://schemas.microsoft.com/office/drawing/2014/main" id="{E7A2D2E8-89E3-C701-C431-C40D8E7C4B8B}"/>
              </a:ext>
            </a:extLst>
          </p:cNvPr>
          <p:cNvPicPr>
            <a:picLocks noChangeAspect="1"/>
          </p:cNvPicPr>
          <p:nvPr/>
        </p:nvPicPr>
        <p:blipFill>
          <a:blip r:embed="rId2"/>
          <a:stretch>
            <a:fillRect/>
          </a:stretch>
        </p:blipFill>
        <p:spPr>
          <a:xfrm>
            <a:off x="3387090" y="3242286"/>
            <a:ext cx="5013960" cy="3518912"/>
          </a:xfrm>
          <a:prstGeom prst="rect">
            <a:avLst/>
          </a:prstGeom>
        </p:spPr>
      </p:pic>
      <p:pic>
        <p:nvPicPr>
          <p:cNvPr id="10" name="Image 9">
            <a:extLst>
              <a:ext uri="{FF2B5EF4-FFF2-40B4-BE49-F238E27FC236}">
                <a16:creationId xmlns:a16="http://schemas.microsoft.com/office/drawing/2014/main" id="{0379C31D-E6E1-529A-6414-4F40C7E5BC62}"/>
              </a:ext>
            </a:extLst>
          </p:cNvPr>
          <p:cNvPicPr>
            <a:picLocks noChangeAspect="1"/>
          </p:cNvPicPr>
          <p:nvPr/>
        </p:nvPicPr>
        <p:blipFill>
          <a:blip r:embed="rId3"/>
          <a:stretch>
            <a:fillRect/>
          </a:stretch>
        </p:blipFill>
        <p:spPr>
          <a:xfrm>
            <a:off x="295275" y="2459300"/>
            <a:ext cx="9886950" cy="686184"/>
          </a:xfrm>
          <a:prstGeom prst="rect">
            <a:avLst/>
          </a:prstGeom>
        </p:spPr>
      </p:pic>
    </p:spTree>
    <p:extLst>
      <p:ext uri="{BB962C8B-B14F-4D97-AF65-F5344CB8AC3E}">
        <p14:creationId xmlns:p14="http://schemas.microsoft.com/office/powerpoint/2010/main" val="16867749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7C82EC3-E69E-85D9-C0D1-81E4F5A6BD5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D3A3DE4-AACD-B0E7-7455-ADE584E60BC7}"/>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 name="TextBox 3">
            <a:extLst>
              <a:ext uri="{FF2B5EF4-FFF2-40B4-BE49-F238E27FC236}">
                <a16:creationId xmlns:a16="http://schemas.microsoft.com/office/drawing/2014/main" id="{B0225E15-2761-B1EA-C6C3-8AF758B9DC03}"/>
              </a:ext>
            </a:extLst>
          </p:cNvPr>
          <p:cNvSpPr txBox="1"/>
          <p:nvPr/>
        </p:nvSpPr>
        <p:spPr>
          <a:xfrm>
            <a:off x="394335" y="501015"/>
            <a:ext cx="7501890" cy="1341393"/>
          </a:xfrm>
          <a:prstGeom prst="rect">
            <a:avLst/>
          </a:prstGeom>
          <a:noFill/>
        </p:spPr>
        <p:txBody>
          <a:bodyPr wrap="square">
            <a:spAutoFit/>
          </a:bodyPr>
          <a:lstStyle/>
          <a:p>
            <a:pPr>
              <a:spcAft>
                <a:spcPts val="1100"/>
              </a:spcAft>
              <a:defRPr sz="1800">
                <a:solidFill>
                  <a:srgbClr val="23232D"/>
                </a:solidFill>
              </a:defRPr>
            </a:pPr>
            <a:r>
              <a:rPr lang="fr-FR" dirty="0">
                <a:solidFill>
                  <a:srgbClr val="002060"/>
                </a:solidFill>
              </a:rPr>
              <a:t>Les champs 6XX décrivent le contenu intellectuel du document à l’aide de sujets et de points d’accès matière. Ils permettent notamment l'utilisation d'autorités comme RAMEAU.</a:t>
            </a:r>
          </a:p>
          <a:p>
            <a:pPr>
              <a:spcAft>
                <a:spcPts val="1100"/>
              </a:spcAft>
              <a:defRPr sz="1800">
                <a:solidFill>
                  <a:srgbClr val="23232D"/>
                </a:solidFill>
              </a:defRPr>
            </a:pPr>
            <a:endParaRPr lang="fr-FR" noProof="0" dirty="0">
              <a:solidFill>
                <a:srgbClr val="002060"/>
              </a:solidFill>
            </a:endParaRPr>
          </a:p>
        </p:txBody>
      </p:sp>
      <p:sp>
        <p:nvSpPr>
          <p:cNvPr id="7" name="Rectangle 6">
            <a:extLst>
              <a:ext uri="{FF2B5EF4-FFF2-40B4-BE49-F238E27FC236}">
                <a16:creationId xmlns:a16="http://schemas.microsoft.com/office/drawing/2014/main" id="{13318A97-FE38-2D44-F2BE-A185A03934FA}"/>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9" name="TextBox 2">
            <a:extLst>
              <a:ext uri="{FF2B5EF4-FFF2-40B4-BE49-F238E27FC236}">
                <a16:creationId xmlns:a16="http://schemas.microsoft.com/office/drawing/2014/main" id="{565E994D-D3C6-D7C5-FBA1-5959078A65F3}"/>
              </a:ext>
            </a:extLst>
          </p:cNvPr>
          <p:cNvSpPr txBox="1"/>
          <p:nvPr/>
        </p:nvSpPr>
        <p:spPr>
          <a:xfrm>
            <a:off x="8760542" y="914400"/>
            <a:ext cx="3352800" cy="1446550"/>
          </a:xfrm>
          <a:prstGeom prst="rect">
            <a:avLst/>
          </a:prstGeom>
          <a:noFill/>
        </p:spPr>
        <p:txBody>
          <a:bodyPr wrap="square">
            <a:spAutoFit/>
          </a:bodyPr>
          <a:lstStyle/>
          <a:p>
            <a:pPr>
              <a:defRPr sz="1600" b="1">
                <a:solidFill>
                  <a:srgbClr val="FFFFFF"/>
                </a:solidFill>
              </a:defRPr>
            </a:pPr>
            <a:r>
              <a:rPr lang="fr-FR" sz="3200" noProof="0" dirty="0"/>
              <a:t>Cataloguer </a:t>
            </a:r>
          </a:p>
          <a:p>
            <a:pPr>
              <a:defRPr sz="1600" b="1">
                <a:solidFill>
                  <a:srgbClr val="FFFFFF"/>
                </a:solidFill>
              </a:defRPr>
            </a:pPr>
            <a:endParaRPr lang="fr-FR" sz="3200" noProof="0" dirty="0"/>
          </a:p>
          <a:p>
            <a:pPr>
              <a:defRPr sz="1600" b="1">
                <a:solidFill>
                  <a:srgbClr val="FFFFFF"/>
                </a:solidFill>
              </a:defRPr>
            </a:pPr>
            <a:r>
              <a:rPr lang="fr-FR" sz="2400" noProof="0" dirty="0"/>
              <a:t>6XX — Indexation</a:t>
            </a:r>
          </a:p>
        </p:txBody>
      </p:sp>
      <p:pic>
        <p:nvPicPr>
          <p:cNvPr id="6" name="Image 5">
            <a:extLst>
              <a:ext uri="{FF2B5EF4-FFF2-40B4-BE49-F238E27FC236}">
                <a16:creationId xmlns:a16="http://schemas.microsoft.com/office/drawing/2014/main" id="{28FE69BC-C6FF-086E-FCA3-CEF195DEAF65}"/>
              </a:ext>
            </a:extLst>
          </p:cNvPr>
          <p:cNvPicPr>
            <a:picLocks noChangeAspect="1"/>
          </p:cNvPicPr>
          <p:nvPr/>
        </p:nvPicPr>
        <p:blipFill>
          <a:blip r:embed="rId2"/>
          <a:stretch>
            <a:fillRect/>
          </a:stretch>
        </p:blipFill>
        <p:spPr>
          <a:xfrm>
            <a:off x="909447" y="2581095"/>
            <a:ext cx="7192379" cy="2572109"/>
          </a:xfrm>
          <a:prstGeom prst="rect">
            <a:avLst/>
          </a:prstGeom>
        </p:spPr>
      </p:pic>
    </p:spTree>
    <p:extLst>
      <p:ext uri="{BB962C8B-B14F-4D97-AF65-F5344CB8AC3E}">
        <p14:creationId xmlns:p14="http://schemas.microsoft.com/office/powerpoint/2010/main" val="17332691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8AEEAE8-0734-31DF-AB0F-C22E8D3E5F6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B57A9E0-BCB6-CE1D-4F8C-521A2288CBDD}"/>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 name="TextBox 3">
            <a:extLst>
              <a:ext uri="{FF2B5EF4-FFF2-40B4-BE49-F238E27FC236}">
                <a16:creationId xmlns:a16="http://schemas.microsoft.com/office/drawing/2014/main" id="{5AEC6B95-77A7-C929-138B-0B7809FCC276}"/>
              </a:ext>
            </a:extLst>
          </p:cNvPr>
          <p:cNvSpPr txBox="1"/>
          <p:nvPr/>
        </p:nvSpPr>
        <p:spPr>
          <a:xfrm>
            <a:off x="394335" y="501015"/>
            <a:ext cx="7501890" cy="1759456"/>
          </a:xfrm>
          <a:prstGeom prst="rect">
            <a:avLst/>
          </a:prstGeom>
          <a:noFill/>
        </p:spPr>
        <p:txBody>
          <a:bodyPr wrap="square">
            <a:spAutoFit/>
          </a:bodyPr>
          <a:lstStyle/>
          <a:p>
            <a:pPr>
              <a:spcAft>
                <a:spcPts val="1100"/>
              </a:spcAft>
              <a:defRPr sz="1800">
                <a:solidFill>
                  <a:srgbClr val="23232D"/>
                </a:solidFill>
              </a:defRPr>
            </a:pPr>
            <a:r>
              <a:rPr lang="fr-FR" dirty="0">
                <a:solidFill>
                  <a:srgbClr val="002060"/>
                </a:solidFill>
              </a:rPr>
              <a:t>Les champs 7XX identifient les personnes ou collectivités ayant contribué au document : auteur, directeur de publication, préfacier, illustrateur, etc. Le rôle de chacun peut être précisé par un code de fonction.</a:t>
            </a:r>
          </a:p>
          <a:p>
            <a:pPr>
              <a:spcAft>
                <a:spcPts val="1100"/>
              </a:spcAft>
              <a:defRPr sz="1800">
                <a:solidFill>
                  <a:srgbClr val="23232D"/>
                </a:solidFill>
              </a:defRPr>
            </a:pPr>
            <a:endParaRPr lang="fr-FR" noProof="0" dirty="0">
              <a:solidFill>
                <a:srgbClr val="002060"/>
              </a:solidFill>
            </a:endParaRPr>
          </a:p>
          <a:p>
            <a:pPr>
              <a:spcAft>
                <a:spcPts val="1100"/>
              </a:spcAft>
              <a:defRPr sz="1800">
                <a:solidFill>
                  <a:srgbClr val="23232D"/>
                </a:solidFill>
              </a:defRPr>
            </a:pPr>
            <a:r>
              <a:rPr lang="fr-FR" dirty="0">
                <a:solidFill>
                  <a:srgbClr val="002060"/>
                </a:solidFill>
              </a:rPr>
              <a:t>Utiliser l’éditeur de champ</a:t>
            </a:r>
          </a:p>
        </p:txBody>
      </p:sp>
      <p:sp>
        <p:nvSpPr>
          <p:cNvPr id="7" name="Rectangle 6">
            <a:extLst>
              <a:ext uri="{FF2B5EF4-FFF2-40B4-BE49-F238E27FC236}">
                <a16:creationId xmlns:a16="http://schemas.microsoft.com/office/drawing/2014/main" id="{DE492BB1-9BA1-2769-61EE-1FDC7C7C1D6A}"/>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9" name="TextBox 2">
            <a:extLst>
              <a:ext uri="{FF2B5EF4-FFF2-40B4-BE49-F238E27FC236}">
                <a16:creationId xmlns:a16="http://schemas.microsoft.com/office/drawing/2014/main" id="{0677E5A2-0517-F013-CC35-21DB22A7E5F4}"/>
              </a:ext>
            </a:extLst>
          </p:cNvPr>
          <p:cNvSpPr txBox="1"/>
          <p:nvPr/>
        </p:nvSpPr>
        <p:spPr>
          <a:xfrm>
            <a:off x="8760542" y="914400"/>
            <a:ext cx="3352800" cy="1446550"/>
          </a:xfrm>
          <a:prstGeom prst="rect">
            <a:avLst/>
          </a:prstGeom>
          <a:noFill/>
        </p:spPr>
        <p:txBody>
          <a:bodyPr wrap="square">
            <a:spAutoFit/>
          </a:bodyPr>
          <a:lstStyle/>
          <a:p>
            <a:pPr>
              <a:defRPr sz="1600" b="1">
                <a:solidFill>
                  <a:srgbClr val="FFFFFF"/>
                </a:solidFill>
              </a:defRPr>
            </a:pPr>
            <a:r>
              <a:rPr lang="fr-FR" sz="3200" noProof="0" dirty="0"/>
              <a:t>Cataloguer </a:t>
            </a:r>
          </a:p>
          <a:p>
            <a:pPr>
              <a:defRPr sz="1600" b="1">
                <a:solidFill>
                  <a:srgbClr val="FFFFFF"/>
                </a:solidFill>
              </a:defRPr>
            </a:pPr>
            <a:endParaRPr lang="fr-FR" sz="3200" noProof="0" dirty="0"/>
          </a:p>
          <a:p>
            <a:pPr>
              <a:defRPr sz="1600" b="1">
                <a:solidFill>
                  <a:srgbClr val="FFFFFF"/>
                </a:solidFill>
              </a:defRPr>
            </a:pPr>
            <a:r>
              <a:rPr lang="fr-FR" sz="2400" noProof="0" dirty="0"/>
              <a:t>7XX — Responsabilités</a:t>
            </a:r>
          </a:p>
        </p:txBody>
      </p:sp>
      <p:pic>
        <p:nvPicPr>
          <p:cNvPr id="5" name="Image 4">
            <a:extLst>
              <a:ext uri="{FF2B5EF4-FFF2-40B4-BE49-F238E27FC236}">
                <a16:creationId xmlns:a16="http://schemas.microsoft.com/office/drawing/2014/main" id="{F5DCFD46-B270-2500-ED26-23046C3CB642}"/>
              </a:ext>
            </a:extLst>
          </p:cNvPr>
          <p:cNvPicPr>
            <a:picLocks noChangeAspect="1"/>
          </p:cNvPicPr>
          <p:nvPr/>
        </p:nvPicPr>
        <p:blipFill>
          <a:blip r:embed="rId2"/>
          <a:stretch>
            <a:fillRect/>
          </a:stretch>
        </p:blipFill>
        <p:spPr>
          <a:xfrm>
            <a:off x="485775" y="3174871"/>
            <a:ext cx="9486900" cy="2222604"/>
          </a:xfrm>
          <a:prstGeom prst="rect">
            <a:avLst/>
          </a:prstGeom>
        </p:spPr>
      </p:pic>
    </p:spTree>
    <p:extLst>
      <p:ext uri="{BB962C8B-B14F-4D97-AF65-F5344CB8AC3E}">
        <p14:creationId xmlns:p14="http://schemas.microsoft.com/office/powerpoint/2010/main" val="42209582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C125A6D-507A-CBF2-BD38-95199ED98CD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ABAAD4F-D744-D0A6-F7BF-A755F680EAA8}"/>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 name="TextBox 3">
            <a:extLst>
              <a:ext uri="{FF2B5EF4-FFF2-40B4-BE49-F238E27FC236}">
                <a16:creationId xmlns:a16="http://schemas.microsoft.com/office/drawing/2014/main" id="{EC98DDA2-1793-C5DD-E176-9EFB35279060}"/>
              </a:ext>
            </a:extLst>
          </p:cNvPr>
          <p:cNvSpPr txBox="1"/>
          <p:nvPr/>
        </p:nvSpPr>
        <p:spPr>
          <a:xfrm>
            <a:off x="394335" y="501015"/>
            <a:ext cx="7501890" cy="3008516"/>
          </a:xfrm>
          <a:prstGeom prst="rect">
            <a:avLst/>
          </a:prstGeom>
          <a:noFill/>
        </p:spPr>
        <p:txBody>
          <a:bodyPr wrap="square">
            <a:spAutoFit/>
          </a:bodyPr>
          <a:lstStyle/>
          <a:p>
            <a:pPr>
              <a:spcAft>
                <a:spcPts val="1100"/>
              </a:spcAft>
              <a:defRPr sz="1800">
                <a:solidFill>
                  <a:srgbClr val="23232D"/>
                </a:solidFill>
              </a:defRPr>
            </a:pPr>
            <a:r>
              <a:rPr lang="fr-FR" dirty="0">
                <a:solidFill>
                  <a:srgbClr val="002060"/>
                </a:solidFill>
              </a:rPr>
              <a:t>Le champ 856 permet d’indiquer l’adresse électronique permettant d’accéder à un document ou à une ressource associée. La sous-zone 856$u contient l’URL. Elle peut par exemple donner accès au texte intégral d’un rapport, à une publication numérique ou à un document disponible sur un site institutionnel.</a:t>
            </a:r>
          </a:p>
          <a:p>
            <a:pPr>
              <a:spcAft>
                <a:spcPts val="1100"/>
              </a:spcAft>
              <a:defRPr sz="1800">
                <a:solidFill>
                  <a:srgbClr val="23232D"/>
                </a:solidFill>
              </a:defRPr>
            </a:pPr>
            <a:r>
              <a:rPr lang="fr-FR" dirty="0">
                <a:solidFill>
                  <a:srgbClr val="002060"/>
                </a:solidFill>
              </a:rPr>
              <a:t>À retenir : le lien doit être vérifié et pointer, autant que possible, vers une adresse stable et pérenne.</a:t>
            </a:r>
          </a:p>
          <a:p>
            <a:pPr>
              <a:spcAft>
                <a:spcPts val="1100"/>
              </a:spcAft>
              <a:defRPr sz="1800">
                <a:solidFill>
                  <a:srgbClr val="23232D"/>
                </a:solidFill>
              </a:defRPr>
            </a:pPr>
            <a:r>
              <a:rPr lang="fr-FR" dirty="0">
                <a:solidFill>
                  <a:srgbClr val="002060"/>
                </a:solidFill>
              </a:rPr>
              <a:t>Noter que notre installation de KOHA est associée à un réservoir de fichiers pour uploader des fichiers .</a:t>
            </a:r>
            <a:r>
              <a:rPr lang="fr-FR" dirty="0" err="1">
                <a:solidFill>
                  <a:srgbClr val="002060"/>
                </a:solidFill>
              </a:rPr>
              <a:t>pdf</a:t>
            </a:r>
            <a:r>
              <a:rPr lang="fr-FR" dirty="0">
                <a:solidFill>
                  <a:srgbClr val="002060"/>
                </a:solidFill>
              </a:rPr>
              <a:t> et ainsi construire l’URL en 856$u</a:t>
            </a:r>
          </a:p>
          <a:p>
            <a:pPr>
              <a:spcAft>
                <a:spcPts val="1100"/>
              </a:spcAft>
              <a:defRPr sz="1800">
                <a:solidFill>
                  <a:srgbClr val="23232D"/>
                </a:solidFill>
              </a:defRPr>
            </a:pPr>
            <a:r>
              <a:rPr lang="fr-FR" dirty="0">
                <a:solidFill>
                  <a:srgbClr val="002060"/>
                </a:solidFill>
              </a:rPr>
              <a:t>Indiquer la nature du fichier dans le sous-champ 856$z Note publique</a:t>
            </a:r>
          </a:p>
        </p:txBody>
      </p:sp>
      <p:sp>
        <p:nvSpPr>
          <p:cNvPr id="7" name="Rectangle 6">
            <a:extLst>
              <a:ext uri="{FF2B5EF4-FFF2-40B4-BE49-F238E27FC236}">
                <a16:creationId xmlns:a16="http://schemas.microsoft.com/office/drawing/2014/main" id="{D53228CA-0CD1-AB2F-BED8-F31DA49E0A61}"/>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9" name="TextBox 2">
            <a:extLst>
              <a:ext uri="{FF2B5EF4-FFF2-40B4-BE49-F238E27FC236}">
                <a16:creationId xmlns:a16="http://schemas.microsoft.com/office/drawing/2014/main" id="{575F5DBA-84C3-CEB4-51D9-A57283DB7E91}"/>
              </a:ext>
            </a:extLst>
          </p:cNvPr>
          <p:cNvSpPr txBox="1"/>
          <p:nvPr/>
        </p:nvSpPr>
        <p:spPr>
          <a:xfrm>
            <a:off x="8760542" y="914400"/>
            <a:ext cx="3352800" cy="1815882"/>
          </a:xfrm>
          <a:prstGeom prst="rect">
            <a:avLst/>
          </a:prstGeom>
          <a:noFill/>
        </p:spPr>
        <p:txBody>
          <a:bodyPr wrap="square">
            <a:spAutoFit/>
          </a:bodyPr>
          <a:lstStyle/>
          <a:p>
            <a:pPr>
              <a:defRPr sz="1600" b="1">
                <a:solidFill>
                  <a:srgbClr val="FFFFFF"/>
                </a:solidFill>
              </a:defRPr>
            </a:pPr>
            <a:r>
              <a:rPr lang="fr-FR" sz="3200" noProof="0" dirty="0"/>
              <a:t>Cataloguer </a:t>
            </a:r>
          </a:p>
          <a:p>
            <a:pPr>
              <a:defRPr sz="1600" b="1">
                <a:solidFill>
                  <a:srgbClr val="FFFFFF"/>
                </a:solidFill>
              </a:defRPr>
            </a:pPr>
            <a:endParaRPr lang="fr-FR" sz="3200" noProof="0" dirty="0"/>
          </a:p>
          <a:p>
            <a:pPr>
              <a:defRPr sz="1600" b="1">
                <a:solidFill>
                  <a:srgbClr val="FFFFFF"/>
                </a:solidFill>
              </a:defRPr>
            </a:pPr>
            <a:r>
              <a:rPr lang="fr-FR" sz="2400" noProof="0" dirty="0"/>
              <a:t>856 — Accès à une ressource en ligne</a:t>
            </a:r>
          </a:p>
        </p:txBody>
      </p:sp>
      <p:pic>
        <p:nvPicPr>
          <p:cNvPr id="6" name="Image 5">
            <a:extLst>
              <a:ext uri="{FF2B5EF4-FFF2-40B4-BE49-F238E27FC236}">
                <a16:creationId xmlns:a16="http://schemas.microsoft.com/office/drawing/2014/main" id="{EC0DFE5C-5726-83A5-672F-EBC4CD0CF42A}"/>
              </a:ext>
            </a:extLst>
          </p:cNvPr>
          <p:cNvPicPr>
            <a:picLocks noChangeAspect="1"/>
          </p:cNvPicPr>
          <p:nvPr/>
        </p:nvPicPr>
        <p:blipFill>
          <a:blip r:embed="rId2"/>
          <a:stretch>
            <a:fillRect/>
          </a:stretch>
        </p:blipFill>
        <p:spPr>
          <a:xfrm>
            <a:off x="752475" y="3892185"/>
            <a:ext cx="9944100" cy="1378680"/>
          </a:xfrm>
          <a:prstGeom prst="rect">
            <a:avLst/>
          </a:prstGeom>
        </p:spPr>
      </p:pic>
    </p:spTree>
    <p:extLst>
      <p:ext uri="{BB962C8B-B14F-4D97-AF65-F5344CB8AC3E}">
        <p14:creationId xmlns:p14="http://schemas.microsoft.com/office/powerpoint/2010/main" val="35932934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D23441D-08A9-749C-6543-CD93C95F707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F7BF097-4F80-5948-3E6D-AA05F50AA049}"/>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 name="TextBox 3">
            <a:extLst>
              <a:ext uri="{FF2B5EF4-FFF2-40B4-BE49-F238E27FC236}">
                <a16:creationId xmlns:a16="http://schemas.microsoft.com/office/drawing/2014/main" id="{CBF31007-EE02-BF1A-3E0B-ACAAB3BEA5A0}"/>
              </a:ext>
            </a:extLst>
          </p:cNvPr>
          <p:cNvSpPr txBox="1"/>
          <p:nvPr/>
        </p:nvSpPr>
        <p:spPr>
          <a:xfrm>
            <a:off x="394335" y="501015"/>
            <a:ext cx="7501890" cy="2313454"/>
          </a:xfrm>
          <a:prstGeom prst="rect">
            <a:avLst/>
          </a:prstGeom>
          <a:noFill/>
        </p:spPr>
        <p:txBody>
          <a:bodyPr wrap="square">
            <a:spAutoFit/>
          </a:bodyPr>
          <a:lstStyle/>
          <a:p>
            <a:pPr>
              <a:spcAft>
                <a:spcPts val="1100"/>
              </a:spcAft>
              <a:defRPr sz="1800">
                <a:solidFill>
                  <a:srgbClr val="23232D"/>
                </a:solidFill>
              </a:defRPr>
            </a:pPr>
            <a:r>
              <a:rPr lang="fr-FR" dirty="0">
                <a:solidFill>
                  <a:srgbClr val="002060"/>
                </a:solidFill>
              </a:rPr>
              <a:t>Dans Koha, certains sous-champs utilisent des valeurs autorisées : au lieu de saisir librement une information, le catalogueur la sélectionne dans une liste prédéfinie. </a:t>
            </a:r>
          </a:p>
          <a:p>
            <a:pPr>
              <a:spcAft>
                <a:spcPts val="1100"/>
              </a:spcAft>
              <a:defRPr sz="1800">
                <a:solidFill>
                  <a:srgbClr val="23232D"/>
                </a:solidFill>
              </a:defRPr>
            </a:pPr>
            <a:r>
              <a:rPr lang="fr-FR" dirty="0">
                <a:solidFill>
                  <a:srgbClr val="002060"/>
                </a:solidFill>
              </a:rPr>
              <a:t>Ce système permet d’harmoniser les pratiques entre les différents sites et d’éviter les variantes, erreurs de saisie ou valeurs non conformes.</a:t>
            </a:r>
          </a:p>
          <a:p>
            <a:pPr>
              <a:spcAft>
                <a:spcPts val="1100"/>
              </a:spcAft>
              <a:defRPr sz="1800">
                <a:solidFill>
                  <a:srgbClr val="23232D"/>
                </a:solidFill>
              </a:defRPr>
            </a:pPr>
            <a:r>
              <a:rPr lang="fr-FR" dirty="0">
                <a:solidFill>
                  <a:srgbClr val="002060"/>
                </a:solidFill>
              </a:rPr>
              <a:t>À retenir : dans le catalogue mutualisé, les valeurs autorisées contribuent directement à la cohérence et à la qualité des données entre les DRAC.</a:t>
            </a:r>
          </a:p>
        </p:txBody>
      </p:sp>
      <p:sp>
        <p:nvSpPr>
          <p:cNvPr id="7" name="Rectangle 6">
            <a:extLst>
              <a:ext uri="{FF2B5EF4-FFF2-40B4-BE49-F238E27FC236}">
                <a16:creationId xmlns:a16="http://schemas.microsoft.com/office/drawing/2014/main" id="{67F664A2-3B5D-F10F-AC2D-E747CC9D9F62}"/>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9" name="TextBox 2">
            <a:extLst>
              <a:ext uri="{FF2B5EF4-FFF2-40B4-BE49-F238E27FC236}">
                <a16:creationId xmlns:a16="http://schemas.microsoft.com/office/drawing/2014/main" id="{33A353D1-7373-2C0D-FECF-77DFA50EEF96}"/>
              </a:ext>
            </a:extLst>
          </p:cNvPr>
          <p:cNvSpPr txBox="1"/>
          <p:nvPr/>
        </p:nvSpPr>
        <p:spPr>
          <a:xfrm>
            <a:off x="8760542" y="914400"/>
            <a:ext cx="3352800" cy="1815882"/>
          </a:xfrm>
          <a:prstGeom prst="rect">
            <a:avLst/>
          </a:prstGeom>
          <a:noFill/>
        </p:spPr>
        <p:txBody>
          <a:bodyPr wrap="square">
            <a:spAutoFit/>
          </a:bodyPr>
          <a:lstStyle/>
          <a:p>
            <a:pPr>
              <a:defRPr sz="1600" b="1">
                <a:solidFill>
                  <a:srgbClr val="FFFFFF"/>
                </a:solidFill>
              </a:defRPr>
            </a:pPr>
            <a:r>
              <a:rPr lang="fr-FR" sz="3200" noProof="0" dirty="0"/>
              <a:t>Cataloguer </a:t>
            </a:r>
          </a:p>
          <a:p>
            <a:pPr>
              <a:defRPr sz="1600" b="1">
                <a:solidFill>
                  <a:srgbClr val="FFFFFF"/>
                </a:solidFill>
              </a:defRPr>
            </a:pPr>
            <a:endParaRPr lang="fr-FR" sz="3200" noProof="0" dirty="0"/>
          </a:p>
          <a:p>
            <a:pPr>
              <a:defRPr sz="1600" b="1">
                <a:solidFill>
                  <a:srgbClr val="FFFFFF"/>
                </a:solidFill>
              </a:defRPr>
            </a:pPr>
            <a:r>
              <a:rPr lang="fr-FR" sz="2400" noProof="0" dirty="0"/>
              <a:t>Sous-champs sur valeurs autorisées</a:t>
            </a:r>
          </a:p>
        </p:txBody>
      </p:sp>
      <p:pic>
        <p:nvPicPr>
          <p:cNvPr id="5" name="Image 4">
            <a:extLst>
              <a:ext uri="{FF2B5EF4-FFF2-40B4-BE49-F238E27FC236}">
                <a16:creationId xmlns:a16="http://schemas.microsoft.com/office/drawing/2014/main" id="{E0105266-CDC6-014B-AABE-D5FA81787F10}"/>
              </a:ext>
            </a:extLst>
          </p:cNvPr>
          <p:cNvPicPr>
            <a:picLocks noChangeAspect="1"/>
          </p:cNvPicPr>
          <p:nvPr/>
        </p:nvPicPr>
        <p:blipFill>
          <a:blip r:embed="rId2"/>
          <a:stretch>
            <a:fillRect/>
          </a:stretch>
        </p:blipFill>
        <p:spPr>
          <a:xfrm>
            <a:off x="337566" y="3326492"/>
            <a:ext cx="10077450" cy="2338616"/>
          </a:xfrm>
          <a:prstGeom prst="rect">
            <a:avLst/>
          </a:prstGeom>
        </p:spPr>
      </p:pic>
    </p:spTree>
    <p:extLst>
      <p:ext uri="{BB962C8B-B14F-4D97-AF65-F5344CB8AC3E}">
        <p14:creationId xmlns:p14="http://schemas.microsoft.com/office/powerpoint/2010/main" val="36428111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C15D6BD-4F38-4858-FC1C-01FCD0143FD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FCE86BF-311B-E775-11E2-71678F885430}"/>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 name="TextBox 3">
            <a:extLst>
              <a:ext uri="{FF2B5EF4-FFF2-40B4-BE49-F238E27FC236}">
                <a16:creationId xmlns:a16="http://schemas.microsoft.com/office/drawing/2014/main" id="{C8F97DA2-8969-F2FC-E5ED-A36D594460BF}"/>
              </a:ext>
            </a:extLst>
          </p:cNvPr>
          <p:cNvSpPr txBox="1"/>
          <p:nvPr/>
        </p:nvSpPr>
        <p:spPr>
          <a:xfrm>
            <a:off x="316230" y="274481"/>
            <a:ext cx="7501890" cy="2726387"/>
          </a:xfrm>
          <a:prstGeom prst="rect">
            <a:avLst/>
          </a:prstGeom>
          <a:noFill/>
        </p:spPr>
        <p:txBody>
          <a:bodyPr wrap="square">
            <a:spAutoFit/>
          </a:bodyPr>
          <a:lstStyle/>
          <a:p>
            <a:pPr>
              <a:spcAft>
                <a:spcPts val="1100"/>
              </a:spcAft>
              <a:defRPr sz="1800">
                <a:solidFill>
                  <a:srgbClr val="23232D"/>
                </a:solidFill>
              </a:defRPr>
            </a:pPr>
            <a:r>
              <a:rPr lang="fr-FR" dirty="0">
                <a:solidFill>
                  <a:srgbClr val="002060"/>
                </a:solidFill>
              </a:rPr>
              <a:t>Les champs 000 et 100 contiennent des informations codées nécessaires à l’identification et au traitement de la notice. </a:t>
            </a:r>
          </a:p>
          <a:p>
            <a:pPr>
              <a:spcAft>
                <a:spcPts val="1100"/>
              </a:spcAft>
              <a:defRPr sz="1800">
                <a:solidFill>
                  <a:srgbClr val="23232D"/>
                </a:solidFill>
              </a:defRPr>
            </a:pPr>
            <a:r>
              <a:rPr lang="fr-FR" dirty="0">
                <a:solidFill>
                  <a:srgbClr val="002060"/>
                </a:solidFill>
              </a:rPr>
              <a:t>Le champ 000 (Label) précise notamment les caractéristiques générales de la notice, tandis que le 100 contient les données générales de traitement, notamment celles relatives aux dates de publication.</a:t>
            </a:r>
            <a:br>
              <a:rPr lang="fr-FR" dirty="0">
                <a:solidFill>
                  <a:srgbClr val="002060"/>
                </a:solidFill>
              </a:rPr>
            </a:br>
            <a:r>
              <a:rPr lang="fr-FR" dirty="0">
                <a:solidFill>
                  <a:srgbClr val="002060"/>
                </a:solidFill>
              </a:rPr>
              <a:t>Dans Koha, ces informations sont renseignées à l’aide d’un éditeur de champs, qui facilite la saisie des différentes positions codées.</a:t>
            </a:r>
            <a:br>
              <a:rPr lang="fr-FR" dirty="0">
                <a:solidFill>
                  <a:srgbClr val="002060"/>
                </a:solidFill>
              </a:rPr>
            </a:br>
            <a:r>
              <a:rPr lang="fr-FR" dirty="0">
                <a:solidFill>
                  <a:srgbClr val="002060"/>
                </a:solidFill>
              </a:rPr>
              <a:t>À retenir : ces champs sont peu lisibles directement, mais ils sont importants pour le traitement, la recherche et l’exploitation des notices.</a:t>
            </a:r>
          </a:p>
        </p:txBody>
      </p:sp>
      <p:sp>
        <p:nvSpPr>
          <p:cNvPr id="7" name="Rectangle 6">
            <a:extLst>
              <a:ext uri="{FF2B5EF4-FFF2-40B4-BE49-F238E27FC236}">
                <a16:creationId xmlns:a16="http://schemas.microsoft.com/office/drawing/2014/main" id="{39A3DF5D-BF77-EE91-C617-A3CC110A842E}"/>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9" name="TextBox 2">
            <a:extLst>
              <a:ext uri="{FF2B5EF4-FFF2-40B4-BE49-F238E27FC236}">
                <a16:creationId xmlns:a16="http://schemas.microsoft.com/office/drawing/2014/main" id="{0672E687-FEFB-3CB0-D645-0B64BF0EA48F}"/>
              </a:ext>
            </a:extLst>
          </p:cNvPr>
          <p:cNvSpPr txBox="1"/>
          <p:nvPr/>
        </p:nvSpPr>
        <p:spPr>
          <a:xfrm>
            <a:off x="8760542" y="914400"/>
            <a:ext cx="3352800" cy="1446550"/>
          </a:xfrm>
          <a:prstGeom prst="rect">
            <a:avLst/>
          </a:prstGeom>
          <a:noFill/>
        </p:spPr>
        <p:txBody>
          <a:bodyPr wrap="square">
            <a:spAutoFit/>
          </a:bodyPr>
          <a:lstStyle/>
          <a:p>
            <a:pPr>
              <a:defRPr sz="1600" b="1">
                <a:solidFill>
                  <a:srgbClr val="FFFFFF"/>
                </a:solidFill>
              </a:defRPr>
            </a:pPr>
            <a:r>
              <a:rPr lang="fr-FR" sz="3200" noProof="0" dirty="0"/>
              <a:t>Cataloguer </a:t>
            </a:r>
          </a:p>
          <a:p>
            <a:pPr>
              <a:defRPr sz="1600" b="1">
                <a:solidFill>
                  <a:srgbClr val="FFFFFF"/>
                </a:solidFill>
              </a:defRPr>
            </a:pPr>
            <a:endParaRPr lang="fr-FR" sz="3200" noProof="0" dirty="0"/>
          </a:p>
          <a:p>
            <a:pPr>
              <a:defRPr sz="1600" b="1">
                <a:solidFill>
                  <a:srgbClr val="FFFFFF"/>
                </a:solidFill>
              </a:defRPr>
            </a:pPr>
            <a:r>
              <a:rPr lang="fr-FR" sz="2400" noProof="0" dirty="0"/>
              <a:t>Champs 000 et 100</a:t>
            </a:r>
          </a:p>
        </p:txBody>
      </p:sp>
      <p:pic>
        <p:nvPicPr>
          <p:cNvPr id="5" name="Image 4">
            <a:extLst>
              <a:ext uri="{FF2B5EF4-FFF2-40B4-BE49-F238E27FC236}">
                <a16:creationId xmlns:a16="http://schemas.microsoft.com/office/drawing/2014/main" id="{5069B51B-4967-B1AC-9D11-75846D770039}"/>
              </a:ext>
            </a:extLst>
          </p:cNvPr>
          <p:cNvPicPr>
            <a:picLocks noChangeAspect="1"/>
          </p:cNvPicPr>
          <p:nvPr/>
        </p:nvPicPr>
        <p:blipFill>
          <a:blip r:embed="rId2"/>
          <a:stretch>
            <a:fillRect/>
          </a:stretch>
        </p:blipFill>
        <p:spPr>
          <a:xfrm>
            <a:off x="3914775" y="3099943"/>
            <a:ext cx="6686550" cy="3483576"/>
          </a:xfrm>
          <a:prstGeom prst="rect">
            <a:avLst/>
          </a:prstGeom>
        </p:spPr>
      </p:pic>
    </p:spTree>
    <p:extLst>
      <p:ext uri="{BB962C8B-B14F-4D97-AF65-F5344CB8AC3E}">
        <p14:creationId xmlns:p14="http://schemas.microsoft.com/office/powerpoint/2010/main" val="29086108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 name="TextBox 3"/>
          <p:cNvSpPr txBox="1"/>
          <p:nvPr/>
        </p:nvSpPr>
        <p:spPr>
          <a:xfrm>
            <a:off x="394335" y="501015"/>
            <a:ext cx="7501890" cy="2459648"/>
          </a:xfrm>
          <a:prstGeom prst="rect">
            <a:avLst/>
          </a:prstGeom>
          <a:noFill/>
        </p:spPr>
        <p:txBody>
          <a:bodyPr wrap="square">
            <a:spAutoFit/>
          </a:bodyPr>
          <a:lstStyle/>
          <a:p>
            <a:pPr>
              <a:spcAft>
                <a:spcPts val="1100"/>
              </a:spcAft>
              <a:defRPr sz="1800">
                <a:solidFill>
                  <a:srgbClr val="23232D"/>
                </a:solidFill>
              </a:defRPr>
            </a:pPr>
            <a:r>
              <a:rPr lang="fr-FR" noProof="0" dirty="0"/>
              <a:t>• Une notice bibliographique peut porter un ou plusieurs exemplaires.</a:t>
            </a:r>
          </a:p>
          <a:p>
            <a:pPr>
              <a:spcAft>
                <a:spcPts val="1100"/>
              </a:spcAft>
              <a:defRPr sz="1800">
                <a:solidFill>
                  <a:srgbClr val="23232D"/>
                </a:solidFill>
              </a:defRPr>
            </a:pPr>
            <a:r>
              <a:rPr lang="fr-FR" noProof="0" dirty="0"/>
              <a:t>• Renseigner le site propriétaire et le site dépositaire.</a:t>
            </a:r>
          </a:p>
          <a:p>
            <a:pPr>
              <a:spcAft>
                <a:spcPts val="1100"/>
              </a:spcAft>
              <a:defRPr sz="1800">
                <a:solidFill>
                  <a:srgbClr val="23232D"/>
                </a:solidFill>
              </a:defRPr>
            </a:pPr>
            <a:r>
              <a:rPr lang="fr-FR" noProof="0" dirty="0"/>
              <a:t>• Choisir la localisation prévue dans le référentiel commun.</a:t>
            </a:r>
          </a:p>
          <a:p>
            <a:pPr>
              <a:spcAft>
                <a:spcPts val="1100"/>
              </a:spcAft>
              <a:defRPr sz="1800">
                <a:solidFill>
                  <a:srgbClr val="23232D"/>
                </a:solidFill>
              </a:defRPr>
            </a:pPr>
            <a:r>
              <a:rPr lang="fr-FR" noProof="0" dirty="0"/>
              <a:t>• Saisir la cote et le code-barres selon les règles locales.</a:t>
            </a:r>
          </a:p>
          <a:p>
            <a:pPr>
              <a:spcAft>
                <a:spcPts val="1100"/>
              </a:spcAft>
              <a:defRPr sz="1800">
                <a:solidFill>
                  <a:srgbClr val="23232D"/>
                </a:solidFill>
              </a:defRPr>
            </a:pPr>
            <a:r>
              <a:rPr lang="fr-FR" noProof="0" dirty="0"/>
              <a:t>• Renseigner le statut et le type de prêt.</a:t>
            </a:r>
          </a:p>
          <a:p>
            <a:pPr>
              <a:spcAft>
                <a:spcPts val="1100"/>
              </a:spcAft>
              <a:defRPr sz="1800">
                <a:solidFill>
                  <a:srgbClr val="23232D"/>
                </a:solidFill>
              </a:defRPr>
            </a:pPr>
            <a:r>
              <a:rPr lang="fr-FR" noProof="0" dirty="0"/>
              <a:t>• Contrôler que l’exemplaire est rattaché à la bonne notice.</a:t>
            </a:r>
          </a:p>
        </p:txBody>
      </p:sp>
      <p:sp>
        <p:nvSpPr>
          <p:cNvPr id="7" name="Rectangle 6">
            <a:extLst>
              <a:ext uri="{FF2B5EF4-FFF2-40B4-BE49-F238E27FC236}">
                <a16:creationId xmlns:a16="http://schemas.microsoft.com/office/drawing/2014/main" id="{E9B7746A-6FA3-A5F0-EFE7-CD2C83EDAEFD}"/>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9" name="TextBox 2">
            <a:extLst>
              <a:ext uri="{FF2B5EF4-FFF2-40B4-BE49-F238E27FC236}">
                <a16:creationId xmlns:a16="http://schemas.microsoft.com/office/drawing/2014/main" id="{9B481347-6C97-CCC1-8461-C5A441FD6325}"/>
              </a:ext>
            </a:extLst>
          </p:cNvPr>
          <p:cNvSpPr txBox="1"/>
          <p:nvPr/>
        </p:nvSpPr>
        <p:spPr>
          <a:xfrm>
            <a:off x="8760542" y="914400"/>
            <a:ext cx="3352800" cy="584775"/>
          </a:xfrm>
          <a:prstGeom prst="rect">
            <a:avLst/>
          </a:prstGeom>
          <a:noFill/>
        </p:spPr>
        <p:txBody>
          <a:bodyPr wrap="square">
            <a:spAutoFit/>
          </a:bodyPr>
          <a:lstStyle/>
          <a:p>
            <a:pPr>
              <a:defRPr sz="1600" b="1">
                <a:solidFill>
                  <a:srgbClr val="FFFFFF"/>
                </a:solidFill>
              </a:defRPr>
            </a:pPr>
            <a:r>
              <a:rPr lang="fr-FR" sz="3200" noProof="0" dirty="0"/>
              <a:t>Créer l’exemplaire</a:t>
            </a:r>
          </a:p>
        </p:txBody>
      </p:sp>
      <p:pic>
        <p:nvPicPr>
          <p:cNvPr id="11" name="Image 10">
            <a:extLst>
              <a:ext uri="{FF2B5EF4-FFF2-40B4-BE49-F238E27FC236}">
                <a16:creationId xmlns:a16="http://schemas.microsoft.com/office/drawing/2014/main" id="{8C9D329A-109F-D99F-6FF5-50907B90352F}"/>
              </a:ext>
            </a:extLst>
          </p:cNvPr>
          <p:cNvPicPr>
            <a:picLocks noChangeAspect="1"/>
          </p:cNvPicPr>
          <p:nvPr/>
        </p:nvPicPr>
        <p:blipFill>
          <a:blip r:embed="rId2"/>
          <a:stretch>
            <a:fillRect/>
          </a:stretch>
        </p:blipFill>
        <p:spPr>
          <a:xfrm>
            <a:off x="394335" y="3102262"/>
            <a:ext cx="10858570" cy="2152650"/>
          </a:xfrm>
          <a:prstGeom prst="rect">
            <a:avLst/>
          </a:prstGeom>
        </p:spPr>
      </p:pic>
      <p:sp>
        <p:nvSpPr>
          <p:cNvPr id="30" name="ZoneTexte 29">
            <a:extLst>
              <a:ext uri="{FF2B5EF4-FFF2-40B4-BE49-F238E27FC236}">
                <a16:creationId xmlns:a16="http://schemas.microsoft.com/office/drawing/2014/main" id="{6ED99D1B-C2BD-5663-238D-DEEFC47991D2}"/>
              </a:ext>
            </a:extLst>
          </p:cNvPr>
          <p:cNvSpPr txBox="1"/>
          <p:nvPr/>
        </p:nvSpPr>
        <p:spPr>
          <a:xfrm>
            <a:off x="-47625" y="5396511"/>
            <a:ext cx="8496299" cy="1231106"/>
          </a:xfrm>
          <a:prstGeom prst="rect">
            <a:avLst/>
          </a:prstGeom>
          <a:noFill/>
        </p:spPr>
        <p:txBody>
          <a:bodyPr wrap="square">
            <a:spAutoFit/>
          </a:bodyPr>
          <a:lstStyle/>
          <a:p>
            <a:pPr marL="457200" lvl="1" indent="0">
              <a:buNone/>
            </a:pPr>
            <a:r>
              <a:rPr lang="fr-FR" sz="1400" b="1" dirty="0"/>
              <a:t>Si vous êtes connecté sur votre site d’origine, les informations de la notice d’exemplaire se remplissent automatiquement : </a:t>
            </a:r>
          </a:p>
          <a:p>
            <a:pPr marL="457200" lvl="1" indent="0">
              <a:buNone/>
            </a:pPr>
            <a:endParaRPr lang="fr-FR" sz="1400" b="1" dirty="0"/>
          </a:p>
          <a:p>
            <a:pPr marL="457200" lvl="1" indent="0">
              <a:buNone/>
            </a:pPr>
            <a:r>
              <a:rPr lang="fr-FR" sz="1600" b="1" dirty="0"/>
              <a:t>b - Site Propriétaire / c - Site Dépositaire / o - Statut / r - Type de prêt</a:t>
            </a:r>
          </a:p>
          <a:p>
            <a:pPr marL="457200" lvl="1" indent="0">
              <a:buNone/>
            </a:pPr>
            <a:r>
              <a:rPr lang="fr-FR" sz="1600" dirty="0"/>
              <a:t>Cliquer sur « Ajouter un exemplaire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784BCC9-1C8C-377E-9B85-9F5CD981787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A6D2CAE-6A04-E22F-AFC4-8239F8A80707}"/>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822CB157-B8D2-8FB6-C473-C0FDF89D11A8}"/>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9" name="TextBox 2">
            <a:extLst>
              <a:ext uri="{FF2B5EF4-FFF2-40B4-BE49-F238E27FC236}">
                <a16:creationId xmlns:a16="http://schemas.microsoft.com/office/drawing/2014/main" id="{FEC6850D-BFDB-B82D-9CEB-FC20DF6F5EB9}"/>
              </a:ext>
            </a:extLst>
          </p:cNvPr>
          <p:cNvSpPr txBox="1"/>
          <p:nvPr/>
        </p:nvSpPr>
        <p:spPr>
          <a:xfrm>
            <a:off x="8760542" y="914400"/>
            <a:ext cx="3352800" cy="584775"/>
          </a:xfrm>
          <a:prstGeom prst="rect">
            <a:avLst/>
          </a:prstGeom>
          <a:noFill/>
        </p:spPr>
        <p:txBody>
          <a:bodyPr wrap="square">
            <a:spAutoFit/>
          </a:bodyPr>
          <a:lstStyle/>
          <a:p>
            <a:pPr>
              <a:defRPr sz="1600" b="1">
                <a:solidFill>
                  <a:srgbClr val="FFFFFF"/>
                </a:solidFill>
              </a:defRPr>
            </a:pPr>
            <a:r>
              <a:rPr lang="fr-FR" sz="3200" noProof="0" dirty="0"/>
              <a:t>Créer l’exemplaire</a:t>
            </a:r>
          </a:p>
        </p:txBody>
      </p:sp>
      <p:pic>
        <p:nvPicPr>
          <p:cNvPr id="13" name="Image 12">
            <a:extLst>
              <a:ext uri="{FF2B5EF4-FFF2-40B4-BE49-F238E27FC236}">
                <a16:creationId xmlns:a16="http://schemas.microsoft.com/office/drawing/2014/main" id="{29494AC9-4EFC-6488-2F45-BB5FC26F72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2009" y="1104059"/>
            <a:ext cx="806824" cy="806824"/>
          </a:xfrm>
          <a:prstGeom prst="rect">
            <a:avLst/>
          </a:prstGeom>
        </p:spPr>
      </p:pic>
      <p:pic>
        <p:nvPicPr>
          <p:cNvPr id="14" name="Image 13">
            <a:extLst>
              <a:ext uri="{FF2B5EF4-FFF2-40B4-BE49-F238E27FC236}">
                <a16:creationId xmlns:a16="http://schemas.microsoft.com/office/drawing/2014/main" id="{DD9AAAE9-C815-EB80-0693-B9D29CA3AC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22376" y="1104059"/>
            <a:ext cx="806824" cy="806824"/>
          </a:xfrm>
          <a:prstGeom prst="rect">
            <a:avLst/>
          </a:prstGeom>
        </p:spPr>
      </p:pic>
      <p:pic>
        <p:nvPicPr>
          <p:cNvPr id="15" name="Image 14">
            <a:extLst>
              <a:ext uri="{FF2B5EF4-FFF2-40B4-BE49-F238E27FC236}">
                <a16:creationId xmlns:a16="http://schemas.microsoft.com/office/drawing/2014/main" id="{5A793BB5-BC6B-B244-A86E-A530FD3344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22376" y="2117071"/>
            <a:ext cx="806824" cy="806824"/>
          </a:xfrm>
          <a:prstGeom prst="rect">
            <a:avLst/>
          </a:prstGeom>
        </p:spPr>
      </p:pic>
      <p:pic>
        <p:nvPicPr>
          <p:cNvPr id="16" name="Image 15">
            <a:extLst>
              <a:ext uri="{FF2B5EF4-FFF2-40B4-BE49-F238E27FC236}">
                <a16:creationId xmlns:a16="http://schemas.microsoft.com/office/drawing/2014/main" id="{8D5B403C-8797-00DE-724D-B76A2C7291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22376" y="3130083"/>
            <a:ext cx="806824" cy="806824"/>
          </a:xfrm>
          <a:prstGeom prst="rect">
            <a:avLst/>
          </a:prstGeom>
        </p:spPr>
      </p:pic>
      <p:sp>
        <p:nvSpPr>
          <p:cNvPr id="17" name="Rectangle 16">
            <a:extLst>
              <a:ext uri="{FF2B5EF4-FFF2-40B4-BE49-F238E27FC236}">
                <a16:creationId xmlns:a16="http://schemas.microsoft.com/office/drawing/2014/main" id="{AE51AA0D-9D0C-5414-4499-6C2914D27088}"/>
              </a:ext>
            </a:extLst>
          </p:cNvPr>
          <p:cNvSpPr/>
          <p:nvPr/>
        </p:nvSpPr>
        <p:spPr>
          <a:xfrm>
            <a:off x="411731" y="2923895"/>
            <a:ext cx="1847380" cy="261610"/>
          </a:xfrm>
          <a:prstGeom prst="rect">
            <a:avLst/>
          </a:prstGeom>
        </p:spPr>
        <p:txBody>
          <a:bodyPr wrap="square">
            <a:spAutoFit/>
          </a:bodyPr>
          <a:lstStyle/>
          <a:p>
            <a:r>
              <a:rPr lang="fr-FR" sz="1100" b="1" dirty="0"/>
              <a:t>1 notice bibliographique</a:t>
            </a:r>
            <a:endParaRPr lang="fr-FR" sz="1100" dirty="0"/>
          </a:p>
        </p:txBody>
      </p:sp>
      <p:cxnSp>
        <p:nvCxnSpPr>
          <p:cNvPr id="18" name="Connecteur droit avec flèche 17">
            <a:extLst>
              <a:ext uri="{FF2B5EF4-FFF2-40B4-BE49-F238E27FC236}">
                <a16:creationId xmlns:a16="http://schemas.microsoft.com/office/drawing/2014/main" id="{59F4F89F-C7E3-D80F-3346-4571673C4D57}"/>
              </a:ext>
            </a:extLst>
          </p:cNvPr>
          <p:cNvCxnSpPr>
            <a:stCxn id="13" idx="2"/>
            <a:endCxn id="17" idx="0"/>
          </p:cNvCxnSpPr>
          <p:nvPr/>
        </p:nvCxnSpPr>
        <p:spPr>
          <a:xfrm>
            <a:off x="1335421" y="1910883"/>
            <a:ext cx="0" cy="1013012"/>
          </a:xfrm>
          <a:prstGeom prst="straightConnector1">
            <a:avLst/>
          </a:prstGeom>
          <a:ln w="2222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9" name="Connecteur droit avec flèche 18">
            <a:extLst>
              <a:ext uri="{FF2B5EF4-FFF2-40B4-BE49-F238E27FC236}">
                <a16:creationId xmlns:a16="http://schemas.microsoft.com/office/drawing/2014/main" id="{008023FC-1ACF-3C86-BF03-34BA6C2D7483}"/>
              </a:ext>
            </a:extLst>
          </p:cNvPr>
          <p:cNvCxnSpPr>
            <a:stCxn id="17" idx="3"/>
            <a:endCxn id="14" idx="1"/>
          </p:cNvCxnSpPr>
          <p:nvPr/>
        </p:nvCxnSpPr>
        <p:spPr>
          <a:xfrm flipV="1">
            <a:off x="2259111" y="1507471"/>
            <a:ext cx="1963265" cy="1547229"/>
          </a:xfrm>
          <a:prstGeom prst="bentConnector3">
            <a:avLst>
              <a:gd name="adj1" fmla="val 50000"/>
            </a:avLst>
          </a:prstGeom>
          <a:ln w="2222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0" name="Connecteur droit avec flèche 18">
            <a:extLst>
              <a:ext uri="{FF2B5EF4-FFF2-40B4-BE49-F238E27FC236}">
                <a16:creationId xmlns:a16="http://schemas.microsoft.com/office/drawing/2014/main" id="{3A5217DA-F7FD-0096-68A0-6DE7BB054914}"/>
              </a:ext>
            </a:extLst>
          </p:cNvPr>
          <p:cNvCxnSpPr>
            <a:stCxn id="17" idx="3"/>
            <a:endCxn id="15" idx="1"/>
          </p:cNvCxnSpPr>
          <p:nvPr/>
        </p:nvCxnSpPr>
        <p:spPr>
          <a:xfrm flipV="1">
            <a:off x="2259111" y="2520483"/>
            <a:ext cx="1963265" cy="534217"/>
          </a:xfrm>
          <a:prstGeom prst="bentConnector3">
            <a:avLst>
              <a:gd name="adj1" fmla="val 50000"/>
            </a:avLst>
          </a:prstGeom>
          <a:ln w="2222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1" name="Connecteur droit avec flèche 18">
            <a:extLst>
              <a:ext uri="{FF2B5EF4-FFF2-40B4-BE49-F238E27FC236}">
                <a16:creationId xmlns:a16="http://schemas.microsoft.com/office/drawing/2014/main" id="{5EC2C85D-7E5A-16FB-31B4-575F822705B2}"/>
              </a:ext>
            </a:extLst>
          </p:cNvPr>
          <p:cNvCxnSpPr>
            <a:stCxn id="17" idx="3"/>
            <a:endCxn id="16" idx="1"/>
          </p:cNvCxnSpPr>
          <p:nvPr/>
        </p:nvCxnSpPr>
        <p:spPr>
          <a:xfrm>
            <a:off x="2259111" y="3054700"/>
            <a:ext cx="1963265" cy="478795"/>
          </a:xfrm>
          <a:prstGeom prst="bentConnector3">
            <a:avLst>
              <a:gd name="adj1" fmla="val 50000"/>
            </a:avLst>
          </a:prstGeom>
          <a:ln w="2222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302B6781-9C80-5F1F-C7F4-5092606D96D2}"/>
              </a:ext>
            </a:extLst>
          </p:cNvPr>
          <p:cNvSpPr/>
          <p:nvPr/>
        </p:nvSpPr>
        <p:spPr>
          <a:xfrm>
            <a:off x="7137241" y="2264168"/>
            <a:ext cx="1847380" cy="430887"/>
          </a:xfrm>
          <a:prstGeom prst="rect">
            <a:avLst/>
          </a:prstGeom>
        </p:spPr>
        <p:txBody>
          <a:bodyPr wrap="square">
            <a:spAutoFit/>
          </a:bodyPr>
          <a:lstStyle/>
          <a:p>
            <a:r>
              <a:rPr lang="fr-FR" sz="1100" b="1" dirty="0"/>
              <a:t>1  ou plusieurs notices d’exemplaires</a:t>
            </a:r>
          </a:p>
        </p:txBody>
      </p:sp>
      <p:pic>
        <p:nvPicPr>
          <p:cNvPr id="23" name="Picture 2" descr="X Logo Archives nationales – APrévU">
            <a:extLst>
              <a:ext uri="{FF2B5EF4-FFF2-40B4-BE49-F238E27FC236}">
                <a16:creationId xmlns:a16="http://schemas.microsoft.com/office/drawing/2014/main" id="{4C36A9D7-31E5-EF20-FD41-930709AB97E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46065" y="1213318"/>
            <a:ext cx="1698064" cy="375956"/>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4" descr="Ministère de la culture">
            <a:extLst>
              <a:ext uri="{FF2B5EF4-FFF2-40B4-BE49-F238E27FC236}">
                <a16:creationId xmlns:a16="http://schemas.microsoft.com/office/drawing/2014/main" id="{559E997F-1F7F-775E-0274-7B830FB1D84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46065" y="2117071"/>
            <a:ext cx="938119" cy="72480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8" descr="La MAP devient la MPP | Médiathèque du patrimoine et de la photographie">
            <a:extLst>
              <a:ext uri="{FF2B5EF4-FFF2-40B4-BE49-F238E27FC236}">
                <a16:creationId xmlns:a16="http://schemas.microsoft.com/office/drawing/2014/main" id="{361E6365-5C10-A759-B237-FC95BACEF58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46065" y="3222366"/>
            <a:ext cx="1249388" cy="524744"/>
          </a:xfrm>
          <a:prstGeom prst="rect">
            <a:avLst/>
          </a:prstGeom>
          <a:noFill/>
          <a:extLst>
            <a:ext uri="{909E8E84-426E-40DD-AFC4-6F175D3DCCD1}">
              <a14:hiddenFill xmlns:a14="http://schemas.microsoft.com/office/drawing/2010/main">
                <a:solidFill>
                  <a:srgbClr val="FFFFFF"/>
                </a:solidFill>
              </a14:hiddenFill>
            </a:ext>
          </a:extLst>
        </p:spPr>
      </p:pic>
      <p:cxnSp>
        <p:nvCxnSpPr>
          <p:cNvPr id="26" name="Connecteur droit avec flèche 18">
            <a:extLst>
              <a:ext uri="{FF2B5EF4-FFF2-40B4-BE49-F238E27FC236}">
                <a16:creationId xmlns:a16="http://schemas.microsoft.com/office/drawing/2014/main" id="{1559F8DF-892A-DD56-FF42-476B16ABD27B}"/>
              </a:ext>
            </a:extLst>
          </p:cNvPr>
          <p:cNvCxnSpPr>
            <a:stCxn id="23" idx="3"/>
            <a:endCxn id="22" idx="0"/>
          </p:cNvCxnSpPr>
          <p:nvPr/>
        </p:nvCxnSpPr>
        <p:spPr>
          <a:xfrm>
            <a:off x="6844129" y="1401296"/>
            <a:ext cx="1216802" cy="862872"/>
          </a:xfrm>
          <a:prstGeom prst="bentConnector2">
            <a:avLst/>
          </a:prstGeom>
          <a:ln w="2222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7" name="Connecteur droit avec flèche 18">
            <a:extLst>
              <a:ext uri="{FF2B5EF4-FFF2-40B4-BE49-F238E27FC236}">
                <a16:creationId xmlns:a16="http://schemas.microsoft.com/office/drawing/2014/main" id="{F848201E-DC23-BA35-6751-B81FBE2F2806}"/>
              </a:ext>
            </a:extLst>
          </p:cNvPr>
          <p:cNvCxnSpPr>
            <a:stCxn id="25" idx="3"/>
            <a:endCxn id="22" idx="2"/>
          </p:cNvCxnSpPr>
          <p:nvPr/>
        </p:nvCxnSpPr>
        <p:spPr>
          <a:xfrm flipV="1">
            <a:off x="6395453" y="2695055"/>
            <a:ext cx="1665478" cy="789683"/>
          </a:xfrm>
          <a:prstGeom prst="bentConnector2">
            <a:avLst/>
          </a:prstGeom>
          <a:ln w="2222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8" name="Connecteur droit avec flèche 18">
            <a:extLst>
              <a:ext uri="{FF2B5EF4-FFF2-40B4-BE49-F238E27FC236}">
                <a16:creationId xmlns:a16="http://schemas.microsoft.com/office/drawing/2014/main" id="{471F3220-E0F0-B9D6-E086-67C8D79D39E7}"/>
              </a:ext>
            </a:extLst>
          </p:cNvPr>
          <p:cNvCxnSpPr>
            <a:stCxn id="24" idx="3"/>
            <a:endCxn id="22" idx="1"/>
          </p:cNvCxnSpPr>
          <p:nvPr/>
        </p:nvCxnSpPr>
        <p:spPr>
          <a:xfrm>
            <a:off x="6084184" y="2479474"/>
            <a:ext cx="1053057" cy="138"/>
          </a:xfrm>
          <a:prstGeom prst="bentConnector3">
            <a:avLst>
              <a:gd name="adj1" fmla="val 50000"/>
            </a:avLst>
          </a:prstGeom>
          <a:ln w="2222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5" name="Image 4">
            <a:extLst>
              <a:ext uri="{FF2B5EF4-FFF2-40B4-BE49-F238E27FC236}">
                <a16:creationId xmlns:a16="http://schemas.microsoft.com/office/drawing/2014/main" id="{C0357065-C7F9-6669-F12A-CFCA91105C80}"/>
              </a:ext>
            </a:extLst>
          </p:cNvPr>
          <p:cNvPicPr>
            <a:picLocks noChangeAspect="1"/>
          </p:cNvPicPr>
          <p:nvPr/>
        </p:nvPicPr>
        <p:blipFill>
          <a:blip r:embed="rId6"/>
          <a:srcRect l="29062" r="27216"/>
          <a:stretch>
            <a:fillRect/>
          </a:stretch>
        </p:blipFill>
        <p:spPr>
          <a:xfrm>
            <a:off x="5146065" y="4274421"/>
            <a:ext cx="1249388" cy="1076325"/>
          </a:xfrm>
          <a:prstGeom prst="rect">
            <a:avLst/>
          </a:prstGeom>
        </p:spPr>
      </p:pic>
      <p:pic>
        <p:nvPicPr>
          <p:cNvPr id="8" name="Image 7">
            <a:extLst>
              <a:ext uri="{FF2B5EF4-FFF2-40B4-BE49-F238E27FC236}">
                <a16:creationId xmlns:a16="http://schemas.microsoft.com/office/drawing/2014/main" id="{D2871177-6DA2-0589-AD1E-8B88B03645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22376" y="4293191"/>
            <a:ext cx="806824" cy="806824"/>
          </a:xfrm>
          <a:prstGeom prst="rect">
            <a:avLst/>
          </a:prstGeom>
        </p:spPr>
      </p:pic>
      <p:cxnSp>
        <p:nvCxnSpPr>
          <p:cNvPr id="10" name="Connecteur droit avec flèche 18">
            <a:extLst>
              <a:ext uri="{FF2B5EF4-FFF2-40B4-BE49-F238E27FC236}">
                <a16:creationId xmlns:a16="http://schemas.microsoft.com/office/drawing/2014/main" id="{38A94AEA-0A24-2923-F287-E1986D113A65}"/>
              </a:ext>
            </a:extLst>
          </p:cNvPr>
          <p:cNvCxnSpPr>
            <a:cxnSpLocks/>
            <a:stCxn id="17" idx="3"/>
            <a:endCxn id="8" idx="1"/>
          </p:cNvCxnSpPr>
          <p:nvPr/>
        </p:nvCxnSpPr>
        <p:spPr>
          <a:xfrm>
            <a:off x="2259111" y="3054700"/>
            <a:ext cx="1963265" cy="1641903"/>
          </a:xfrm>
          <a:prstGeom prst="bentConnector3">
            <a:avLst>
              <a:gd name="adj1" fmla="val 50000"/>
            </a:avLst>
          </a:prstGeom>
          <a:ln w="2222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31" name="Connecteur droit avec flèche 18">
            <a:extLst>
              <a:ext uri="{FF2B5EF4-FFF2-40B4-BE49-F238E27FC236}">
                <a16:creationId xmlns:a16="http://schemas.microsoft.com/office/drawing/2014/main" id="{9A902CBE-3EF4-3E1B-7B43-BADF768D7AC1}"/>
              </a:ext>
            </a:extLst>
          </p:cNvPr>
          <p:cNvCxnSpPr>
            <a:cxnSpLocks/>
            <a:stCxn id="5" idx="3"/>
            <a:endCxn id="22" idx="2"/>
          </p:cNvCxnSpPr>
          <p:nvPr/>
        </p:nvCxnSpPr>
        <p:spPr>
          <a:xfrm flipV="1">
            <a:off x="6395453" y="2695055"/>
            <a:ext cx="1665478" cy="2117529"/>
          </a:xfrm>
          <a:prstGeom prst="bentConnector2">
            <a:avLst/>
          </a:prstGeom>
          <a:ln w="2222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37524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E4D3814-1CEC-C4BE-FAC1-96146F032B0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FDCC5F9-1712-F9C2-0A6B-EB5602A28BB2}"/>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4BC23769-F273-16BD-FBD0-513A060E9038}"/>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9" name="TextBox 2">
            <a:extLst>
              <a:ext uri="{FF2B5EF4-FFF2-40B4-BE49-F238E27FC236}">
                <a16:creationId xmlns:a16="http://schemas.microsoft.com/office/drawing/2014/main" id="{FFF5EBBB-56D8-DA61-AD0E-04AEE5EE96EA}"/>
              </a:ext>
            </a:extLst>
          </p:cNvPr>
          <p:cNvSpPr txBox="1"/>
          <p:nvPr/>
        </p:nvSpPr>
        <p:spPr>
          <a:xfrm>
            <a:off x="8760542" y="914400"/>
            <a:ext cx="3352800" cy="584775"/>
          </a:xfrm>
          <a:prstGeom prst="rect">
            <a:avLst/>
          </a:prstGeom>
          <a:noFill/>
        </p:spPr>
        <p:txBody>
          <a:bodyPr wrap="square">
            <a:spAutoFit/>
          </a:bodyPr>
          <a:lstStyle/>
          <a:p>
            <a:pPr>
              <a:defRPr sz="1600" b="1">
                <a:solidFill>
                  <a:srgbClr val="FFFFFF"/>
                </a:solidFill>
              </a:defRPr>
            </a:pPr>
            <a:r>
              <a:rPr lang="fr-FR" sz="3200" noProof="0" dirty="0"/>
              <a:t>Rappel</a:t>
            </a:r>
          </a:p>
        </p:txBody>
      </p:sp>
      <p:sp>
        <p:nvSpPr>
          <p:cNvPr id="4" name="ZoneTexte 3">
            <a:extLst>
              <a:ext uri="{FF2B5EF4-FFF2-40B4-BE49-F238E27FC236}">
                <a16:creationId xmlns:a16="http://schemas.microsoft.com/office/drawing/2014/main" id="{73CA35AF-50B6-BB3E-6E4F-5BA6F8CF1AA7}"/>
              </a:ext>
            </a:extLst>
          </p:cNvPr>
          <p:cNvSpPr txBox="1"/>
          <p:nvPr/>
        </p:nvSpPr>
        <p:spPr>
          <a:xfrm>
            <a:off x="78658" y="624453"/>
            <a:ext cx="8227142" cy="3139321"/>
          </a:xfrm>
          <a:prstGeom prst="rect">
            <a:avLst/>
          </a:prstGeom>
          <a:noFill/>
        </p:spPr>
        <p:txBody>
          <a:bodyPr wrap="square">
            <a:spAutoFit/>
          </a:bodyPr>
          <a:lstStyle/>
          <a:p>
            <a:pPr marL="457200" lvl="1" indent="0">
              <a:buNone/>
            </a:pPr>
            <a:r>
              <a:rPr lang="fr-FR" dirty="0">
                <a:solidFill>
                  <a:srgbClr val="141991"/>
                </a:solidFill>
              </a:rPr>
              <a:t>Nous avons créé une nouvelle notice dans KOHA en respectant les étapes suivantes : </a:t>
            </a:r>
          </a:p>
          <a:p>
            <a:pPr marL="457200" lvl="1" indent="0">
              <a:buNone/>
            </a:pPr>
            <a:endParaRPr lang="fr-FR" dirty="0">
              <a:solidFill>
                <a:srgbClr val="141991"/>
              </a:solidFill>
            </a:endParaRPr>
          </a:p>
          <a:p>
            <a:pPr marL="800100" lvl="1" indent="-342900">
              <a:buAutoNum type="arabicPeriod"/>
            </a:pPr>
            <a:r>
              <a:rPr lang="fr-FR" dirty="0">
                <a:solidFill>
                  <a:srgbClr val="141991"/>
                </a:solidFill>
              </a:rPr>
              <a:t>Vérifier la présence du document dans KOHA</a:t>
            </a:r>
          </a:p>
          <a:p>
            <a:pPr marL="800100" lvl="1" indent="-342900">
              <a:buAutoNum type="arabicPeriod"/>
            </a:pPr>
            <a:r>
              <a:rPr lang="fr-FR" dirty="0">
                <a:solidFill>
                  <a:srgbClr val="141991"/>
                </a:solidFill>
              </a:rPr>
              <a:t>Dériver la notice depuis les cibles de recherche (BNF et SUDOC) en utilisant l’ISBN.</a:t>
            </a:r>
            <a:br>
              <a:rPr lang="fr-FR" dirty="0">
                <a:solidFill>
                  <a:srgbClr val="141991"/>
                </a:solidFill>
              </a:rPr>
            </a:br>
            <a:r>
              <a:rPr lang="fr-FR" dirty="0">
                <a:solidFill>
                  <a:srgbClr val="141991"/>
                </a:solidFill>
              </a:rPr>
              <a:t>Ou cataloguer la notice livre en main</a:t>
            </a:r>
          </a:p>
          <a:p>
            <a:pPr marL="800100" lvl="1" indent="-342900">
              <a:buAutoNum type="arabicPeriod"/>
            </a:pPr>
            <a:r>
              <a:rPr lang="fr-FR" dirty="0">
                <a:solidFill>
                  <a:srgbClr val="141991"/>
                </a:solidFill>
              </a:rPr>
              <a:t>Vérifier les champs de la notice importée ou créée</a:t>
            </a:r>
          </a:p>
          <a:p>
            <a:pPr marL="800100" lvl="1" indent="-342900">
              <a:buAutoNum type="arabicPeriod"/>
            </a:pPr>
            <a:r>
              <a:rPr lang="fr-FR" dirty="0">
                <a:solidFill>
                  <a:srgbClr val="141991"/>
                </a:solidFill>
              </a:rPr>
              <a:t>Renseigner les champs obligatoires</a:t>
            </a:r>
          </a:p>
          <a:p>
            <a:pPr marL="800100" lvl="1" indent="-342900">
              <a:buAutoNum type="arabicPeriod"/>
            </a:pPr>
            <a:r>
              <a:rPr lang="fr-FR" dirty="0">
                <a:solidFill>
                  <a:srgbClr val="141991"/>
                </a:solidFill>
              </a:rPr>
              <a:t>Enregistrer pour créer une notice d’exemplaire</a:t>
            </a:r>
          </a:p>
          <a:p>
            <a:pPr marL="800100" lvl="1" indent="-342900">
              <a:buAutoNum type="arabicPeriod"/>
            </a:pPr>
            <a:r>
              <a:rPr lang="fr-FR" dirty="0">
                <a:solidFill>
                  <a:srgbClr val="141991"/>
                </a:solidFill>
              </a:rPr>
              <a:t>Enregistrement final</a:t>
            </a:r>
          </a:p>
        </p:txBody>
      </p:sp>
    </p:spTree>
    <p:extLst>
      <p:ext uri="{BB962C8B-B14F-4D97-AF65-F5344CB8AC3E}">
        <p14:creationId xmlns:p14="http://schemas.microsoft.com/office/powerpoint/2010/main" val="40492483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61010" y="558165"/>
            <a:ext cx="7559040" cy="2595582"/>
          </a:xfrm>
          <a:prstGeom prst="rect">
            <a:avLst/>
          </a:prstGeom>
          <a:noFill/>
        </p:spPr>
        <p:txBody>
          <a:bodyPr wrap="square">
            <a:spAutoFit/>
          </a:bodyPr>
          <a:lstStyle/>
          <a:p>
            <a:pPr>
              <a:spcAft>
                <a:spcPts val="1100"/>
              </a:spcAft>
              <a:defRPr sz="1800">
                <a:solidFill>
                  <a:srgbClr val="23232D"/>
                </a:solidFill>
              </a:defRPr>
            </a:pPr>
            <a:r>
              <a:rPr lang="fr-FR" noProof="0" dirty="0">
                <a:solidFill>
                  <a:srgbClr val="141991"/>
                </a:solidFill>
              </a:rPr>
              <a:t>• Exercice 1 — Rechercher trois documents et décider : notice existante ou nouvelle dérivation ?</a:t>
            </a:r>
          </a:p>
          <a:p>
            <a:pPr>
              <a:spcAft>
                <a:spcPts val="1100"/>
              </a:spcAft>
              <a:defRPr sz="1800">
                <a:solidFill>
                  <a:srgbClr val="23232D"/>
                </a:solidFill>
              </a:defRPr>
            </a:pPr>
            <a:r>
              <a:rPr lang="fr-FR" noProof="0" dirty="0">
                <a:solidFill>
                  <a:srgbClr val="141991"/>
                </a:solidFill>
              </a:rPr>
              <a:t>• Exercice 2 — Dériver une notice depuis un réservoir externe.</a:t>
            </a:r>
          </a:p>
          <a:p>
            <a:pPr>
              <a:spcAft>
                <a:spcPts val="1100"/>
              </a:spcAft>
              <a:defRPr sz="1800">
                <a:solidFill>
                  <a:srgbClr val="23232D"/>
                </a:solidFill>
              </a:defRPr>
            </a:pPr>
            <a:r>
              <a:rPr lang="fr-FR" noProof="0" dirty="0">
                <a:solidFill>
                  <a:srgbClr val="141991"/>
                </a:solidFill>
              </a:rPr>
              <a:t>• Exercice 3 — Identifier et corriger les informations à contrôler dans la notice importée.</a:t>
            </a:r>
          </a:p>
          <a:p>
            <a:pPr>
              <a:spcAft>
                <a:spcPts val="1100"/>
              </a:spcAft>
              <a:defRPr sz="1800">
                <a:solidFill>
                  <a:srgbClr val="23232D"/>
                </a:solidFill>
              </a:defRPr>
            </a:pPr>
            <a:r>
              <a:rPr lang="fr-FR" noProof="0" dirty="0">
                <a:solidFill>
                  <a:srgbClr val="141991"/>
                </a:solidFill>
              </a:rPr>
              <a:t>• Exercice 4 — Créer l’exemplaire de sa DRAC.</a:t>
            </a:r>
          </a:p>
          <a:p>
            <a:pPr>
              <a:spcAft>
                <a:spcPts val="1100"/>
              </a:spcAft>
              <a:defRPr sz="1800">
                <a:solidFill>
                  <a:srgbClr val="23232D"/>
                </a:solidFill>
              </a:defRPr>
            </a:pPr>
            <a:r>
              <a:rPr lang="fr-FR" noProof="0" dirty="0">
                <a:solidFill>
                  <a:srgbClr val="141991"/>
                </a:solidFill>
              </a:rPr>
              <a:t>• Exercice 5 — Vérifier le résultat dans Koha.</a:t>
            </a:r>
          </a:p>
        </p:txBody>
      </p:sp>
      <p:sp>
        <p:nvSpPr>
          <p:cNvPr id="8" name="Rectangle 7">
            <a:extLst>
              <a:ext uri="{FF2B5EF4-FFF2-40B4-BE49-F238E27FC236}">
                <a16:creationId xmlns:a16="http://schemas.microsoft.com/office/drawing/2014/main" id="{5723BE3C-38DE-ADD2-2691-DF59E04F71BD}"/>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0" name="TextBox 2">
            <a:extLst>
              <a:ext uri="{FF2B5EF4-FFF2-40B4-BE49-F238E27FC236}">
                <a16:creationId xmlns:a16="http://schemas.microsoft.com/office/drawing/2014/main" id="{33F66687-4B99-600E-3A21-C8C5C6C794D0}"/>
              </a:ext>
            </a:extLst>
          </p:cNvPr>
          <p:cNvSpPr txBox="1"/>
          <p:nvPr/>
        </p:nvSpPr>
        <p:spPr>
          <a:xfrm>
            <a:off x="8760542" y="914400"/>
            <a:ext cx="3352800" cy="584775"/>
          </a:xfrm>
          <a:prstGeom prst="rect">
            <a:avLst/>
          </a:prstGeom>
          <a:noFill/>
        </p:spPr>
        <p:txBody>
          <a:bodyPr wrap="square">
            <a:spAutoFit/>
          </a:bodyPr>
          <a:lstStyle/>
          <a:p>
            <a:pPr>
              <a:defRPr sz="1600" b="1">
                <a:solidFill>
                  <a:srgbClr val="FFFFFF"/>
                </a:solidFill>
              </a:defRPr>
            </a:pPr>
            <a:r>
              <a:rPr lang="fr-FR" sz="3200" dirty="0"/>
              <a:t>Atelier</a:t>
            </a:r>
            <a:endParaRPr lang="fr-FR" sz="3200" noProof="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CC059BE-119D-F19F-7F49-B773E237988F}"/>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8" name="TextBox 2">
            <a:extLst>
              <a:ext uri="{FF2B5EF4-FFF2-40B4-BE49-F238E27FC236}">
                <a16:creationId xmlns:a16="http://schemas.microsoft.com/office/drawing/2014/main" id="{EAB8FB7C-7231-D907-A604-EE420A427E72}"/>
              </a:ext>
            </a:extLst>
          </p:cNvPr>
          <p:cNvSpPr txBox="1"/>
          <p:nvPr/>
        </p:nvSpPr>
        <p:spPr>
          <a:xfrm>
            <a:off x="8655767" y="914400"/>
            <a:ext cx="3547872" cy="1077218"/>
          </a:xfrm>
          <a:prstGeom prst="rect">
            <a:avLst/>
          </a:prstGeom>
          <a:noFill/>
        </p:spPr>
        <p:txBody>
          <a:bodyPr wrap="square">
            <a:spAutoFit/>
          </a:bodyPr>
          <a:lstStyle/>
          <a:p>
            <a:pPr>
              <a:defRPr sz="1600" b="1">
                <a:solidFill>
                  <a:srgbClr val="FFFFFF"/>
                </a:solidFill>
              </a:defRPr>
            </a:pPr>
            <a:r>
              <a:rPr lang="fr-FR" sz="3200" dirty="0"/>
              <a:t>Enrichir et maîtriser le catalogage</a:t>
            </a:r>
            <a:endParaRPr lang="fr-FR" sz="3200" noProof="0" dirty="0"/>
          </a:p>
        </p:txBody>
      </p:sp>
      <p:pic>
        <p:nvPicPr>
          <p:cNvPr id="10" name="Image 9">
            <a:extLst>
              <a:ext uri="{FF2B5EF4-FFF2-40B4-BE49-F238E27FC236}">
                <a16:creationId xmlns:a16="http://schemas.microsoft.com/office/drawing/2014/main" id="{28E06AE5-6CFD-3BF9-E8D5-723F0724045C}"/>
              </a:ext>
            </a:extLst>
          </p:cNvPr>
          <p:cNvPicPr>
            <a:picLocks noChangeAspect="1"/>
          </p:cNvPicPr>
          <p:nvPr/>
        </p:nvPicPr>
        <p:blipFill>
          <a:blip r:embed="rId2"/>
          <a:stretch>
            <a:fillRect/>
          </a:stretch>
        </p:blipFill>
        <p:spPr>
          <a:xfrm>
            <a:off x="219075" y="717550"/>
            <a:ext cx="8134350" cy="54229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415290"/>
            <a:ext cx="7546848" cy="2736647"/>
          </a:xfrm>
          <a:prstGeom prst="rect">
            <a:avLst/>
          </a:prstGeom>
          <a:noFill/>
        </p:spPr>
        <p:txBody>
          <a:bodyPr wrap="square">
            <a:spAutoFit/>
          </a:bodyPr>
          <a:lstStyle/>
          <a:p>
            <a:pPr>
              <a:spcAft>
                <a:spcPts val="1100"/>
              </a:spcAft>
              <a:defRPr sz="1800">
                <a:solidFill>
                  <a:srgbClr val="23232D"/>
                </a:solidFill>
              </a:defRPr>
            </a:pPr>
            <a:r>
              <a:rPr lang="fr-FR" noProof="0" dirty="0">
                <a:solidFill>
                  <a:srgbClr val="141991"/>
                </a:solidFill>
              </a:rPr>
              <a:t>• Les accès ne sont pas de simples textes : ils structurent la recherche et les rebonds dans le catalogue.</a:t>
            </a:r>
          </a:p>
          <a:p>
            <a:pPr>
              <a:spcAft>
                <a:spcPts val="1100"/>
              </a:spcAft>
              <a:defRPr sz="1800">
                <a:solidFill>
                  <a:srgbClr val="23232D"/>
                </a:solidFill>
              </a:defRPr>
            </a:pPr>
            <a:r>
              <a:rPr lang="fr-FR" noProof="0" dirty="0">
                <a:solidFill>
                  <a:srgbClr val="141991"/>
                </a:solidFill>
              </a:rPr>
              <a:t>• 6XX : sujets et indexation matière.</a:t>
            </a:r>
          </a:p>
          <a:p>
            <a:pPr>
              <a:spcAft>
                <a:spcPts val="1100"/>
              </a:spcAft>
              <a:defRPr sz="1800">
                <a:solidFill>
                  <a:srgbClr val="23232D"/>
                </a:solidFill>
              </a:defRPr>
            </a:pPr>
            <a:r>
              <a:rPr lang="fr-FR" noProof="0" dirty="0">
                <a:solidFill>
                  <a:srgbClr val="141991"/>
                </a:solidFill>
              </a:rPr>
              <a:t>• 7XX : personnes et collectivités responsables.</a:t>
            </a:r>
          </a:p>
          <a:p>
            <a:pPr>
              <a:spcAft>
                <a:spcPts val="1100"/>
              </a:spcAft>
              <a:defRPr sz="1800">
                <a:solidFill>
                  <a:srgbClr val="23232D"/>
                </a:solidFill>
              </a:defRPr>
            </a:pPr>
            <a:r>
              <a:rPr lang="fr-FR" noProof="0" dirty="0">
                <a:solidFill>
                  <a:srgbClr val="141991"/>
                </a:solidFill>
              </a:rPr>
              <a:t>• Rechercher une autorité existante avant d’en créer une nouvelle.</a:t>
            </a:r>
          </a:p>
          <a:p>
            <a:pPr>
              <a:spcAft>
                <a:spcPts val="1100"/>
              </a:spcAft>
              <a:defRPr sz="1800">
                <a:solidFill>
                  <a:srgbClr val="23232D"/>
                </a:solidFill>
              </a:defRPr>
            </a:pPr>
            <a:r>
              <a:rPr lang="fr-FR" noProof="0" dirty="0">
                <a:solidFill>
                  <a:srgbClr val="141991"/>
                </a:solidFill>
              </a:rPr>
              <a:t>• Lier la notice bibliographique à l’autorité pertinente.</a:t>
            </a:r>
          </a:p>
          <a:p>
            <a:pPr>
              <a:spcAft>
                <a:spcPts val="1100"/>
              </a:spcAft>
              <a:defRPr sz="1800">
                <a:solidFill>
                  <a:srgbClr val="23232D"/>
                </a:solidFill>
              </a:defRPr>
            </a:pPr>
            <a:r>
              <a:rPr lang="fr-FR" noProof="0" dirty="0">
                <a:solidFill>
                  <a:srgbClr val="141991"/>
                </a:solidFill>
              </a:rPr>
              <a:t>• Utiliser le code de fonction approprié pour préciser le rôle.</a:t>
            </a:r>
          </a:p>
        </p:txBody>
      </p:sp>
      <p:sp>
        <p:nvSpPr>
          <p:cNvPr id="7" name="Rectangle 6">
            <a:extLst>
              <a:ext uri="{FF2B5EF4-FFF2-40B4-BE49-F238E27FC236}">
                <a16:creationId xmlns:a16="http://schemas.microsoft.com/office/drawing/2014/main" id="{26EC2BB7-98A8-23B7-A656-32D158EAA53F}"/>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9" name="TextBox 2">
            <a:extLst>
              <a:ext uri="{FF2B5EF4-FFF2-40B4-BE49-F238E27FC236}">
                <a16:creationId xmlns:a16="http://schemas.microsoft.com/office/drawing/2014/main" id="{6C1AA5D4-55CF-F1D4-39C1-FDB97186A15E}"/>
              </a:ext>
            </a:extLst>
          </p:cNvPr>
          <p:cNvSpPr txBox="1"/>
          <p:nvPr/>
        </p:nvSpPr>
        <p:spPr>
          <a:xfrm>
            <a:off x="8655767" y="914400"/>
            <a:ext cx="3547872" cy="1077218"/>
          </a:xfrm>
          <a:prstGeom prst="rect">
            <a:avLst/>
          </a:prstGeom>
          <a:noFill/>
        </p:spPr>
        <p:txBody>
          <a:bodyPr wrap="square">
            <a:spAutoFit/>
          </a:bodyPr>
          <a:lstStyle/>
          <a:p>
            <a:pPr>
              <a:defRPr sz="1600" b="1">
                <a:solidFill>
                  <a:srgbClr val="FFFFFF"/>
                </a:solidFill>
              </a:defRPr>
            </a:pPr>
            <a:r>
              <a:rPr lang="fr-FR" sz="3200" dirty="0"/>
              <a:t>Autorités et points d’accès</a:t>
            </a:r>
            <a:endParaRPr lang="fr-FR" sz="3200" noProof="0" dirty="0"/>
          </a:p>
        </p:txBody>
      </p:sp>
      <p:pic>
        <p:nvPicPr>
          <p:cNvPr id="11" name="Image 10">
            <a:extLst>
              <a:ext uri="{FF2B5EF4-FFF2-40B4-BE49-F238E27FC236}">
                <a16:creationId xmlns:a16="http://schemas.microsoft.com/office/drawing/2014/main" id="{D091332A-62B8-37CC-D7B8-E570AAFF0E98}"/>
              </a:ext>
            </a:extLst>
          </p:cNvPr>
          <p:cNvPicPr>
            <a:picLocks noChangeAspect="1"/>
          </p:cNvPicPr>
          <p:nvPr/>
        </p:nvPicPr>
        <p:blipFill>
          <a:blip r:embed="rId2"/>
          <a:stretch>
            <a:fillRect/>
          </a:stretch>
        </p:blipFill>
        <p:spPr>
          <a:xfrm>
            <a:off x="365760" y="3230686"/>
            <a:ext cx="8610598" cy="321202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3" name="Image 12">
            <a:extLst>
              <a:ext uri="{FF2B5EF4-FFF2-40B4-BE49-F238E27FC236}">
                <a16:creationId xmlns:a16="http://schemas.microsoft.com/office/drawing/2014/main" id="{ED3DFC44-FA1D-9FE9-10CD-A421556F6A0E}"/>
              </a:ext>
            </a:extLst>
          </p:cNvPr>
          <p:cNvPicPr>
            <a:picLocks noChangeAspect="1"/>
          </p:cNvPicPr>
          <p:nvPr/>
        </p:nvPicPr>
        <p:blipFill>
          <a:blip r:embed="rId3"/>
          <a:stretch>
            <a:fillRect/>
          </a:stretch>
        </p:blipFill>
        <p:spPr>
          <a:xfrm>
            <a:off x="7428356" y="2146977"/>
            <a:ext cx="4552948" cy="283074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75285" y="510540"/>
            <a:ext cx="7235190" cy="2736647"/>
          </a:xfrm>
          <a:prstGeom prst="rect">
            <a:avLst/>
          </a:prstGeom>
          <a:noFill/>
        </p:spPr>
        <p:txBody>
          <a:bodyPr wrap="square">
            <a:spAutoFit/>
          </a:bodyPr>
          <a:lstStyle/>
          <a:p>
            <a:pPr>
              <a:spcAft>
                <a:spcPts val="1100"/>
              </a:spcAft>
              <a:defRPr sz="1800">
                <a:solidFill>
                  <a:srgbClr val="23232D"/>
                </a:solidFill>
              </a:defRPr>
            </a:pPr>
            <a:r>
              <a:rPr lang="fr-FR" noProof="0">
                <a:solidFill>
                  <a:srgbClr val="141991"/>
                </a:solidFill>
              </a:rPr>
              <a:t>• La création manuelle doit rester une solution maîtrisée, pas le réflexe par défaut.</a:t>
            </a:r>
          </a:p>
          <a:p>
            <a:pPr>
              <a:spcAft>
                <a:spcPts val="1100"/>
              </a:spcAft>
              <a:defRPr sz="1800">
                <a:solidFill>
                  <a:srgbClr val="23232D"/>
                </a:solidFill>
              </a:defRPr>
            </a:pPr>
            <a:r>
              <a:rPr lang="fr-FR" noProof="0" dirty="0">
                <a:solidFill>
                  <a:srgbClr val="141991"/>
                </a:solidFill>
              </a:rPr>
              <a:t>• Choisir la grille de catalogage adaptée au type de document.</a:t>
            </a:r>
          </a:p>
          <a:p>
            <a:pPr>
              <a:spcAft>
                <a:spcPts val="1100"/>
              </a:spcAft>
              <a:defRPr sz="1800">
                <a:solidFill>
                  <a:srgbClr val="23232D"/>
                </a:solidFill>
              </a:defRPr>
            </a:pPr>
            <a:r>
              <a:rPr lang="fr-FR" noProof="0" dirty="0">
                <a:solidFill>
                  <a:srgbClr val="141991"/>
                </a:solidFill>
              </a:rPr>
              <a:t>• Construire la notice à partir du document.</a:t>
            </a:r>
          </a:p>
          <a:p>
            <a:pPr>
              <a:spcAft>
                <a:spcPts val="1100"/>
              </a:spcAft>
              <a:defRPr sz="1800">
                <a:solidFill>
                  <a:srgbClr val="23232D"/>
                </a:solidFill>
              </a:defRPr>
            </a:pPr>
            <a:r>
              <a:rPr lang="fr-FR" noProof="0" dirty="0">
                <a:solidFill>
                  <a:srgbClr val="141991"/>
                </a:solidFill>
              </a:rPr>
              <a:t>• Renseigner les données codées nécessaires.</a:t>
            </a:r>
          </a:p>
          <a:p>
            <a:pPr>
              <a:spcAft>
                <a:spcPts val="1100"/>
              </a:spcAft>
              <a:defRPr sz="1800">
                <a:solidFill>
                  <a:srgbClr val="23232D"/>
                </a:solidFill>
              </a:defRPr>
            </a:pPr>
            <a:r>
              <a:rPr lang="fr-FR" noProof="0" dirty="0">
                <a:solidFill>
                  <a:srgbClr val="141991"/>
                </a:solidFill>
              </a:rPr>
              <a:t>• Créer ou lier les points d’accès.</a:t>
            </a:r>
          </a:p>
          <a:p>
            <a:pPr>
              <a:spcAft>
                <a:spcPts val="1100"/>
              </a:spcAft>
              <a:defRPr sz="1800">
                <a:solidFill>
                  <a:srgbClr val="23232D"/>
                </a:solidFill>
              </a:defRPr>
            </a:pPr>
            <a:r>
              <a:rPr lang="fr-FR" noProof="0" dirty="0">
                <a:solidFill>
                  <a:srgbClr val="141991"/>
                </a:solidFill>
              </a:rPr>
              <a:t>• Créer ensuite l’exemplaire local.</a:t>
            </a:r>
          </a:p>
        </p:txBody>
      </p:sp>
      <p:sp>
        <p:nvSpPr>
          <p:cNvPr id="8" name="Rectangle 7">
            <a:extLst>
              <a:ext uri="{FF2B5EF4-FFF2-40B4-BE49-F238E27FC236}">
                <a16:creationId xmlns:a16="http://schemas.microsoft.com/office/drawing/2014/main" id="{81EDBCA5-6C3D-8BD0-E847-F7F98FBD7E2B}"/>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0" name="TextBox 2">
            <a:extLst>
              <a:ext uri="{FF2B5EF4-FFF2-40B4-BE49-F238E27FC236}">
                <a16:creationId xmlns:a16="http://schemas.microsoft.com/office/drawing/2014/main" id="{6D1EE7D7-ECF2-8D56-4056-BBD13A1CDD5D}"/>
              </a:ext>
            </a:extLst>
          </p:cNvPr>
          <p:cNvSpPr txBox="1"/>
          <p:nvPr/>
        </p:nvSpPr>
        <p:spPr>
          <a:xfrm>
            <a:off x="8655767" y="914400"/>
            <a:ext cx="3547872" cy="1077218"/>
          </a:xfrm>
          <a:prstGeom prst="rect">
            <a:avLst/>
          </a:prstGeom>
          <a:noFill/>
        </p:spPr>
        <p:txBody>
          <a:bodyPr wrap="square">
            <a:spAutoFit/>
          </a:bodyPr>
          <a:lstStyle/>
          <a:p>
            <a:pPr>
              <a:defRPr sz="1600" b="1">
                <a:solidFill>
                  <a:srgbClr val="FFFFFF"/>
                </a:solidFill>
              </a:defRPr>
            </a:pPr>
            <a:r>
              <a:rPr lang="fr-FR" sz="3200" dirty="0"/>
              <a:t>Cataloguer sans dérivation</a:t>
            </a:r>
            <a:endParaRPr lang="fr-FR" sz="3200" noProof="0" dirty="0"/>
          </a:p>
        </p:txBody>
      </p:sp>
      <p:pic>
        <p:nvPicPr>
          <p:cNvPr id="12" name="Image 11">
            <a:extLst>
              <a:ext uri="{FF2B5EF4-FFF2-40B4-BE49-F238E27FC236}">
                <a16:creationId xmlns:a16="http://schemas.microsoft.com/office/drawing/2014/main" id="{A424D983-72ED-AF19-D26D-8D67E013E507}"/>
              </a:ext>
            </a:extLst>
          </p:cNvPr>
          <p:cNvPicPr>
            <a:picLocks noChangeAspect="1"/>
          </p:cNvPicPr>
          <p:nvPr/>
        </p:nvPicPr>
        <p:blipFill>
          <a:blip r:embed="rId2"/>
          <a:stretch>
            <a:fillRect/>
          </a:stretch>
        </p:blipFill>
        <p:spPr>
          <a:xfrm>
            <a:off x="4592092" y="2258318"/>
            <a:ext cx="3369766" cy="4572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19E58E0-E9E5-9767-BF43-E8900CF36F2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7BCBA0D-BD24-A76F-CA04-1FA1212675D2}"/>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a:extLst>
              <a:ext uri="{FF2B5EF4-FFF2-40B4-BE49-F238E27FC236}">
                <a16:creationId xmlns:a16="http://schemas.microsoft.com/office/drawing/2014/main" id="{208D12B5-C38F-5FF5-C3DE-3E788949384C}"/>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0" name="TextBox 2">
            <a:extLst>
              <a:ext uri="{FF2B5EF4-FFF2-40B4-BE49-F238E27FC236}">
                <a16:creationId xmlns:a16="http://schemas.microsoft.com/office/drawing/2014/main" id="{E8CEBC0E-5DDB-03A2-C688-E606962975DC}"/>
              </a:ext>
            </a:extLst>
          </p:cNvPr>
          <p:cNvSpPr txBox="1"/>
          <p:nvPr/>
        </p:nvSpPr>
        <p:spPr>
          <a:xfrm>
            <a:off x="8655767" y="914400"/>
            <a:ext cx="3547872" cy="1077218"/>
          </a:xfrm>
          <a:prstGeom prst="rect">
            <a:avLst/>
          </a:prstGeom>
          <a:noFill/>
        </p:spPr>
        <p:txBody>
          <a:bodyPr wrap="square">
            <a:spAutoFit/>
          </a:bodyPr>
          <a:lstStyle/>
          <a:p>
            <a:pPr>
              <a:defRPr sz="1600" b="1">
                <a:solidFill>
                  <a:srgbClr val="FFFFFF"/>
                </a:solidFill>
              </a:defRPr>
            </a:pPr>
            <a:r>
              <a:rPr lang="fr-FR" sz="3200" dirty="0"/>
              <a:t>Cataloguer sans dérivation</a:t>
            </a:r>
            <a:endParaRPr lang="fr-FR" sz="3200" noProof="0" dirty="0"/>
          </a:p>
        </p:txBody>
      </p:sp>
      <p:grpSp>
        <p:nvGrpSpPr>
          <p:cNvPr id="3" name="Groupe 2">
            <a:extLst>
              <a:ext uri="{FF2B5EF4-FFF2-40B4-BE49-F238E27FC236}">
                <a16:creationId xmlns:a16="http://schemas.microsoft.com/office/drawing/2014/main" id="{7FCB3546-6D64-EEB9-0224-5720CEEAB19E}"/>
              </a:ext>
            </a:extLst>
          </p:cNvPr>
          <p:cNvGrpSpPr/>
          <p:nvPr/>
        </p:nvGrpSpPr>
        <p:grpSpPr>
          <a:xfrm>
            <a:off x="179279" y="1453009"/>
            <a:ext cx="8849753" cy="4076397"/>
            <a:chOff x="104792" y="2405082"/>
            <a:chExt cx="8849753" cy="4076397"/>
          </a:xfrm>
        </p:grpSpPr>
        <p:pic>
          <p:nvPicPr>
            <p:cNvPr id="4" name="Picture 2" descr="https://www.livres-cinema.info/cover/a/B09PV1GNCF.jpg">
              <a:extLst>
                <a:ext uri="{FF2B5EF4-FFF2-40B4-BE49-F238E27FC236}">
                  <a16:creationId xmlns:a16="http://schemas.microsoft.com/office/drawing/2014/main" id="{BDF25CE6-A31A-331F-99C6-DD2A8A0306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9481" y="2450802"/>
              <a:ext cx="2668308" cy="403067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AEEF7F2C-C231-5681-F40B-B0ED2AA5A7C3}"/>
                </a:ext>
              </a:extLst>
            </p:cNvPr>
            <p:cNvSpPr/>
            <p:nvPr/>
          </p:nvSpPr>
          <p:spPr>
            <a:xfrm>
              <a:off x="104793" y="2405082"/>
              <a:ext cx="1608133" cy="600164"/>
            </a:xfrm>
            <a:prstGeom prst="rect">
              <a:avLst/>
            </a:prstGeom>
          </p:spPr>
          <p:txBody>
            <a:bodyPr wrap="none">
              <a:spAutoFit/>
            </a:bodyPr>
            <a:lstStyle/>
            <a:p>
              <a:r>
                <a:rPr lang="fr-FR" sz="1100" b="1" dirty="0"/>
                <a:t>Titre de la collection</a:t>
              </a:r>
              <a:br>
                <a:rPr lang="fr-FR" sz="1100" b="1" dirty="0"/>
              </a:br>
              <a:r>
                <a:rPr lang="fr-FR" sz="1100" b="1" dirty="0"/>
                <a:t>225$a </a:t>
              </a:r>
              <a:br>
                <a:rPr lang="fr-FR" sz="1100" b="1" dirty="0"/>
              </a:br>
              <a:r>
                <a:rPr lang="fr-FR" sz="1100" b="1" dirty="0"/>
                <a:t>Cinéma(s)</a:t>
              </a:r>
            </a:p>
          </p:txBody>
        </p:sp>
        <p:sp>
          <p:nvSpPr>
            <p:cNvPr id="7" name="Rectangle 6">
              <a:extLst>
                <a:ext uri="{FF2B5EF4-FFF2-40B4-BE49-F238E27FC236}">
                  <a16:creationId xmlns:a16="http://schemas.microsoft.com/office/drawing/2014/main" id="{6FCB9651-88D3-0158-7137-4F62E6D46F1E}"/>
                </a:ext>
              </a:extLst>
            </p:cNvPr>
            <p:cNvSpPr/>
            <p:nvPr/>
          </p:nvSpPr>
          <p:spPr>
            <a:xfrm>
              <a:off x="104792" y="3181432"/>
              <a:ext cx="2408032" cy="769441"/>
            </a:xfrm>
            <a:prstGeom prst="rect">
              <a:avLst/>
            </a:prstGeom>
          </p:spPr>
          <p:txBody>
            <a:bodyPr wrap="none">
              <a:spAutoFit/>
            </a:bodyPr>
            <a:lstStyle/>
            <a:p>
              <a:r>
                <a:rPr lang="fr-FR" sz="1100" b="1" dirty="0"/>
                <a:t>Titre propre</a:t>
              </a:r>
              <a:br>
                <a:rPr lang="fr-FR" sz="1100" b="1" dirty="0"/>
              </a:br>
              <a:r>
                <a:rPr lang="fr-FR" sz="1100" b="1" dirty="0"/>
                <a:t>200$a</a:t>
              </a:r>
              <a:br>
                <a:rPr lang="fr-FR" sz="1100" b="1" dirty="0"/>
              </a:br>
              <a:r>
                <a:rPr lang="fr-FR" sz="1100" b="1" dirty="0"/>
                <a:t>À la recherche de l'histoire</a:t>
              </a:r>
              <a:br>
                <a:rPr lang="fr-FR" sz="1100" b="1" dirty="0"/>
              </a:br>
              <a:r>
                <a:rPr lang="fr-FR" sz="1100" b="1" dirty="0"/>
                <a:t>du cinéma en France (1908-1919)</a:t>
              </a:r>
            </a:p>
          </p:txBody>
        </p:sp>
        <p:sp>
          <p:nvSpPr>
            <p:cNvPr id="9" name="Rectangle 8">
              <a:extLst>
                <a:ext uri="{FF2B5EF4-FFF2-40B4-BE49-F238E27FC236}">
                  <a16:creationId xmlns:a16="http://schemas.microsoft.com/office/drawing/2014/main" id="{CAD23B9E-ADFA-BC12-9786-99DA624AAC9C}"/>
                </a:ext>
              </a:extLst>
            </p:cNvPr>
            <p:cNvSpPr/>
            <p:nvPr/>
          </p:nvSpPr>
          <p:spPr>
            <a:xfrm>
              <a:off x="6156984" y="3357510"/>
              <a:ext cx="1638590" cy="600164"/>
            </a:xfrm>
            <a:prstGeom prst="rect">
              <a:avLst/>
            </a:prstGeom>
          </p:spPr>
          <p:txBody>
            <a:bodyPr wrap="none">
              <a:spAutoFit/>
            </a:bodyPr>
            <a:lstStyle/>
            <a:p>
              <a:r>
                <a:rPr lang="fr-FR" sz="1100" b="1" dirty="0"/>
                <a:t>Complément du titre</a:t>
              </a:r>
              <a:br>
                <a:rPr lang="fr-FR" sz="1100" b="1" dirty="0"/>
              </a:br>
              <a:r>
                <a:rPr lang="fr-FR" sz="1100" b="1" dirty="0"/>
                <a:t>200$e</a:t>
              </a:r>
              <a:br>
                <a:rPr lang="fr-FR" sz="1100" b="1" dirty="0"/>
              </a:br>
              <a:r>
                <a:rPr lang="fr-FR" sz="1100" b="1" dirty="0"/>
                <a:t>lieux, sources, objets</a:t>
              </a:r>
            </a:p>
          </p:txBody>
        </p:sp>
        <p:cxnSp>
          <p:nvCxnSpPr>
            <p:cNvPr id="11" name="Connecteur droit avec flèche 10">
              <a:extLst>
                <a:ext uri="{FF2B5EF4-FFF2-40B4-BE49-F238E27FC236}">
                  <a16:creationId xmlns:a16="http://schemas.microsoft.com/office/drawing/2014/main" id="{C48E6C3D-0234-0310-AFD1-AA5DD1313776}"/>
                </a:ext>
              </a:extLst>
            </p:cNvPr>
            <p:cNvCxnSpPr>
              <a:stCxn id="6" idx="3"/>
            </p:cNvCxnSpPr>
            <p:nvPr/>
          </p:nvCxnSpPr>
          <p:spPr>
            <a:xfrm>
              <a:off x="1712926" y="2705164"/>
              <a:ext cx="856538" cy="0"/>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necteur droit avec flèche 11">
              <a:extLst>
                <a:ext uri="{FF2B5EF4-FFF2-40B4-BE49-F238E27FC236}">
                  <a16:creationId xmlns:a16="http://schemas.microsoft.com/office/drawing/2014/main" id="{DEB8EFDF-8D32-A83E-274D-7A67D736973D}"/>
                </a:ext>
              </a:extLst>
            </p:cNvPr>
            <p:cNvCxnSpPr/>
            <p:nvPr/>
          </p:nvCxnSpPr>
          <p:spPr>
            <a:xfrm flipV="1">
              <a:off x="1965960" y="3005246"/>
              <a:ext cx="877824" cy="432898"/>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necteur droit avec flèche 12">
              <a:extLst>
                <a:ext uri="{FF2B5EF4-FFF2-40B4-BE49-F238E27FC236}">
                  <a16:creationId xmlns:a16="http://schemas.microsoft.com/office/drawing/2014/main" id="{2D5B6E65-3C65-9614-F0FB-FA79584F677B}"/>
                </a:ext>
              </a:extLst>
            </p:cNvPr>
            <p:cNvCxnSpPr/>
            <p:nvPr/>
          </p:nvCxnSpPr>
          <p:spPr>
            <a:xfrm rot="10800000">
              <a:off x="5300446" y="3703312"/>
              <a:ext cx="856538" cy="0"/>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8564A8B8-7CC4-533B-066E-F69398709E2B}"/>
                </a:ext>
              </a:extLst>
            </p:cNvPr>
            <p:cNvSpPr/>
            <p:nvPr/>
          </p:nvSpPr>
          <p:spPr>
            <a:xfrm>
              <a:off x="6156984" y="4117326"/>
              <a:ext cx="2797561" cy="938719"/>
            </a:xfrm>
            <a:prstGeom prst="rect">
              <a:avLst/>
            </a:prstGeom>
          </p:spPr>
          <p:txBody>
            <a:bodyPr wrap="none">
              <a:spAutoFit/>
            </a:bodyPr>
            <a:lstStyle/>
            <a:p>
              <a:r>
                <a:rPr lang="fr-FR" sz="1100" b="1" dirty="0"/>
                <a:t>1ere mention de responsabilité</a:t>
              </a:r>
              <a:br>
                <a:rPr lang="fr-FR" sz="1100" b="1" dirty="0"/>
              </a:br>
              <a:r>
                <a:rPr lang="fr-FR" sz="1100" b="1" dirty="0"/>
                <a:t>200$f</a:t>
              </a:r>
              <a:br>
                <a:rPr lang="fr-FR" sz="1100" b="1" dirty="0"/>
              </a:br>
              <a:r>
                <a:rPr lang="fr-FR" sz="1100" b="1" dirty="0"/>
                <a:t>sous la direction de Clément Puget et </a:t>
              </a:r>
              <a:br>
                <a:rPr lang="fr-FR" sz="1100" b="1" dirty="0"/>
              </a:br>
              <a:r>
                <a:rPr lang="fr-FR" sz="1100" b="1" dirty="0"/>
                <a:t>Laurent </a:t>
              </a:r>
              <a:r>
                <a:rPr lang="fr-FR" sz="1100" b="1" dirty="0" err="1"/>
                <a:t>Véray</a:t>
              </a:r>
              <a:endParaRPr lang="fr-FR" sz="1100" b="1" dirty="0"/>
            </a:p>
            <a:p>
              <a:r>
                <a:rPr lang="fr-FR" sz="1100" b="1" u="sng" dirty="0"/>
                <a:t>Respecter la règle des 3</a:t>
              </a:r>
            </a:p>
          </p:txBody>
        </p:sp>
        <p:cxnSp>
          <p:nvCxnSpPr>
            <p:cNvPr id="15" name="Connecteur droit avec flèche 14">
              <a:extLst>
                <a:ext uri="{FF2B5EF4-FFF2-40B4-BE49-F238E27FC236}">
                  <a16:creationId xmlns:a16="http://schemas.microsoft.com/office/drawing/2014/main" id="{0D1332E6-56B0-8DAC-36F9-66ADCED7C37A}"/>
                </a:ext>
              </a:extLst>
            </p:cNvPr>
            <p:cNvCxnSpPr/>
            <p:nvPr/>
          </p:nvCxnSpPr>
          <p:spPr>
            <a:xfrm flipH="1" flipV="1">
              <a:off x="5300445" y="4221087"/>
              <a:ext cx="856539" cy="242041"/>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4D0D4F77-5EFA-BEE3-9D19-F572CCD1080C}"/>
                </a:ext>
              </a:extLst>
            </p:cNvPr>
            <p:cNvSpPr/>
            <p:nvPr/>
          </p:nvSpPr>
          <p:spPr>
            <a:xfrm>
              <a:off x="6156984" y="5868564"/>
              <a:ext cx="2545890" cy="600164"/>
            </a:xfrm>
            <a:prstGeom prst="rect">
              <a:avLst/>
            </a:prstGeom>
          </p:spPr>
          <p:txBody>
            <a:bodyPr wrap="none">
              <a:spAutoFit/>
            </a:bodyPr>
            <a:lstStyle/>
            <a:p>
              <a:r>
                <a:rPr lang="fr-FR" sz="1100" b="1" dirty="0"/>
                <a:t>Nom de l’éditeur</a:t>
              </a:r>
              <a:br>
                <a:rPr lang="fr-FR" sz="1100" b="1" dirty="0"/>
              </a:br>
              <a:r>
                <a:rPr lang="fr-FR" sz="1100" b="1" dirty="0"/>
                <a:t>214$c</a:t>
              </a:r>
              <a:br>
                <a:rPr lang="fr-FR" sz="1100" b="1" dirty="0"/>
              </a:br>
              <a:r>
                <a:rPr lang="fr-FR" sz="1100" b="1" dirty="0"/>
                <a:t>Presses universitaires de Bordeaux</a:t>
              </a:r>
            </a:p>
          </p:txBody>
        </p:sp>
        <p:cxnSp>
          <p:nvCxnSpPr>
            <p:cNvPr id="17" name="Connecteur droit avec flèche 16">
              <a:extLst>
                <a:ext uri="{FF2B5EF4-FFF2-40B4-BE49-F238E27FC236}">
                  <a16:creationId xmlns:a16="http://schemas.microsoft.com/office/drawing/2014/main" id="{5368ED8D-E1CE-D862-DF66-533636DD31D9}"/>
                </a:ext>
              </a:extLst>
            </p:cNvPr>
            <p:cNvCxnSpPr/>
            <p:nvPr/>
          </p:nvCxnSpPr>
          <p:spPr>
            <a:xfrm rot="10800000">
              <a:off x="5300446" y="6214366"/>
              <a:ext cx="856538" cy="0"/>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271638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B3721C8-9126-2966-79C7-F9A51085835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AFD5936-79D5-F9F5-2665-F4419FBB2D2C}"/>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a:extLst>
              <a:ext uri="{FF2B5EF4-FFF2-40B4-BE49-F238E27FC236}">
                <a16:creationId xmlns:a16="http://schemas.microsoft.com/office/drawing/2014/main" id="{8FA83C07-2D55-DA83-D90F-C0A3C38F8D9E}"/>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0" name="TextBox 2">
            <a:extLst>
              <a:ext uri="{FF2B5EF4-FFF2-40B4-BE49-F238E27FC236}">
                <a16:creationId xmlns:a16="http://schemas.microsoft.com/office/drawing/2014/main" id="{9774781F-31BA-2396-24AA-EAD75F383C84}"/>
              </a:ext>
            </a:extLst>
          </p:cNvPr>
          <p:cNvSpPr txBox="1"/>
          <p:nvPr/>
        </p:nvSpPr>
        <p:spPr>
          <a:xfrm>
            <a:off x="8655767" y="914400"/>
            <a:ext cx="3547872" cy="1077218"/>
          </a:xfrm>
          <a:prstGeom prst="rect">
            <a:avLst/>
          </a:prstGeom>
          <a:noFill/>
        </p:spPr>
        <p:txBody>
          <a:bodyPr wrap="square">
            <a:spAutoFit/>
          </a:bodyPr>
          <a:lstStyle/>
          <a:p>
            <a:pPr>
              <a:defRPr sz="1600" b="1">
                <a:solidFill>
                  <a:srgbClr val="FFFFFF"/>
                </a:solidFill>
              </a:defRPr>
            </a:pPr>
            <a:r>
              <a:rPr lang="fr-FR" sz="3200" dirty="0"/>
              <a:t>Cataloguer sans dérivation</a:t>
            </a:r>
            <a:endParaRPr lang="fr-FR" sz="3200" noProof="0" dirty="0"/>
          </a:p>
        </p:txBody>
      </p:sp>
      <p:grpSp>
        <p:nvGrpSpPr>
          <p:cNvPr id="5" name="Groupe 4">
            <a:extLst>
              <a:ext uri="{FF2B5EF4-FFF2-40B4-BE49-F238E27FC236}">
                <a16:creationId xmlns:a16="http://schemas.microsoft.com/office/drawing/2014/main" id="{A7C120ED-5821-A085-19FD-0E6EA4CF9478}"/>
              </a:ext>
            </a:extLst>
          </p:cNvPr>
          <p:cNvGrpSpPr/>
          <p:nvPr/>
        </p:nvGrpSpPr>
        <p:grpSpPr>
          <a:xfrm>
            <a:off x="504842" y="1620200"/>
            <a:ext cx="8325571" cy="3617600"/>
            <a:chOff x="104792" y="2533191"/>
            <a:chExt cx="8325571" cy="3617600"/>
          </a:xfrm>
        </p:grpSpPr>
        <p:pic>
          <p:nvPicPr>
            <p:cNvPr id="18" name="Picture 2" descr="https://fr.shopping.rakuten.com/photo/1964887042.jpg">
              <a:extLst>
                <a:ext uri="{FF2B5EF4-FFF2-40B4-BE49-F238E27FC236}">
                  <a16:creationId xmlns:a16="http://schemas.microsoft.com/office/drawing/2014/main" id="{D2FEE12B-DB12-1024-CF2C-C317652A8F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0973" y="2533191"/>
              <a:ext cx="2431028" cy="3617600"/>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8CA36CA8-4BA1-74CE-6FA8-422631C78E91}"/>
                </a:ext>
              </a:extLst>
            </p:cNvPr>
            <p:cNvSpPr/>
            <p:nvPr/>
          </p:nvSpPr>
          <p:spPr>
            <a:xfrm>
              <a:off x="104793" y="2551386"/>
              <a:ext cx="1608133" cy="600164"/>
            </a:xfrm>
            <a:prstGeom prst="rect">
              <a:avLst/>
            </a:prstGeom>
          </p:spPr>
          <p:txBody>
            <a:bodyPr wrap="none">
              <a:spAutoFit/>
            </a:bodyPr>
            <a:lstStyle/>
            <a:p>
              <a:r>
                <a:rPr lang="fr-FR" sz="1100" b="1" dirty="0"/>
                <a:t>Titre de la collection</a:t>
              </a:r>
              <a:br>
                <a:rPr lang="fr-FR" sz="1100" b="1" dirty="0"/>
              </a:br>
              <a:r>
                <a:rPr lang="fr-FR" sz="1100" b="1" dirty="0"/>
                <a:t>225$a </a:t>
              </a:r>
              <a:br>
                <a:rPr lang="fr-FR" sz="1100" b="1" dirty="0"/>
              </a:br>
              <a:r>
                <a:rPr lang="fr-FR" sz="1100" b="1" dirty="0"/>
                <a:t>Cinéma(s)</a:t>
              </a:r>
            </a:p>
          </p:txBody>
        </p:sp>
        <p:sp>
          <p:nvSpPr>
            <p:cNvPr id="20" name="Rectangle 19">
              <a:extLst>
                <a:ext uri="{FF2B5EF4-FFF2-40B4-BE49-F238E27FC236}">
                  <a16:creationId xmlns:a16="http://schemas.microsoft.com/office/drawing/2014/main" id="{AD573305-67DB-0568-487F-FB3F1A83A06B}"/>
                </a:ext>
              </a:extLst>
            </p:cNvPr>
            <p:cNvSpPr/>
            <p:nvPr/>
          </p:nvSpPr>
          <p:spPr>
            <a:xfrm>
              <a:off x="104792" y="3711784"/>
              <a:ext cx="721672" cy="430887"/>
            </a:xfrm>
            <a:prstGeom prst="rect">
              <a:avLst/>
            </a:prstGeom>
          </p:spPr>
          <p:txBody>
            <a:bodyPr wrap="none">
              <a:spAutoFit/>
            </a:bodyPr>
            <a:lstStyle/>
            <a:p>
              <a:r>
                <a:rPr lang="fr-FR" sz="1100" b="1" dirty="0"/>
                <a:t>Résumé</a:t>
              </a:r>
              <a:br>
                <a:rPr lang="fr-FR" sz="1100" b="1" dirty="0"/>
              </a:br>
              <a:r>
                <a:rPr lang="fr-FR" sz="1100" b="1" dirty="0"/>
                <a:t>330$a</a:t>
              </a:r>
            </a:p>
          </p:txBody>
        </p:sp>
        <p:sp>
          <p:nvSpPr>
            <p:cNvPr id="21" name="Rectangle 20">
              <a:extLst>
                <a:ext uri="{FF2B5EF4-FFF2-40B4-BE49-F238E27FC236}">
                  <a16:creationId xmlns:a16="http://schemas.microsoft.com/office/drawing/2014/main" id="{1E3AF195-A278-6DF2-D0DD-747BD369A4CD}"/>
                </a:ext>
              </a:extLst>
            </p:cNvPr>
            <p:cNvSpPr/>
            <p:nvPr/>
          </p:nvSpPr>
          <p:spPr>
            <a:xfrm>
              <a:off x="6156984" y="4646814"/>
              <a:ext cx="2273379" cy="769441"/>
            </a:xfrm>
            <a:prstGeom prst="rect">
              <a:avLst/>
            </a:prstGeom>
          </p:spPr>
          <p:txBody>
            <a:bodyPr wrap="none">
              <a:spAutoFit/>
            </a:bodyPr>
            <a:lstStyle/>
            <a:p>
              <a:r>
                <a:rPr lang="fr-FR" sz="1100" b="1" dirty="0"/>
                <a:t>Note sur le titre et la mention </a:t>
              </a:r>
              <a:br>
                <a:rPr lang="fr-FR" sz="1100" b="1" dirty="0"/>
              </a:br>
              <a:r>
                <a:rPr lang="fr-FR" sz="1100" b="1" dirty="0"/>
                <a:t>de responsabilité</a:t>
              </a:r>
              <a:br>
                <a:rPr lang="fr-FR" sz="1100" b="1" dirty="0"/>
              </a:br>
              <a:r>
                <a:rPr lang="fr-FR" sz="1100" b="1" dirty="0"/>
                <a:t>304$a</a:t>
              </a:r>
              <a:br>
                <a:rPr lang="fr-FR" sz="1100" b="1" dirty="0"/>
              </a:br>
              <a:r>
                <a:rPr lang="fr-FR" sz="1100" b="1" dirty="0"/>
                <a:t>lieux, sources, objets</a:t>
              </a:r>
            </a:p>
          </p:txBody>
        </p:sp>
        <p:cxnSp>
          <p:nvCxnSpPr>
            <p:cNvPr id="22" name="Connecteur droit avec flèche 21">
              <a:extLst>
                <a:ext uri="{FF2B5EF4-FFF2-40B4-BE49-F238E27FC236}">
                  <a16:creationId xmlns:a16="http://schemas.microsoft.com/office/drawing/2014/main" id="{F94AACAF-55FA-CCD6-9BC9-4A3901F85070}"/>
                </a:ext>
              </a:extLst>
            </p:cNvPr>
            <p:cNvCxnSpPr>
              <a:stCxn id="19" idx="3"/>
            </p:cNvCxnSpPr>
            <p:nvPr/>
          </p:nvCxnSpPr>
          <p:spPr>
            <a:xfrm flipV="1">
              <a:off x="1712926" y="2760964"/>
              <a:ext cx="1313738" cy="90504"/>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necteur droit avec flèche 22">
              <a:extLst>
                <a:ext uri="{FF2B5EF4-FFF2-40B4-BE49-F238E27FC236}">
                  <a16:creationId xmlns:a16="http://schemas.microsoft.com/office/drawing/2014/main" id="{59905C47-2F22-C31C-599C-309DB62EE008}"/>
                </a:ext>
              </a:extLst>
            </p:cNvPr>
            <p:cNvCxnSpPr>
              <a:stCxn id="20" idx="3"/>
            </p:cNvCxnSpPr>
            <p:nvPr/>
          </p:nvCxnSpPr>
          <p:spPr>
            <a:xfrm flipV="1">
              <a:off x="826464" y="3738226"/>
              <a:ext cx="2385469" cy="189002"/>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necteur droit avec flèche 23">
              <a:extLst>
                <a:ext uri="{FF2B5EF4-FFF2-40B4-BE49-F238E27FC236}">
                  <a16:creationId xmlns:a16="http://schemas.microsoft.com/office/drawing/2014/main" id="{6CFD9B67-A4C2-4CF7-F5E6-6B9038E9E01C}"/>
                </a:ext>
              </a:extLst>
            </p:cNvPr>
            <p:cNvCxnSpPr/>
            <p:nvPr/>
          </p:nvCxnSpPr>
          <p:spPr>
            <a:xfrm rot="10800000">
              <a:off x="5300446" y="4992616"/>
              <a:ext cx="856538" cy="0"/>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necteur droit avec flèche 24">
              <a:extLst>
                <a:ext uri="{FF2B5EF4-FFF2-40B4-BE49-F238E27FC236}">
                  <a16:creationId xmlns:a16="http://schemas.microsoft.com/office/drawing/2014/main" id="{60074BD2-0309-C489-120C-025D9567567C}"/>
                </a:ext>
              </a:extLst>
            </p:cNvPr>
            <p:cNvCxnSpPr/>
            <p:nvPr/>
          </p:nvCxnSpPr>
          <p:spPr>
            <a:xfrm flipH="1">
              <a:off x="5300446" y="5119797"/>
              <a:ext cx="856538" cy="202003"/>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CCD2E1D8-30FA-E70D-B5BC-82ED2B7A1BE2}"/>
                </a:ext>
              </a:extLst>
            </p:cNvPr>
            <p:cNvSpPr/>
            <p:nvPr/>
          </p:nvSpPr>
          <p:spPr>
            <a:xfrm>
              <a:off x="104792" y="5612182"/>
              <a:ext cx="721672" cy="430887"/>
            </a:xfrm>
            <a:prstGeom prst="rect">
              <a:avLst/>
            </a:prstGeom>
          </p:spPr>
          <p:txBody>
            <a:bodyPr wrap="square">
              <a:spAutoFit/>
            </a:bodyPr>
            <a:lstStyle/>
            <a:p>
              <a:r>
                <a:rPr lang="fr-FR" sz="1100" b="1" dirty="0"/>
                <a:t>ISBN</a:t>
              </a:r>
              <a:br>
                <a:rPr lang="fr-FR" sz="1100" b="1" dirty="0"/>
              </a:br>
              <a:r>
                <a:rPr lang="fr-FR" sz="1100" b="1" dirty="0"/>
                <a:t>010$a</a:t>
              </a:r>
            </a:p>
          </p:txBody>
        </p:sp>
        <p:cxnSp>
          <p:nvCxnSpPr>
            <p:cNvPr id="27" name="Connecteur droit avec flèche 26">
              <a:extLst>
                <a:ext uri="{FF2B5EF4-FFF2-40B4-BE49-F238E27FC236}">
                  <a16:creationId xmlns:a16="http://schemas.microsoft.com/office/drawing/2014/main" id="{8DDA531E-68D8-2DD6-A5FB-49C4A38D294F}"/>
                </a:ext>
              </a:extLst>
            </p:cNvPr>
            <p:cNvCxnSpPr>
              <a:stCxn id="26" idx="3"/>
            </p:cNvCxnSpPr>
            <p:nvPr/>
          </p:nvCxnSpPr>
          <p:spPr>
            <a:xfrm flipV="1">
              <a:off x="826464" y="5638624"/>
              <a:ext cx="2200200" cy="189002"/>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DBB7E822-E41C-EF62-A932-533EE29BD244}"/>
                </a:ext>
              </a:extLst>
            </p:cNvPr>
            <p:cNvSpPr/>
            <p:nvPr/>
          </p:nvSpPr>
          <p:spPr>
            <a:xfrm>
              <a:off x="6156984" y="5817408"/>
              <a:ext cx="445956" cy="261610"/>
            </a:xfrm>
            <a:prstGeom prst="rect">
              <a:avLst/>
            </a:prstGeom>
          </p:spPr>
          <p:txBody>
            <a:bodyPr wrap="none">
              <a:spAutoFit/>
            </a:bodyPr>
            <a:lstStyle/>
            <a:p>
              <a:r>
                <a:rPr lang="fr-FR" sz="1100" b="1" dirty="0"/>
                <a:t>Prix</a:t>
              </a:r>
            </a:p>
          </p:txBody>
        </p:sp>
        <p:cxnSp>
          <p:nvCxnSpPr>
            <p:cNvPr id="29" name="Connecteur droit avec flèche 28">
              <a:extLst>
                <a:ext uri="{FF2B5EF4-FFF2-40B4-BE49-F238E27FC236}">
                  <a16:creationId xmlns:a16="http://schemas.microsoft.com/office/drawing/2014/main" id="{81201250-6782-8CA7-2FD2-C5DC10FD05B4}"/>
                </a:ext>
              </a:extLst>
            </p:cNvPr>
            <p:cNvCxnSpPr/>
            <p:nvPr/>
          </p:nvCxnSpPr>
          <p:spPr>
            <a:xfrm rot="10800000">
              <a:off x="5300446" y="5943754"/>
              <a:ext cx="856538" cy="0"/>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388549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E31FDC78-5B6F-838B-537E-0EBD6CF9447A}"/>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2" name="TextBox 2">
            <a:extLst>
              <a:ext uri="{FF2B5EF4-FFF2-40B4-BE49-F238E27FC236}">
                <a16:creationId xmlns:a16="http://schemas.microsoft.com/office/drawing/2014/main" id="{19407A17-20BE-AEAC-97C5-15392E73F9C6}"/>
              </a:ext>
            </a:extLst>
          </p:cNvPr>
          <p:cNvSpPr txBox="1"/>
          <p:nvPr/>
        </p:nvSpPr>
        <p:spPr>
          <a:xfrm>
            <a:off x="8655767" y="914400"/>
            <a:ext cx="3547872" cy="1569660"/>
          </a:xfrm>
          <a:prstGeom prst="rect">
            <a:avLst/>
          </a:prstGeom>
          <a:noFill/>
        </p:spPr>
        <p:txBody>
          <a:bodyPr wrap="square">
            <a:spAutoFit/>
          </a:bodyPr>
          <a:lstStyle/>
          <a:p>
            <a:pPr>
              <a:defRPr sz="1600" b="1">
                <a:solidFill>
                  <a:srgbClr val="FFFFFF"/>
                </a:solidFill>
              </a:defRPr>
            </a:pPr>
            <a:r>
              <a:rPr lang="fr-FR" sz="3200" dirty="0"/>
              <a:t>Ordre conseillé pour une création manuelle</a:t>
            </a:r>
          </a:p>
        </p:txBody>
      </p:sp>
      <p:sp>
        <p:nvSpPr>
          <p:cNvPr id="33" name="Oval 3">
            <a:extLst>
              <a:ext uri="{FF2B5EF4-FFF2-40B4-BE49-F238E27FC236}">
                <a16:creationId xmlns:a16="http://schemas.microsoft.com/office/drawing/2014/main" id="{0444E7CA-BCE6-9DC8-601A-B7A755C4F4CE}"/>
              </a:ext>
            </a:extLst>
          </p:cNvPr>
          <p:cNvSpPr/>
          <p:nvPr/>
        </p:nvSpPr>
        <p:spPr>
          <a:xfrm>
            <a:off x="228600" y="1146607"/>
            <a:ext cx="548640" cy="548640"/>
          </a:xfrm>
          <a:prstGeom prst="ellipse">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rPr lang="fr-FR" sz="2800" noProof="0" dirty="0"/>
              <a:t>1</a:t>
            </a:r>
          </a:p>
        </p:txBody>
      </p:sp>
      <p:sp>
        <p:nvSpPr>
          <p:cNvPr id="34" name="TextBox 5">
            <a:extLst>
              <a:ext uri="{FF2B5EF4-FFF2-40B4-BE49-F238E27FC236}">
                <a16:creationId xmlns:a16="http://schemas.microsoft.com/office/drawing/2014/main" id="{DACE1616-34A3-A570-DBB0-A5A1653E524A}"/>
              </a:ext>
            </a:extLst>
          </p:cNvPr>
          <p:cNvSpPr txBox="1"/>
          <p:nvPr/>
        </p:nvSpPr>
        <p:spPr>
          <a:xfrm>
            <a:off x="1325800" y="1190095"/>
            <a:ext cx="1753881" cy="461665"/>
          </a:xfrm>
          <a:prstGeom prst="rect">
            <a:avLst/>
          </a:prstGeom>
          <a:noFill/>
        </p:spPr>
        <p:txBody>
          <a:bodyPr wrap="square">
            <a:spAutoFit/>
          </a:bodyPr>
          <a:lstStyle/>
          <a:p>
            <a:pPr>
              <a:defRPr sz="1600" b="1">
                <a:solidFill>
                  <a:srgbClr val="141991"/>
                </a:solidFill>
              </a:defRPr>
            </a:pPr>
            <a:r>
              <a:rPr lang="fr-FR" sz="2400" noProof="0" dirty="0">
                <a:solidFill>
                  <a:srgbClr val="002060"/>
                </a:solidFill>
              </a:rPr>
              <a:t>Identifier</a:t>
            </a:r>
          </a:p>
        </p:txBody>
      </p:sp>
      <p:sp>
        <p:nvSpPr>
          <p:cNvPr id="35" name="TextBox 6">
            <a:extLst>
              <a:ext uri="{FF2B5EF4-FFF2-40B4-BE49-F238E27FC236}">
                <a16:creationId xmlns:a16="http://schemas.microsoft.com/office/drawing/2014/main" id="{ED7EDB3B-6C95-D396-B098-207C474A9359}"/>
              </a:ext>
            </a:extLst>
          </p:cNvPr>
          <p:cNvSpPr txBox="1"/>
          <p:nvPr/>
        </p:nvSpPr>
        <p:spPr>
          <a:xfrm>
            <a:off x="3788750" y="1220872"/>
            <a:ext cx="3309366" cy="400110"/>
          </a:xfrm>
          <a:prstGeom prst="rect">
            <a:avLst/>
          </a:prstGeom>
          <a:noFill/>
        </p:spPr>
        <p:txBody>
          <a:bodyPr wrap="square">
            <a:spAutoFit/>
          </a:bodyPr>
          <a:lstStyle/>
          <a:p>
            <a:pPr>
              <a:defRPr sz="1200">
                <a:solidFill>
                  <a:srgbClr val="23232D"/>
                </a:solidFill>
              </a:defRPr>
            </a:pPr>
            <a:r>
              <a:rPr lang="fr-FR" sz="2000" noProof="0" dirty="0">
                <a:solidFill>
                  <a:srgbClr val="002060"/>
                </a:solidFill>
              </a:rPr>
              <a:t>010 / 073 / données codées</a:t>
            </a:r>
          </a:p>
        </p:txBody>
      </p:sp>
      <p:cxnSp>
        <p:nvCxnSpPr>
          <p:cNvPr id="36" name="Connecteur droit avec flèche 35">
            <a:extLst>
              <a:ext uri="{FF2B5EF4-FFF2-40B4-BE49-F238E27FC236}">
                <a16:creationId xmlns:a16="http://schemas.microsoft.com/office/drawing/2014/main" id="{83D72295-986D-34A6-E212-7720E60E884B}"/>
              </a:ext>
            </a:extLst>
          </p:cNvPr>
          <p:cNvCxnSpPr>
            <a:cxnSpLocks/>
            <a:stCxn id="33" idx="6"/>
            <a:endCxn id="34" idx="1"/>
          </p:cNvCxnSpPr>
          <p:nvPr/>
        </p:nvCxnSpPr>
        <p:spPr>
          <a:xfrm>
            <a:off x="777240" y="1420927"/>
            <a:ext cx="548560"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Connecteur droit avec flèche 36">
            <a:extLst>
              <a:ext uri="{FF2B5EF4-FFF2-40B4-BE49-F238E27FC236}">
                <a16:creationId xmlns:a16="http://schemas.microsoft.com/office/drawing/2014/main" id="{5C31FAF6-55C6-B3BF-6B97-A2D853FAEB14}"/>
              </a:ext>
            </a:extLst>
          </p:cNvPr>
          <p:cNvCxnSpPr>
            <a:cxnSpLocks/>
            <a:stCxn id="34" idx="3"/>
            <a:endCxn id="35" idx="1"/>
          </p:cNvCxnSpPr>
          <p:nvPr/>
        </p:nvCxnSpPr>
        <p:spPr>
          <a:xfrm flipV="1">
            <a:off x="3079681" y="1420927"/>
            <a:ext cx="709069"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8" name="Oval 3">
            <a:extLst>
              <a:ext uri="{FF2B5EF4-FFF2-40B4-BE49-F238E27FC236}">
                <a16:creationId xmlns:a16="http://schemas.microsoft.com/office/drawing/2014/main" id="{CCA56DD6-FC46-DD5C-2D02-1E3E8019201D}"/>
              </a:ext>
            </a:extLst>
          </p:cNvPr>
          <p:cNvSpPr/>
          <p:nvPr/>
        </p:nvSpPr>
        <p:spPr>
          <a:xfrm>
            <a:off x="228600" y="2073129"/>
            <a:ext cx="548640" cy="548640"/>
          </a:xfrm>
          <a:prstGeom prst="ellipse">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rPr lang="fr-FR" sz="2800" noProof="0" dirty="0"/>
              <a:t>2</a:t>
            </a:r>
          </a:p>
        </p:txBody>
      </p:sp>
      <p:sp>
        <p:nvSpPr>
          <p:cNvPr id="39" name="TextBox 5">
            <a:extLst>
              <a:ext uri="{FF2B5EF4-FFF2-40B4-BE49-F238E27FC236}">
                <a16:creationId xmlns:a16="http://schemas.microsoft.com/office/drawing/2014/main" id="{CDC658AA-07D4-D5AF-18C4-0286FD1256AB}"/>
              </a:ext>
            </a:extLst>
          </p:cNvPr>
          <p:cNvSpPr txBox="1"/>
          <p:nvPr/>
        </p:nvSpPr>
        <p:spPr>
          <a:xfrm>
            <a:off x="1325800" y="2116617"/>
            <a:ext cx="1753881" cy="461665"/>
          </a:xfrm>
          <a:prstGeom prst="rect">
            <a:avLst/>
          </a:prstGeom>
          <a:noFill/>
        </p:spPr>
        <p:txBody>
          <a:bodyPr wrap="square">
            <a:spAutoFit/>
          </a:bodyPr>
          <a:lstStyle/>
          <a:p>
            <a:pPr>
              <a:defRPr sz="1600" b="1">
                <a:solidFill>
                  <a:srgbClr val="141991"/>
                </a:solidFill>
              </a:defRPr>
            </a:pPr>
            <a:r>
              <a:rPr lang="fr-FR" sz="2400" noProof="0" dirty="0">
                <a:solidFill>
                  <a:srgbClr val="002060"/>
                </a:solidFill>
              </a:rPr>
              <a:t>Décrire</a:t>
            </a:r>
          </a:p>
        </p:txBody>
      </p:sp>
      <p:sp>
        <p:nvSpPr>
          <p:cNvPr id="40" name="TextBox 6">
            <a:extLst>
              <a:ext uri="{FF2B5EF4-FFF2-40B4-BE49-F238E27FC236}">
                <a16:creationId xmlns:a16="http://schemas.microsoft.com/office/drawing/2014/main" id="{CA780259-C1AC-9646-29BF-F5C61C6B77FD}"/>
              </a:ext>
            </a:extLst>
          </p:cNvPr>
          <p:cNvSpPr txBox="1"/>
          <p:nvPr/>
        </p:nvSpPr>
        <p:spPr>
          <a:xfrm>
            <a:off x="3788750" y="2147394"/>
            <a:ext cx="3309366" cy="400110"/>
          </a:xfrm>
          <a:prstGeom prst="rect">
            <a:avLst/>
          </a:prstGeom>
          <a:noFill/>
        </p:spPr>
        <p:txBody>
          <a:bodyPr wrap="square">
            <a:spAutoFit/>
          </a:bodyPr>
          <a:lstStyle/>
          <a:p>
            <a:pPr>
              <a:defRPr sz="1200">
                <a:solidFill>
                  <a:srgbClr val="23232D"/>
                </a:solidFill>
              </a:defRPr>
            </a:pPr>
            <a:r>
              <a:rPr lang="fr-FR" sz="2000" noProof="0" dirty="0">
                <a:solidFill>
                  <a:srgbClr val="002060"/>
                </a:solidFill>
              </a:rPr>
              <a:t>200 / 205 / 214 / 215</a:t>
            </a:r>
          </a:p>
        </p:txBody>
      </p:sp>
      <p:cxnSp>
        <p:nvCxnSpPr>
          <p:cNvPr id="41" name="Connecteur droit avec flèche 40">
            <a:extLst>
              <a:ext uri="{FF2B5EF4-FFF2-40B4-BE49-F238E27FC236}">
                <a16:creationId xmlns:a16="http://schemas.microsoft.com/office/drawing/2014/main" id="{C7F2796E-530E-22BA-883E-8455B323D5DE}"/>
              </a:ext>
            </a:extLst>
          </p:cNvPr>
          <p:cNvCxnSpPr>
            <a:cxnSpLocks/>
            <a:stCxn id="38" idx="6"/>
            <a:endCxn id="39" idx="1"/>
          </p:cNvCxnSpPr>
          <p:nvPr/>
        </p:nvCxnSpPr>
        <p:spPr>
          <a:xfrm>
            <a:off x="777240" y="2347449"/>
            <a:ext cx="548560"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Connecteur droit avec flèche 41">
            <a:extLst>
              <a:ext uri="{FF2B5EF4-FFF2-40B4-BE49-F238E27FC236}">
                <a16:creationId xmlns:a16="http://schemas.microsoft.com/office/drawing/2014/main" id="{AB49E1DD-5EF7-8CE2-41B5-D314C15424D2}"/>
              </a:ext>
            </a:extLst>
          </p:cNvPr>
          <p:cNvCxnSpPr>
            <a:cxnSpLocks/>
            <a:stCxn id="39" idx="3"/>
            <a:endCxn id="40" idx="1"/>
          </p:cNvCxnSpPr>
          <p:nvPr/>
        </p:nvCxnSpPr>
        <p:spPr>
          <a:xfrm flipV="1">
            <a:off x="3079681" y="2347449"/>
            <a:ext cx="709069"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3" name="Oval 3">
            <a:extLst>
              <a:ext uri="{FF2B5EF4-FFF2-40B4-BE49-F238E27FC236}">
                <a16:creationId xmlns:a16="http://schemas.microsoft.com/office/drawing/2014/main" id="{861096E5-0552-F243-2B7D-8C7B9082F656}"/>
              </a:ext>
            </a:extLst>
          </p:cNvPr>
          <p:cNvSpPr/>
          <p:nvPr/>
        </p:nvSpPr>
        <p:spPr>
          <a:xfrm>
            <a:off x="228600" y="2999651"/>
            <a:ext cx="548640" cy="548640"/>
          </a:xfrm>
          <a:prstGeom prst="ellipse">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rPr lang="fr-FR" sz="2800" noProof="0" dirty="0"/>
              <a:t>3</a:t>
            </a:r>
          </a:p>
        </p:txBody>
      </p:sp>
      <p:sp>
        <p:nvSpPr>
          <p:cNvPr id="44" name="TextBox 5">
            <a:extLst>
              <a:ext uri="{FF2B5EF4-FFF2-40B4-BE49-F238E27FC236}">
                <a16:creationId xmlns:a16="http://schemas.microsoft.com/office/drawing/2014/main" id="{75C4117C-1B65-D29E-D79B-4C9B9ADB4B44}"/>
              </a:ext>
            </a:extLst>
          </p:cNvPr>
          <p:cNvSpPr txBox="1"/>
          <p:nvPr/>
        </p:nvSpPr>
        <p:spPr>
          <a:xfrm>
            <a:off x="1325800" y="3043139"/>
            <a:ext cx="1753881" cy="461665"/>
          </a:xfrm>
          <a:prstGeom prst="rect">
            <a:avLst/>
          </a:prstGeom>
          <a:noFill/>
        </p:spPr>
        <p:txBody>
          <a:bodyPr wrap="square">
            <a:spAutoFit/>
          </a:bodyPr>
          <a:lstStyle/>
          <a:p>
            <a:pPr>
              <a:defRPr sz="1600" b="1">
                <a:solidFill>
                  <a:srgbClr val="141991"/>
                </a:solidFill>
              </a:defRPr>
            </a:pPr>
            <a:r>
              <a:rPr lang="fr-FR" sz="2400" noProof="0" dirty="0">
                <a:solidFill>
                  <a:srgbClr val="002060"/>
                </a:solidFill>
              </a:rPr>
              <a:t>Compléter</a:t>
            </a:r>
          </a:p>
        </p:txBody>
      </p:sp>
      <p:sp>
        <p:nvSpPr>
          <p:cNvPr id="45" name="TextBox 6">
            <a:extLst>
              <a:ext uri="{FF2B5EF4-FFF2-40B4-BE49-F238E27FC236}">
                <a16:creationId xmlns:a16="http://schemas.microsoft.com/office/drawing/2014/main" id="{8AE180AC-4187-A512-303C-E5E47D846F34}"/>
              </a:ext>
            </a:extLst>
          </p:cNvPr>
          <p:cNvSpPr txBox="1"/>
          <p:nvPr/>
        </p:nvSpPr>
        <p:spPr>
          <a:xfrm>
            <a:off x="3788750" y="3073916"/>
            <a:ext cx="3309366" cy="400110"/>
          </a:xfrm>
          <a:prstGeom prst="rect">
            <a:avLst/>
          </a:prstGeom>
          <a:noFill/>
        </p:spPr>
        <p:txBody>
          <a:bodyPr wrap="square">
            <a:spAutoFit/>
          </a:bodyPr>
          <a:lstStyle/>
          <a:p>
            <a:pPr>
              <a:defRPr sz="1200">
                <a:solidFill>
                  <a:srgbClr val="23232D"/>
                </a:solidFill>
              </a:defRPr>
            </a:pPr>
            <a:r>
              <a:rPr lang="fr-FR" sz="2000" noProof="0" dirty="0">
                <a:solidFill>
                  <a:srgbClr val="002060"/>
                </a:solidFill>
              </a:rPr>
              <a:t>200 / 205 / 214 / 215</a:t>
            </a:r>
          </a:p>
        </p:txBody>
      </p:sp>
      <p:cxnSp>
        <p:nvCxnSpPr>
          <p:cNvPr id="46" name="Connecteur droit avec flèche 45">
            <a:extLst>
              <a:ext uri="{FF2B5EF4-FFF2-40B4-BE49-F238E27FC236}">
                <a16:creationId xmlns:a16="http://schemas.microsoft.com/office/drawing/2014/main" id="{34873FEB-1EDD-0128-DC33-CFC6F04991A1}"/>
              </a:ext>
            </a:extLst>
          </p:cNvPr>
          <p:cNvCxnSpPr>
            <a:cxnSpLocks/>
            <a:stCxn id="43" idx="6"/>
            <a:endCxn id="44" idx="1"/>
          </p:cNvCxnSpPr>
          <p:nvPr/>
        </p:nvCxnSpPr>
        <p:spPr>
          <a:xfrm>
            <a:off x="777240" y="3273971"/>
            <a:ext cx="548560"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Connecteur droit avec flèche 46">
            <a:extLst>
              <a:ext uri="{FF2B5EF4-FFF2-40B4-BE49-F238E27FC236}">
                <a16:creationId xmlns:a16="http://schemas.microsoft.com/office/drawing/2014/main" id="{CDCAA5B6-E121-7F87-9196-74FF917E9F23}"/>
              </a:ext>
            </a:extLst>
          </p:cNvPr>
          <p:cNvCxnSpPr>
            <a:cxnSpLocks/>
            <a:stCxn id="44" idx="3"/>
            <a:endCxn id="45" idx="1"/>
          </p:cNvCxnSpPr>
          <p:nvPr/>
        </p:nvCxnSpPr>
        <p:spPr>
          <a:xfrm flipV="1">
            <a:off x="3079681" y="3273971"/>
            <a:ext cx="709069"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8" name="Oval 3">
            <a:extLst>
              <a:ext uri="{FF2B5EF4-FFF2-40B4-BE49-F238E27FC236}">
                <a16:creationId xmlns:a16="http://schemas.microsoft.com/office/drawing/2014/main" id="{A38D7D6D-A5AF-7DD6-F127-394F5CEC08DC}"/>
              </a:ext>
            </a:extLst>
          </p:cNvPr>
          <p:cNvSpPr/>
          <p:nvPr/>
        </p:nvSpPr>
        <p:spPr>
          <a:xfrm>
            <a:off x="228600" y="3926173"/>
            <a:ext cx="548640" cy="548640"/>
          </a:xfrm>
          <a:prstGeom prst="ellipse">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rPr lang="fr-FR" sz="2800" noProof="0" dirty="0"/>
              <a:t>4</a:t>
            </a:r>
          </a:p>
        </p:txBody>
      </p:sp>
      <p:sp>
        <p:nvSpPr>
          <p:cNvPr id="49" name="TextBox 5">
            <a:extLst>
              <a:ext uri="{FF2B5EF4-FFF2-40B4-BE49-F238E27FC236}">
                <a16:creationId xmlns:a16="http://schemas.microsoft.com/office/drawing/2014/main" id="{6850EB60-58BE-FB5E-D53F-2BF7345CEB32}"/>
              </a:ext>
            </a:extLst>
          </p:cNvPr>
          <p:cNvSpPr txBox="1"/>
          <p:nvPr/>
        </p:nvSpPr>
        <p:spPr>
          <a:xfrm>
            <a:off x="1325800" y="3969661"/>
            <a:ext cx="1941275" cy="461665"/>
          </a:xfrm>
          <a:prstGeom prst="rect">
            <a:avLst/>
          </a:prstGeom>
          <a:noFill/>
        </p:spPr>
        <p:txBody>
          <a:bodyPr wrap="square">
            <a:spAutoFit/>
          </a:bodyPr>
          <a:lstStyle/>
          <a:p>
            <a:pPr>
              <a:defRPr sz="1600" b="1">
                <a:solidFill>
                  <a:srgbClr val="141991"/>
                </a:solidFill>
              </a:defRPr>
            </a:pPr>
            <a:r>
              <a:rPr lang="fr-FR" sz="2400" noProof="0" dirty="0">
                <a:solidFill>
                  <a:srgbClr val="002060"/>
                </a:solidFill>
              </a:rPr>
              <a:t>Donner accès</a:t>
            </a:r>
          </a:p>
        </p:txBody>
      </p:sp>
      <p:sp>
        <p:nvSpPr>
          <p:cNvPr id="50" name="TextBox 6">
            <a:extLst>
              <a:ext uri="{FF2B5EF4-FFF2-40B4-BE49-F238E27FC236}">
                <a16:creationId xmlns:a16="http://schemas.microsoft.com/office/drawing/2014/main" id="{84D97821-927B-88F7-1C7E-B51EC1790A68}"/>
              </a:ext>
            </a:extLst>
          </p:cNvPr>
          <p:cNvSpPr txBox="1"/>
          <p:nvPr/>
        </p:nvSpPr>
        <p:spPr>
          <a:xfrm>
            <a:off x="3922100" y="4000438"/>
            <a:ext cx="3309366" cy="400110"/>
          </a:xfrm>
          <a:prstGeom prst="rect">
            <a:avLst/>
          </a:prstGeom>
          <a:noFill/>
        </p:spPr>
        <p:txBody>
          <a:bodyPr wrap="square">
            <a:spAutoFit/>
          </a:bodyPr>
          <a:lstStyle/>
          <a:p>
            <a:pPr>
              <a:defRPr sz="1200">
                <a:solidFill>
                  <a:srgbClr val="23232D"/>
                </a:solidFill>
              </a:defRPr>
            </a:pPr>
            <a:r>
              <a:rPr lang="fr-FR" sz="2000" noProof="0" dirty="0">
                <a:solidFill>
                  <a:srgbClr val="002060"/>
                </a:solidFill>
              </a:rPr>
              <a:t>6XX / 7XX / 856</a:t>
            </a:r>
          </a:p>
        </p:txBody>
      </p:sp>
      <p:cxnSp>
        <p:nvCxnSpPr>
          <p:cNvPr id="51" name="Connecteur droit avec flèche 50">
            <a:extLst>
              <a:ext uri="{FF2B5EF4-FFF2-40B4-BE49-F238E27FC236}">
                <a16:creationId xmlns:a16="http://schemas.microsoft.com/office/drawing/2014/main" id="{995698D3-883A-2417-B3D7-58B2D8DD9480}"/>
              </a:ext>
            </a:extLst>
          </p:cNvPr>
          <p:cNvCxnSpPr>
            <a:cxnSpLocks/>
            <a:stCxn id="48" idx="6"/>
            <a:endCxn id="49" idx="1"/>
          </p:cNvCxnSpPr>
          <p:nvPr/>
        </p:nvCxnSpPr>
        <p:spPr>
          <a:xfrm>
            <a:off x="777240" y="4200493"/>
            <a:ext cx="548560"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2" name="Connecteur droit avec flèche 51">
            <a:extLst>
              <a:ext uri="{FF2B5EF4-FFF2-40B4-BE49-F238E27FC236}">
                <a16:creationId xmlns:a16="http://schemas.microsoft.com/office/drawing/2014/main" id="{B766E503-D4D9-1513-63F7-4437C5BF96B2}"/>
              </a:ext>
            </a:extLst>
          </p:cNvPr>
          <p:cNvCxnSpPr>
            <a:cxnSpLocks/>
            <a:stCxn id="49" idx="3"/>
            <a:endCxn id="50" idx="1"/>
          </p:cNvCxnSpPr>
          <p:nvPr/>
        </p:nvCxnSpPr>
        <p:spPr>
          <a:xfrm flipV="1">
            <a:off x="3267075" y="4200493"/>
            <a:ext cx="655025"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5" name="Oval 3">
            <a:extLst>
              <a:ext uri="{FF2B5EF4-FFF2-40B4-BE49-F238E27FC236}">
                <a16:creationId xmlns:a16="http://schemas.microsoft.com/office/drawing/2014/main" id="{0CBD6C8A-6F80-D026-27E4-3FF2A6A77195}"/>
              </a:ext>
            </a:extLst>
          </p:cNvPr>
          <p:cNvSpPr/>
          <p:nvPr/>
        </p:nvSpPr>
        <p:spPr>
          <a:xfrm>
            <a:off x="228600" y="4852695"/>
            <a:ext cx="548640" cy="548640"/>
          </a:xfrm>
          <a:prstGeom prst="ellipse">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rPr lang="fr-FR" sz="2800" noProof="0" dirty="0"/>
              <a:t>5</a:t>
            </a:r>
          </a:p>
        </p:txBody>
      </p:sp>
      <p:sp>
        <p:nvSpPr>
          <p:cNvPr id="56" name="TextBox 5">
            <a:extLst>
              <a:ext uri="{FF2B5EF4-FFF2-40B4-BE49-F238E27FC236}">
                <a16:creationId xmlns:a16="http://schemas.microsoft.com/office/drawing/2014/main" id="{F351294E-3DE2-2AF9-CD69-BA2328D0E98A}"/>
              </a:ext>
            </a:extLst>
          </p:cNvPr>
          <p:cNvSpPr txBox="1"/>
          <p:nvPr/>
        </p:nvSpPr>
        <p:spPr>
          <a:xfrm>
            <a:off x="1325800" y="4896183"/>
            <a:ext cx="1941275" cy="461665"/>
          </a:xfrm>
          <a:prstGeom prst="rect">
            <a:avLst/>
          </a:prstGeom>
          <a:noFill/>
        </p:spPr>
        <p:txBody>
          <a:bodyPr wrap="square">
            <a:spAutoFit/>
          </a:bodyPr>
          <a:lstStyle/>
          <a:p>
            <a:pPr>
              <a:defRPr sz="1600" b="1">
                <a:solidFill>
                  <a:srgbClr val="141991"/>
                </a:solidFill>
              </a:defRPr>
            </a:pPr>
            <a:r>
              <a:rPr lang="fr-FR" sz="2400" noProof="0" dirty="0">
                <a:solidFill>
                  <a:srgbClr val="002060"/>
                </a:solidFill>
              </a:rPr>
              <a:t>Exemplariser</a:t>
            </a:r>
          </a:p>
        </p:txBody>
      </p:sp>
      <p:sp>
        <p:nvSpPr>
          <p:cNvPr id="57" name="TextBox 6">
            <a:extLst>
              <a:ext uri="{FF2B5EF4-FFF2-40B4-BE49-F238E27FC236}">
                <a16:creationId xmlns:a16="http://schemas.microsoft.com/office/drawing/2014/main" id="{C165CC84-BB3A-1E09-7F58-7C2AD7275142}"/>
              </a:ext>
            </a:extLst>
          </p:cNvPr>
          <p:cNvSpPr txBox="1"/>
          <p:nvPr/>
        </p:nvSpPr>
        <p:spPr>
          <a:xfrm>
            <a:off x="3922100" y="4926960"/>
            <a:ext cx="3309366" cy="400110"/>
          </a:xfrm>
          <a:prstGeom prst="rect">
            <a:avLst/>
          </a:prstGeom>
          <a:noFill/>
        </p:spPr>
        <p:txBody>
          <a:bodyPr wrap="square">
            <a:spAutoFit/>
          </a:bodyPr>
          <a:lstStyle/>
          <a:p>
            <a:pPr>
              <a:defRPr sz="1200">
                <a:solidFill>
                  <a:srgbClr val="23232D"/>
                </a:solidFill>
              </a:defRPr>
            </a:pPr>
            <a:r>
              <a:rPr lang="fr-FR" sz="2000" noProof="0" dirty="0">
                <a:solidFill>
                  <a:srgbClr val="002060"/>
                </a:solidFill>
              </a:rPr>
              <a:t>Données locales</a:t>
            </a:r>
          </a:p>
        </p:txBody>
      </p:sp>
      <p:cxnSp>
        <p:nvCxnSpPr>
          <p:cNvPr id="58" name="Connecteur droit avec flèche 57">
            <a:extLst>
              <a:ext uri="{FF2B5EF4-FFF2-40B4-BE49-F238E27FC236}">
                <a16:creationId xmlns:a16="http://schemas.microsoft.com/office/drawing/2014/main" id="{879AFC31-369D-1BB6-7ABF-B12AC369C02C}"/>
              </a:ext>
            </a:extLst>
          </p:cNvPr>
          <p:cNvCxnSpPr>
            <a:cxnSpLocks/>
            <a:stCxn id="55" idx="6"/>
            <a:endCxn id="56" idx="1"/>
          </p:cNvCxnSpPr>
          <p:nvPr/>
        </p:nvCxnSpPr>
        <p:spPr>
          <a:xfrm>
            <a:off x="777240" y="5127015"/>
            <a:ext cx="548560"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9" name="Connecteur droit avec flèche 58">
            <a:extLst>
              <a:ext uri="{FF2B5EF4-FFF2-40B4-BE49-F238E27FC236}">
                <a16:creationId xmlns:a16="http://schemas.microsoft.com/office/drawing/2014/main" id="{A5966C0C-7D59-2F40-EAE5-2F864277607E}"/>
              </a:ext>
            </a:extLst>
          </p:cNvPr>
          <p:cNvCxnSpPr>
            <a:cxnSpLocks/>
            <a:stCxn id="56" idx="3"/>
            <a:endCxn id="57" idx="1"/>
          </p:cNvCxnSpPr>
          <p:nvPr/>
        </p:nvCxnSpPr>
        <p:spPr>
          <a:xfrm flipV="1">
            <a:off x="3267075" y="5127015"/>
            <a:ext cx="655025"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A60784B-0557-F1A2-3BFF-AC0D6252FD8A}"/>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8DE9DECA-E129-3DD0-7FA5-0913F8C05266}"/>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2" name="TextBox 2">
            <a:extLst>
              <a:ext uri="{FF2B5EF4-FFF2-40B4-BE49-F238E27FC236}">
                <a16:creationId xmlns:a16="http://schemas.microsoft.com/office/drawing/2014/main" id="{F7C153A6-B8DC-6110-0AD9-033B4CD0A410}"/>
              </a:ext>
            </a:extLst>
          </p:cNvPr>
          <p:cNvSpPr txBox="1"/>
          <p:nvPr/>
        </p:nvSpPr>
        <p:spPr>
          <a:xfrm>
            <a:off x="8655767" y="914400"/>
            <a:ext cx="3547872" cy="1569660"/>
          </a:xfrm>
          <a:prstGeom prst="rect">
            <a:avLst/>
          </a:prstGeom>
          <a:noFill/>
        </p:spPr>
        <p:txBody>
          <a:bodyPr wrap="square">
            <a:spAutoFit/>
          </a:bodyPr>
          <a:lstStyle/>
          <a:p>
            <a:pPr>
              <a:defRPr sz="1600" b="1">
                <a:solidFill>
                  <a:srgbClr val="FFFFFF"/>
                </a:solidFill>
              </a:defRPr>
            </a:pPr>
            <a:r>
              <a:rPr lang="fr-FR" sz="3200" dirty="0"/>
              <a:t>Champs minimum pour cataloguer une ressource</a:t>
            </a:r>
          </a:p>
        </p:txBody>
      </p:sp>
      <p:graphicFrame>
        <p:nvGraphicFramePr>
          <p:cNvPr id="4" name="Tableau 3">
            <a:extLst>
              <a:ext uri="{FF2B5EF4-FFF2-40B4-BE49-F238E27FC236}">
                <a16:creationId xmlns:a16="http://schemas.microsoft.com/office/drawing/2014/main" id="{3305B175-5449-19AF-0C9C-98D40C2541E5}"/>
              </a:ext>
            </a:extLst>
          </p:cNvPr>
          <p:cNvGraphicFramePr>
            <a:graphicFrameLocks noGrp="1"/>
          </p:cNvGraphicFramePr>
          <p:nvPr>
            <p:extLst>
              <p:ext uri="{D42A27DB-BD31-4B8C-83A1-F6EECF244321}">
                <p14:modId xmlns:p14="http://schemas.microsoft.com/office/powerpoint/2010/main" val="685173648"/>
              </p:ext>
            </p:extLst>
          </p:nvPr>
        </p:nvGraphicFramePr>
        <p:xfrm>
          <a:off x="215806" y="247650"/>
          <a:ext cx="7986993" cy="4525962"/>
        </p:xfrm>
        <a:graphic>
          <a:graphicData uri="http://schemas.openxmlformats.org/drawingml/2006/table">
            <a:tbl>
              <a:tblPr>
                <a:tableStyleId>{5C22544A-7EE6-4342-B048-85BDC9FD1C3A}</a:tableStyleId>
              </a:tblPr>
              <a:tblGrid>
                <a:gridCol w="2662331">
                  <a:extLst>
                    <a:ext uri="{9D8B030D-6E8A-4147-A177-3AD203B41FA5}">
                      <a16:colId xmlns:a16="http://schemas.microsoft.com/office/drawing/2014/main" val="3254965561"/>
                    </a:ext>
                  </a:extLst>
                </a:gridCol>
                <a:gridCol w="2662331">
                  <a:extLst>
                    <a:ext uri="{9D8B030D-6E8A-4147-A177-3AD203B41FA5}">
                      <a16:colId xmlns:a16="http://schemas.microsoft.com/office/drawing/2014/main" val="1073668688"/>
                    </a:ext>
                  </a:extLst>
                </a:gridCol>
                <a:gridCol w="2662331">
                  <a:extLst>
                    <a:ext uri="{9D8B030D-6E8A-4147-A177-3AD203B41FA5}">
                      <a16:colId xmlns:a16="http://schemas.microsoft.com/office/drawing/2014/main" val="2450813836"/>
                    </a:ext>
                  </a:extLst>
                </a:gridCol>
              </a:tblGrid>
              <a:tr h="354977">
                <a:tc>
                  <a:txBody>
                    <a:bodyPr/>
                    <a:lstStyle/>
                    <a:p>
                      <a:pPr>
                        <a:buNone/>
                      </a:pPr>
                      <a:r>
                        <a:rPr lang="fr-FR" sz="1700" dirty="0"/>
                        <a:t>Champ</a:t>
                      </a:r>
                    </a:p>
                  </a:txBody>
                  <a:tcPr marL="88744" marR="88744" marT="44372" marB="44372" anchor="ctr"/>
                </a:tc>
                <a:tc>
                  <a:txBody>
                    <a:bodyPr/>
                    <a:lstStyle/>
                    <a:p>
                      <a:pPr>
                        <a:buNone/>
                      </a:pPr>
                      <a:r>
                        <a:rPr lang="fr-FR" sz="1700"/>
                        <a:t>Information</a:t>
                      </a:r>
                    </a:p>
                  </a:txBody>
                  <a:tcPr marL="88744" marR="88744" marT="44372" marB="44372" anchor="ctr"/>
                </a:tc>
                <a:tc>
                  <a:txBody>
                    <a:bodyPr/>
                    <a:lstStyle/>
                    <a:p>
                      <a:pPr>
                        <a:buNone/>
                      </a:pPr>
                      <a:r>
                        <a:rPr lang="fr-FR" sz="1700"/>
                        <a:t>Sous-champs principaux</a:t>
                      </a:r>
                    </a:p>
                  </a:txBody>
                  <a:tcPr marL="88744" marR="88744" marT="44372" marB="44372" anchor="ctr"/>
                </a:tc>
                <a:extLst>
                  <a:ext uri="{0D108BD9-81ED-4DB2-BD59-A6C34878D82A}">
                    <a16:rowId xmlns:a16="http://schemas.microsoft.com/office/drawing/2014/main" val="1494594016"/>
                  </a:ext>
                </a:extLst>
              </a:tr>
              <a:tr h="354977">
                <a:tc>
                  <a:txBody>
                    <a:bodyPr/>
                    <a:lstStyle/>
                    <a:p>
                      <a:pPr>
                        <a:buNone/>
                      </a:pPr>
                      <a:r>
                        <a:rPr lang="fr-FR" sz="1700"/>
                        <a:t>000</a:t>
                      </a:r>
                    </a:p>
                  </a:txBody>
                  <a:tcPr marL="88744" marR="88744" marT="44372" marB="44372" anchor="ctr"/>
                </a:tc>
                <a:tc>
                  <a:txBody>
                    <a:bodyPr/>
                    <a:lstStyle/>
                    <a:p>
                      <a:pPr>
                        <a:buNone/>
                      </a:pPr>
                      <a:r>
                        <a:rPr lang="fr-FR" sz="1700"/>
                        <a:t>Label de la notice</a:t>
                      </a:r>
                    </a:p>
                  </a:txBody>
                  <a:tcPr marL="88744" marR="88744" marT="44372" marB="44372" anchor="ctr"/>
                </a:tc>
                <a:tc>
                  <a:txBody>
                    <a:bodyPr/>
                    <a:lstStyle/>
                    <a:p>
                      <a:pPr>
                        <a:buNone/>
                      </a:pPr>
                      <a:r>
                        <a:rPr lang="fr-FR" sz="1700"/>
                        <a:t>Données codées</a:t>
                      </a:r>
                    </a:p>
                  </a:txBody>
                  <a:tcPr marL="88744" marR="88744" marT="44372" marB="44372" anchor="ctr"/>
                </a:tc>
                <a:extLst>
                  <a:ext uri="{0D108BD9-81ED-4DB2-BD59-A6C34878D82A}">
                    <a16:rowId xmlns:a16="http://schemas.microsoft.com/office/drawing/2014/main" val="1946168694"/>
                  </a:ext>
                </a:extLst>
              </a:tr>
              <a:tr h="621211">
                <a:tc>
                  <a:txBody>
                    <a:bodyPr/>
                    <a:lstStyle/>
                    <a:p>
                      <a:pPr>
                        <a:buNone/>
                      </a:pPr>
                      <a:r>
                        <a:rPr lang="fr-FR" sz="1700"/>
                        <a:t>100</a:t>
                      </a:r>
                    </a:p>
                  </a:txBody>
                  <a:tcPr marL="88744" marR="88744" marT="44372" marB="44372" anchor="ctr"/>
                </a:tc>
                <a:tc>
                  <a:txBody>
                    <a:bodyPr/>
                    <a:lstStyle/>
                    <a:p>
                      <a:pPr>
                        <a:buNone/>
                      </a:pPr>
                      <a:r>
                        <a:rPr lang="fr-FR" sz="1700"/>
                        <a:t>Données générales de traitement</a:t>
                      </a:r>
                    </a:p>
                  </a:txBody>
                  <a:tcPr marL="88744" marR="88744" marT="44372" marB="44372" anchor="ctr"/>
                </a:tc>
                <a:tc>
                  <a:txBody>
                    <a:bodyPr/>
                    <a:lstStyle/>
                    <a:p>
                      <a:pPr>
                        <a:buNone/>
                      </a:pPr>
                      <a:r>
                        <a:rPr lang="fr-FR" sz="1700"/>
                        <a:t>$a</a:t>
                      </a:r>
                    </a:p>
                  </a:txBody>
                  <a:tcPr marL="88744" marR="88744" marT="44372" marB="44372" anchor="ctr"/>
                </a:tc>
                <a:extLst>
                  <a:ext uri="{0D108BD9-81ED-4DB2-BD59-A6C34878D82A}">
                    <a16:rowId xmlns:a16="http://schemas.microsoft.com/office/drawing/2014/main" val="697778271"/>
                  </a:ext>
                </a:extLst>
              </a:tr>
              <a:tr h="354977">
                <a:tc>
                  <a:txBody>
                    <a:bodyPr/>
                    <a:lstStyle/>
                    <a:p>
                      <a:pPr>
                        <a:buNone/>
                      </a:pPr>
                      <a:r>
                        <a:rPr lang="fr-FR" sz="1700"/>
                        <a:t>101</a:t>
                      </a:r>
                    </a:p>
                  </a:txBody>
                  <a:tcPr marL="88744" marR="88744" marT="44372" marB="44372" anchor="ctr"/>
                </a:tc>
                <a:tc>
                  <a:txBody>
                    <a:bodyPr/>
                    <a:lstStyle/>
                    <a:p>
                      <a:pPr>
                        <a:buNone/>
                      </a:pPr>
                      <a:r>
                        <a:rPr lang="fr-FR" sz="1700"/>
                        <a:t>Langue de la ressource</a:t>
                      </a:r>
                    </a:p>
                  </a:txBody>
                  <a:tcPr marL="88744" marR="88744" marT="44372" marB="44372" anchor="ctr"/>
                </a:tc>
                <a:tc>
                  <a:txBody>
                    <a:bodyPr/>
                    <a:lstStyle/>
                    <a:p>
                      <a:pPr>
                        <a:buNone/>
                      </a:pPr>
                      <a:r>
                        <a:rPr lang="fr-FR" sz="1700"/>
                        <a:t>$a</a:t>
                      </a:r>
                    </a:p>
                  </a:txBody>
                  <a:tcPr marL="88744" marR="88744" marT="44372" marB="44372" anchor="ctr"/>
                </a:tc>
                <a:extLst>
                  <a:ext uri="{0D108BD9-81ED-4DB2-BD59-A6C34878D82A}">
                    <a16:rowId xmlns:a16="http://schemas.microsoft.com/office/drawing/2014/main" val="3460267403"/>
                  </a:ext>
                </a:extLst>
              </a:tr>
              <a:tr h="621211">
                <a:tc>
                  <a:txBody>
                    <a:bodyPr/>
                    <a:lstStyle/>
                    <a:p>
                      <a:pPr>
                        <a:buNone/>
                      </a:pPr>
                      <a:r>
                        <a:rPr lang="fr-FR" sz="1700"/>
                        <a:t>200</a:t>
                      </a:r>
                    </a:p>
                  </a:txBody>
                  <a:tcPr marL="88744" marR="88744" marT="44372" marB="44372" anchor="ctr"/>
                </a:tc>
                <a:tc>
                  <a:txBody>
                    <a:bodyPr/>
                    <a:lstStyle/>
                    <a:p>
                      <a:pPr>
                        <a:buNone/>
                      </a:pPr>
                      <a:r>
                        <a:rPr lang="fr-FR" sz="1700"/>
                        <a:t>Titre et mention de responsabilité</a:t>
                      </a:r>
                    </a:p>
                  </a:txBody>
                  <a:tcPr marL="88744" marR="88744" marT="44372" marB="44372" anchor="ctr"/>
                </a:tc>
                <a:tc>
                  <a:txBody>
                    <a:bodyPr/>
                    <a:lstStyle/>
                    <a:p>
                      <a:pPr>
                        <a:buNone/>
                      </a:pPr>
                      <a:r>
                        <a:rPr lang="fr-FR" sz="1700"/>
                        <a:t>$a titre, $e complément, $f responsabilité</a:t>
                      </a:r>
                    </a:p>
                  </a:txBody>
                  <a:tcPr marL="88744" marR="88744" marT="44372" marB="44372" anchor="ctr"/>
                </a:tc>
                <a:extLst>
                  <a:ext uri="{0D108BD9-81ED-4DB2-BD59-A6C34878D82A}">
                    <a16:rowId xmlns:a16="http://schemas.microsoft.com/office/drawing/2014/main" val="4238521668"/>
                  </a:ext>
                </a:extLst>
              </a:tr>
              <a:tr h="354977">
                <a:tc>
                  <a:txBody>
                    <a:bodyPr/>
                    <a:lstStyle/>
                    <a:p>
                      <a:pPr>
                        <a:buNone/>
                      </a:pPr>
                      <a:r>
                        <a:rPr lang="fr-FR" sz="1700"/>
                        <a:t>214</a:t>
                      </a:r>
                    </a:p>
                  </a:txBody>
                  <a:tcPr marL="88744" marR="88744" marT="44372" marB="44372" anchor="ctr"/>
                </a:tc>
                <a:tc>
                  <a:txBody>
                    <a:bodyPr/>
                    <a:lstStyle/>
                    <a:p>
                      <a:pPr>
                        <a:buNone/>
                      </a:pPr>
                      <a:r>
                        <a:rPr lang="fr-FR" sz="1700"/>
                        <a:t>Publication</a:t>
                      </a:r>
                    </a:p>
                  </a:txBody>
                  <a:tcPr marL="88744" marR="88744" marT="44372" marB="44372" anchor="ctr"/>
                </a:tc>
                <a:tc>
                  <a:txBody>
                    <a:bodyPr/>
                    <a:lstStyle/>
                    <a:p>
                      <a:pPr>
                        <a:buNone/>
                      </a:pPr>
                      <a:r>
                        <a:rPr lang="fr-FR" sz="1700"/>
                        <a:t>$a lieu, $c éditeur, $d date</a:t>
                      </a:r>
                    </a:p>
                  </a:txBody>
                  <a:tcPr marL="88744" marR="88744" marT="44372" marB="44372" anchor="ctr"/>
                </a:tc>
                <a:extLst>
                  <a:ext uri="{0D108BD9-81ED-4DB2-BD59-A6C34878D82A}">
                    <a16:rowId xmlns:a16="http://schemas.microsoft.com/office/drawing/2014/main" val="4199088857"/>
                  </a:ext>
                </a:extLst>
              </a:tr>
              <a:tr h="887444">
                <a:tc>
                  <a:txBody>
                    <a:bodyPr/>
                    <a:lstStyle/>
                    <a:p>
                      <a:pPr>
                        <a:buNone/>
                      </a:pPr>
                      <a:r>
                        <a:rPr lang="fr-FR" sz="1700"/>
                        <a:t>215</a:t>
                      </a:r>
                    </a:p>
                  </a:txBody>
                  <a:tcPr marL="88744" marR="88744" marT="44372" marB="44372" anchor="ctr"/>
                </a:tc>
                <a:tc>
                  <a:txBody>
                    <a:bodyPr/>
                    <a:lstStyle/>
                    <a:p>
                      <a:pPr>
                        <a:buNone/>
                      </a:pPr>
                      <a:r>
                        <a:rPr lang="fr-FR" sz="1700"/>
                        <a:t>Description matérielle</a:t>
                      </a:r>
                    </a:p>
                  </a:txBody>
                  <a:tcPr marL="88744" marR="88744" marT="44372" marB="44372" anchor="ctr"/>
                </a:tc>
                <a:tc>
                  <a:txBody>
                    <a:bodyPr/>
                    <a:lstStyle/>
                    <a:p>
                      <a:pPr>
                        <a:buNone/>
                      </a:pPr>
                      <a:r>
                        <a:rPr lang="fr-FR" sz="1700"/>
                        <a:t>$a importance matérielle, $c illustrations, $d dimensions</a:t>
                      </a:r>
                    </a:p>
                  </a:txBody>
                  <a:tcPr marL="88744" marR="88744" marT="44372" marB="44372" anchor="ctr"/>
                </a:tc>
                <a:extLst>
                  <a:ext uri="{0D108BD9-81ED-4DB2-BD59-A6C34878D82A}">
                    <a16:rowId xmlns:a16="http://schemas.microsoft.com/office/drawing/2014/main" val="3391543960"/>
                  </a:ext>
                </a:extLst>
              </a:tr>
              <a:tr h="354977">
                <a:tc>
                  <a:txBody>
                    <a:bodyPr/>
                    <a:lstStyle/>
                    <a:p>
                      <a:pPr>
                        <a:buNone/>
                      </a:pPr>
                      <a:r>
                        <a:rPr lang="fr-FR" sz="1700"/>
                        <a:t>6XX</a:t>
                      </a:r>
                    </a:p>
                  </a:txBody>
                  <a:tcPr marL="88744" marR="88744" marT="44372" marB="44372" anchor="ctr"/>
                </a:tc>
                <a:tc>
                  <a:txBody>
                    <a:bodyPr/>
                    <a:lstStyle/>
                    <a:p>
                      <a:pPr>
                        <a:buNone/>
                      </a:pPr>
                      <a:r>
                        <a:rPr lang="fr-FR" sz="1700"/>
                        <a:t>Indexation / sujets</a:t>
                      </a:r>
                    </a:p>
                  </a:txBody>
                  <a:tcPr marL="88744" marR="88744" marT="44372" marB="44372" anchor="ctr"/>
                </a:tc>
                <a:tc>
                  <a:txBody>
                    <a:bodyPr/>
                    <a:lstStyle/>
                    <a:p>
                      <a:pPr>
                        <a:buNone/>
                      </a:pPr>
                      <a:r>
                        <a:rPr lang="fr-FR" sz="1700"/>
                        <a:t>selon le type d'autorité</a:t>
                      </a:r>
                    </a:p>
                  </a:txBody>
                  <a:tcPr marL="88744" marR="88744" marT="44372" marB="44372" anchor="ctr"/>
                </a:tc>
                <a:extLst>
                  <a:ext uri="{0D108BD9-81ED-4DB2-BD59-A6C34878D82A}">
                    <a16:rowId xmlns:a16="http://schemas.microsoft.com/office/drawing/2014/main" val="392099606"/>
                  </a:ext>
                </a:extLst>
              </a:tr>
              <a:tr h="621211">
                <a:tc>
                  <a:txBody>
                    <a:bodyPr/>
                    <a:lstStyle/>
                    <a:p>
                      <a:pPr>
                        <a:buNone/>
                      </a:pPr>
                      <a:r>
                        <a:rPr lang="fr-FR" sz="1700"/>
                        <a:t>7XX</a:t>
                      </a:r>
                    </a:p>
                  </a:txBody>
                  <a:tcPr marL="88744" marR="88744" marT="44372" marB="44372" anchor="ctr"/>
                </a:tc>
                <a:tc>
                  <a:txBody>
                    <a:bodyPr/>
                    <a:lstStyle/>
                    <a:p>
                      <a:pPr>
                        <a:buNone/>
                      </a:pPr>
                      <a:r>
                        <a:rPr lang="fr-FR" sz="1700"/>
                        <a:t>Responsabilités</a:t>
                      </a:r>
                    </a:p>
                  </a:txBody>
                  <a:tcPr marL="88744" marR="88744" marT="44372" marB="44372" anchor="ctr"/>
                </a:tc>
                <a:tc>
                  <a:txBody>
                    <a:bodyPr/>
                    <a:lstStyle/>
                    <a:p>
                      <a:pPr>
                        <a:buNone/>
                      </a:pPr>
                      <a:r>
                        <a:rPr lang="fr-FR" sz="1700" dirty="0"/>
                        <a:t>auteurs, collectivités + code de fonction</a:t>
                      </a:r>
                    </a:p>
                  </a:txBody>
                  <a:tcPr marL="88744" marR="88744" marT="44372" marB="44372" anchor="ctr"/>
                </a:tc>
                <a:extLst>
                  <a:ext uri="{0D108BD9-81ED-4DB2-BD59-A6C34878D82A}">
                    <a16:rowId xmlns:a16="http://schemas.microsoft.com/office/drawing/2014/main" val="1963182617"/>
                  </a:ext>
                </a:extLst>
              </a:tr>
            </a:tbl>
          </a:graphicData>
        </a:graphic>
      </p:graphicFrame>
      <p:sp>
        <p:nvSpPr>
          <p:cNvPr id="6" name="ZoneTexte 5">
            <a:extLst>
              <a:ext uri="{FF2B5EF4-FFF2-40B4-BE49-F238E27FC236}">
                <a16:creationId xmlns:a16="http://schemas.microsoft.com/office/drawing/2014/main" id="{84C1674B-5232-7BB5-D9D8-E73700037871}"/>
              </a:ext>
            </a:extLst>
          </p:cNvPr>
          <p:cNvSpPr txBox="1"/>
          <p:nvPr/>
        </p:nvSpPr>
        <p:spPr>
          <a:xfrm>
            <a:off x="215806" y="4914423"/>
            <a:ext cx="7986992" cy="1200329"/>
          </a:xfrm>
          <a:prstGeom prst="rect">
            <a:avLst/>
          </a:prstGeom>
          <a:noFill/>
        </p:spPr>
        <p:txBody>
          <a:bodyPr wrap="square">
            <a:spAutoFit/>
          </a:bodyPr>
          <a:lstStyle/>
          <a:p>
            <a:r>
              <a:rPr lang="fr-FR" dirty="0">
                <a:solidFill>
                  <a:srgbClr val="141991"/>
                </a:solidFill>
              </a:rPr>
              <a:t>À cela s'ajoutent lorsqu'ils existent ou sont nécessaires : 010 pour l'ISBN, 073 pour l'EAN, 003 pour l'identifiant ARK BnF dans votre pratique, 225/410 pour la collection, 300/320/330 pour les notes et le résumé, et 856$u pour l'accès à une ressource en ligne.</a:t>
            </a:r>
          </a:p>
        </p:txBody>
      </p:sp>
    </p:spTree>
    <p:extLst>
      <p:ext uri="{BB962C8B-B14F-4D97-AF65-F5344CB8AC3E}">
        <p14:creationId xmlns:p14="http://schemas.microsoft.com/office/powerpoint/2010/main" val="13307012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37185" y="318026"/>
            <a:ext cx="8016240" cy="2041585"/>
          </a:xfrm>
          <a:prstGeom prst="rect">
            <a:avLst/>
          </a:prstGeom>
          <a:noFill/>
        </p:spPr>
        <p:txBody>
          <a:bodyPr wrap="square">
            <a:spAutoFit/>
          </a:bodyPr>
          <a:lstStyle/>
          <a:p>
            <a:pPr>
              <a:spcAft>
                <a:spcPts val="1100"/>
              </a:spcAft>
              <a:defRPr sz="1800">
                <a:solidFill>
                  <a:srgbClr val="23232D"/>
                </a:solidFill>
              </a:defRPr>
            </a:pPr>
            <a:r>
              <a:rPr lang="fr-FR" noProof="0" dirty="0">
                <a:solidFill>
                  <a:srgbClr val="141991"/>
                </a:solidFill>
              </a:rPr>
              <a:t>• Identifier si le document appartient à une collection ou à une sous-collection.</a:t>
            </a:r>
          </a:p>
          <a:p>
            <a:pPr>
              <a:spcAft>
                <a:spcPts val="1100"/>
              </a:spcAft>
              <a:defRPr sz="1800">
                <a:solidFill>
                  <a:srgbClr val="23232D"/>
                </a:solidFill>
              </a:defRPr>
            </a:pPr>
            <a:r>
              <a:rPr lang="fr-FR" noProof="0" dirty="0">
                <a:solidFill>
                  <a:srgbClr val="141991"/>
                </a:solidFill>
              </a:rPr>
              <a:t>• Distinguer titre de collection et titre du document.</a:t>
            </a:r>
          </a:p>
          <a:p>
            <a:pPr>
              <a:spcAft>
                <a:spcPts val="1100"/>
              </a:spcAft>
              <a:defRPr sz="1800">
                <a:solidFill>
                  <a:srgbClr val="23232D"/>
                </a:solidFill>
              </a:defRPr>
            </a:pPr>
            <a:r>
              <a:rPr lang="fr-FR" noProof="0" dirty="0">
                <a:solidFill>
                  <a:srgbClr val="141991"/>
                </a:solidFill>
              </a:rPr>
              <a:t>• Utiliser les zones 225 et les liens 4XX conformément au référentiel.</a:t>
            </a:r>
          </a:p>
          <a:p>
            <a:pPr>
              <a:spcAft>
                <a:spcPts val="1100"/>
              </a:spcAft>
              <a:defRPr sz="1800">
                <a:solidFill>
                  <a:srgbClr val="23232D"/>
                </a:solidFill>
              </a:defRPr>
            </a:pPr>
            <a:r>
              <a:rPr lang="fr-FR" noProof="0" dirty="0">
                <a:solidFill>
                  <a:srgbClr val="141991"/>
                </a:solidFill>
              </a:rPr>
              <a:t>• Traiter la volumaison lorsqu’elle est nécessaire.</a:t>
            </a:r>
          </a:p>
          <a:p>
            <a:pPr>
              <a:spcAft>
                <a:spcPts val="1100"/>
              </a:spcAft>
              <a:defRPr sz="1800">
                <a:solidFill>
                  <a:srgbClr val="23232D"/>
                </a:solidFill>
              </a:defRPr>
            </a:pPr>
            <a:r>
              <a:rPr lang="fr-FR" noProof="0" dirty="0">
                <a:solidFill>
                  <a:srgbClr val="141991"/>
                </a:solidFill>
              </a:rPr>
              <a:t>• Éviter de reproduire mécaniquement une structure importée sans la comprendre.</a:t>
            </a:r>
          </a:p>
        </p:txBody>
      </p:sp>
      <p:sp>
        <p:nvSpPr>
          <p:cNvPr id="7" name="Rectangle 6">
            <a:extLst>
              <a:ext uri="{FF2B5EF4-FFF2-40B4-BE49-F238E27FC236}">
                <a16:creationId xmlns:a16="http://schemas.microsoft.com/office/drawing/2014/main" id="{3B6D8521-C1BE-6941-BD15-52E6E993A3CE}"/>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9" name="TextBox 2">
            <a:extLst>
              <a:ext uri="{FF2B5EF4-FFF2-40B4-BE49-F238E27FC236}">
                <a16:creationId xmlns:a16="http://schemas.microsoft.com/office/drawing/2014/main" id="{9B0533D2-0EA8-3089-6F84-CEF9C14BECDA}"/>
              </a:ext>
            </a:extLst>
          </p:cNvPr>
          <p:cNvSpPr txBox="1"/>
          <p:nvPr/>
        </p:nvSpPr>
        <p:spPr>
          <a:xfrm>
            <a:off x="8655767" y="914400"/>
            <a:ext cx="3547872" cy="1569660"/>
          </a:xfrm>
          <a:prstGeom prst="rect">
            <a:avLst/>
          </a:prstGeom>
          <a:noFill/>
        </p:spPr>
        <p:txBody>
          <a:bodyPr wrap="square">
            <a:spAutoFit/>
          </a:bodyPr>
          <a:lstStyle/>
          <a:p>
            <a:pPr>
              <a:defRPr sz="1600" b="1">
                <a:solidFill>
                  <a:srgbClr val="FFFFFF"/>
                </a:solidFill>
              </a:defRPr>
            </a:pPr>
            <a:r>
              <a:rPr lang="fr-FR" sz="3200" dirty="0"/>
              <a:t>Collections et monographies en plusieurs volumes</a:t>
            </a:r>
          </a:p>
        </p:txBody>
      </p:sp>
      <p:sp>
        <p:nvSpPr>
          <p:cNvPr id="10" name="TextBox 3">
            <a:extLst>
              <a:ext uri="{FF2B5EF4-FFF2-40B4-BE49-F238E27FC236}">
                <a16:creationId xmlns:a16="http://schemas.microsoft.com/office/drawing/2014/main" id="{43DD8C4E-EA20-CB31-218A-8B51DE18627A}"/>
              </a:ext>
            </a:extLst>
          </p:cNvPr>
          <p:cNvSpPr txBox="1"/>
          <p:nvPr/>
        </p:nvSpPr>
        <p:spPr>
          <a:xfrm>
            <a:off x="337185" y="2480250"/>
            <a:ext cx="8016240" cy="1526059"/>
          </a:xfrm>
          <a:prstGeom prst="rect">
            <a:avLst/>
          </a:prstGeom>
          <a:noFill/>
        </p:spPr>
        <p:txBody>
          <a:bodyPr wrap="square">
            <a:spAutoFit/>
          </a:bodyPr>
          <a:lstStyle/>
          <a:p>
            <a:pPr>
              <a:spcAft>
                <a:spcPts val="1100"/>
              </a:spcAft>
              <a:defRPr sz="1800">
                <a:solidFill>
                  <a:srgbClr val="23232D"/>
                </a:solidFill>
              </a:defRPr>
            </a:pPr>
            <a:r>
              <a:rPr lang="fr-FR" sz="1400" noProof="0" dirty="0">
                <a:solidFill>
                  <a:srgbClr val="141991"/>
                </a:solidFill>
              </a:rPr>
              <a:t>Lorsqu’un document appartient à une collection ou fait partie d’une monographie en plusieurs volumes, il est important de restituer les liens entre les différents niveaux de description. Le champ 225 permet de mentionner la collection, tandis que les champs 4XX permettent d’établir des liens avec les notices associées.</a:t>
            </a:r>
          </a:p>
          <a:p>
            <a:pPr>
              <a:spcAft>
                <a:spcPts val="1100"/>
              </a:spcAft>
              <a:defRPr sz="1800">
                <a:solidFill>
                  <a:srgbClr val="23232D"/>
                </a:solidFill>
              </a:defRPr>
            </a:pPr>
            <a:r>
              <a:rPr lang="fr-FR" sz="1400" noProof="0" dirty="0">
                <a:solidFill>
                  <a:srgbClr val="141991"/>
                </a:solidFill>
              </a:rPr>
              <a:t>À retenir : il faut bien distinguer le titre du document, le titre de la collection et, pour une publication en plusieurs volumes, le titre d’ensemble et le titre ou numéro du volume.</a:t>
            </a:r>
          </a:p>
        </p:txBody>
      </p:sp>
      <p:pic>
        <p:nvPicPr>
          <p:cNvPr id="12" name="Image 11">
            <a:extLst>
              <a:ext uri="{FF2B5EF4-FFF2-40B4-BE49-F238E27FC236}">
                <a16:creationId xmlns:a16="http://schemas.microsoft.com/office/drawing/2014/main" id="{2F3EB947-AC6B-6517-79F6-CD84D4025657}"/>
              </a:ext>
            </a:extLst>
          </p:cNvPr>
          <p:cNvPicPr>
            <a:picLocks noChangeAspect="1"/>
          </p:cNvPicPr>
          <p:nvPr/>
        </p:nvPicPr>
        <p:blipFill>
          <a:blip r:embed="rId2"/>
          <a:stretch>
            <a:fillRect/>
          </a:stretch>
        </p:blipFill>
        <p:spPr>
          <a:xfrm>
            <a:off x="3190875" y="4156774"/>
            <a:ext cx="8183880" cy="2563447"/>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1372" y="377190"/>
            <a:ext cx="7928228" cy="1900520"/>
          </a:xfrm>
          <a:prstGeom prst="rect">
            <a:avLst/>
          </a:prstGeom>
          <a:noFill/>
        </p:spPr>
        <p:txBody>
          <a:bodyPr wrap="square">
            <a:spAutoFit/>
          </a:bodyPr>
          <a:lstStyle/>
          <a:p>
            <a:pPr>
              <a:spcAft>
                <a:spcPts val="1100"/>
              </a:spcAft>
              <a:defRPr sz="1800">
                <a:solidFill>
                  <a:srgbClr val="23232D"/>
                </a:solidFill>
              </a:defRPr>
            </a:pPr>
            <a:r>
              <a:rPr lang="fr-FR" noProof="0" dirty="0">
                <a:solidFill>
                  <a:srgbClr val="141991"/>
                </a:solidFill>
              </a:rPr>
              <a:t>• Identifier la nature de la ressource : revue, bulletin, journal, annuaire, bilan, etc.</a:t>
            </a:r>
          </a:p>
          <a:p>
            <a:pPr>
              <a:spcAft>
                <a:spcPts val="1100"/>
              </a:spcAft>
              <a:defRPr sz="1800">
                <a:solidFill>
                  <a:srgbClr val="23232D"/>
                </a:solidFill>
              </a:defRPr>
            </a:pPr>
            <a:r>
              <a:rPr lang="fr-FR" noProof="0" dirty="0">
                <a:solidFill>
                  <a:srgbClr val="141991"/>
                </a:solidFill>
              </a:rPr>
              <a:t>• Repérer les informations propres à une publication continue.</a:t>
            </a:r>
          </a:p>
          <a:p>
            <a:pPr>
              <a:spcAft>
                <a:spcPts val="1100"/>
              </a:spcAft>
              <a:defRPr sz="1800">
                <a:solidFill>
                  <a:srgbClr val="23232D"/>
                </a:solidFill>
              </a:defRPr>
            </a:pPr>
            <a:r>
              <a:rPr lang="fr-FR" noProof="0" dirty="0">
                <a:solidFill>
                  <a:srgbClr val="141991"/>
                </a:solidFill>
              </a:rPr>
              <a:t>• Ne pas appliquer mécaniquement le traitement d’une monographie.</a:t>
            </a:r>
          </a:p>
          <a:p>
            <a:pPr>
              <a:spcAft>
                <a:spcPts val="1100"/>
              </a:spcAft>
              <a:defRPr sz="1800">
                <a:solidFill>
                  <a:srgbClr val="23232D"/>
                </a:solidFill>
              </a:defRPr>
            </a:pPr>
            <a:r>
              <a:rPr lang="fr-FR" noProof="0" dirty="0">
                <a:solidFill>
                  <a:srgbClr val="141991"/>
                </a:solidFill>
              </a:rPr>
              <a:t>• Cette séquence introduit les cas rencontrés ; la gestion complète des périodiques relève d’un module dédié.</a:t>
            </a:r>
          </a:p>
        </p:txBody>
      </p:sp>
      <p:sp>
        <p:nvSpPr>
          <p:cNvPr id="7" name="Rectangle 6">
            <a:extLst>
              <a:ext uri="{FF2B5EF4-FFF2-40B4-BE49-F238E27FC236}">
                <a16:creationId xmlns:a16="http://schemas.microsoft.com/office/drawing/2014/main" id="{9C1A47BD-0C92-477F-0CF7-3688FA56658D}"/>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9" name="TextBox 2">
            <a:extLst>
              <a:ext uri="{FF2B5EF4-FFF2-40B4-BE49-F238E27FC236}">
                <a16:creationId xmlns:a16="http://schemas.microsoft.com/office/drawing/2014/main" id="{FF7A8EA2-A475-CCFD-BC69-54B43C4E9DC8}"/>
              </a:ext>
            </a:extLst>
          </p:cNvPr>
          <p:cNvSpPr txBox="1"/>
          <p:nvPr/>
        </p:nvSpPr>
        <p:spPr>
          <a:xfrm>
            <a:off x="8655767" y="914400"/>
            <a:ext cx="3547872" cy="1569660"/>
          </a:xfrm>
          <a:prstGeom prst="rect">
            <a:avLst/>
          </a:prstGeom>
          <a:noFill/>
        </p:spPr>
        <p:txBody>
          <a:bodyPr wrap="square">
            <a:spAutoFit/>
          </a:bodyPr>
          <a:lstStyle/>
          <a:p>
            <a:pPr>
              <a:defRPr sz="1600" b="1">
                <a:solidFill>
                  <a:srgbClr val="FFFFFF"/>
                </a:solidFill>
              </a:defRPr>
            </a:pPr>
            <a:r>
              <a:rPr lang="fr-FR" sz="3200" dirty="0"/>
              <a:t>Introduction </a:t>
            </a:r>
            <a:br>
              <a:rPr lang="fr-FR" sz="3200" dirty="0"/>
            </a:br>
            <a:r>
              <a:rPr lang="fr-FR" sz="3200" dirty="0"/>
              <a:t>aux ressources continues</a:t>
            </a:r>
          </a:p>
        </p:txBody>
      </p:sp>
      <p:sp>
        <p:nvSpPr>
          <p:cNvPr id="11" name="ZoneTexte 10">
            <a:extLst>
              <a:ext uri="{FF2B5EF4-FFF2-40B4-BE49-F238E27FC236}">
                <a16:creationId xmlns:a16="http://schemas.microsoft.com/office/drawing/2014/main" id="{77A08F4F-2B66-6BDA-0542-C7A8DA98EE00}"/>
              </a:ext>
            </a:extLst>
          </p:cNvPr>
          <p:cNvSpPr txBox="1"/>
          <p:nvPr/>
        </p:nvSpPr>
        <p:spPr>
          <a:xfrm>
            <a:off x="301372" y="2649185"/>
            <a:ext cx="8156828" cy="2462213"/>
          </a:xfrm>
          <a:prstGeom prst="rect">
            <a:avLst/>
          </a:prstGeom>
          <a:noFill/>
        </p:spPr>
        <p:txBody>
          <a:bodyPr wrap="square">
            <a:spAutoFit/>
          </a:bodyPr>
          <a:lstStyle/>
          <a:p>
            <a:pPr>
              <a:buNone/>
            </a:pPr>
            <a:r>
              <a:rPr lang="fr-FR" sz="1400" dirty="0">
                <a:solidFill>
                  <a:srgbClr val="141991"/>
                </a:solidFill>
              </a:rPr>
              <a:t>Les </a:t>
            </a:r>
            <a:r>
              <a:rPr lang="fr-FR" sz="1400" b="1" dirty="0">
                <a:solidFill>
                  <a:srgbClr val="141991"/>
                </a:solidFill>
              </a:rPr>
              <a:t>ressources continues</a:t>
            </a:r>
            <a:r>
              <a:rPr lang="fr-FR" sz="1400" dirty="0">
                <a:solidFill>
                  <a:srgbClr val="141991"/>
                </a:solidFill>
              </a:rPr>
              <a:t> sont des publications dont la parution se poursuit dans le temps, généralement sans fin prédéterminée. Elles comprennent notamment les </a:t>
            </a:r>
            <a:r>
              <a:rPr lang="fr-FR" sz="1400" b="1" dirty="0">
                <a:solidFill>
                  <a:srgbClr val="141991"/>
                </a:solidFill>
              </a:rPr>
              <a:t>revues, bulletins, magazines, journaux, annuaires</a:t>
            </a:r>
            <a:r>
              <a:rPr lang="fr-FR" sz="1400" dirty="0">
                <a:solidFill>
                  <a:srgbClr val="141991"/>
                </a:solidFill>
              </a:rPr>
              <a:t> ou certaines publications à mise à jour.</a:t>
            </a:r>
          </a:p>
          <a:p>
            <a:pPr>
              <a:buNone/>
            </a:pPr>
            <a:endParaRPr lang="fr-FR" sz="1400" dirty="0">
              <a:solidFill>
                <a:srgbClr val="141991"/>
              </a:solidFill>
            </a:endParaRPr>
          </a:p>
          <a:p>
            <a:pPr>
              <a:buNone/>
            </a:pPr>
            <a:r>
              <a:rPr lang="fr-FR" sz="1400" dirty="0">
                <a:solidFill>
                  <a:srgbClr val="141991"/>
                </a:solidFill>
              </a:rPr>
              <a:t>Contrairement à une monographie, leur description doit tenir compte de leur </a:t>
            </a:r>
            <a:r>
              <a:rPr lang="fr-FR" sz="1400" b="1" dirty="0">
                <a:solidFill>
                  <a:srgbClr val="141991"/>
                </a:solidFill>
              </a:rPr>
              <a:t>continuité</a:t>
            </a:r>
            <a:r>
              <a:rPr lang="fr-FR" sz="1400" dirty="0">
                <a:solidFill>
                  <a:srgbClr val="141991"/>
                </a:solidFill>
              </a:rPr>
              <a:t>, de leur </a:t>
            </a:r>
            <a:r>
              <a:rPr lang="fr-FR" sz="1400" b="1" dirty="0">
                <a:solidFill>
                  <a:srgbClr val="141991"/>
                </a:solidFill>
              </a:rPr>
              <a:t>périodicité</a:t>
            </a:r>
            <a:r>
              <a:rPr lang="fr-FR" sz="1400" dirty="0">
                <a:solidFill>
                  <a:srgbClr val="141991"/>
                </a:solidFill>
              </a:rPr>
              <a:t> et des éventuelles évolutions de la publication au fil du temps. Il est donc essentiel de bien identifier le type de ressource avant de commencer le catalogage.</a:t>
            </a:r>
          </a:p>
          <a:p>
            <a:pPr>
              <a:buNone/>
            </a:pPr>
            <a:endParaRPr lang="fr-FR" sz="1400" dirty="0">
              <a:solidFill>
                <a:srgbClr val="141991"/>
              </a:solidFill>
            </a:endParaRPr>
          </a:p>
          <a:p>
            <a:pPr>
              <a:buNone/>
            </a:pPr>
            <a:r>
              <a:rPr lang="fr-FR" sz="1400" b="1" dirty="0">
                <a:solidFill>
                  <a:srgbClr val="141991"/>
                </a:solidFill>
              </a:rPr>
              <a:t>À retenir :</a:t>
            </a:r>
            <a:r>
              <a:rPr lang="fr-FR" sz="1400" dirty="0">
                <a:solidFill>
                  <a:srgbClr val="141991"/>
                </a:solidFill>
              </a:rPr>
              <a:t> une ressource continue ne se traite pas comme une succession de monographies indépendantes : on décrit la </a:t>
            </a:r>
            <a:r>
              <a:rPr lang="fr-FR" sz="1400" b="1" dirty="0">
                <a:solidFill>
                  <a:srgbClr val="141991"/>
                </a:solidFill>
              </a:rPr>
              <a:t>publication dans son ensemble</a:t>
            </a:r>
            <a:r>
              <a:rPr lang="fr-FR" sz="1400" dirty="0">
                <a:solidFill>
                  <a:srgbClr val="141991"/>
                </a:solidFill>
              </a:rPr>
              <a:t>, puis on gère les différents numéros ou fascicules qui la composent.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386715"/>
            <a:ext cx="7787640" cy="2877711"/>
          </a:xfrm>
          <a:prstGeom prst="rect">
            <a:avLst/>
          </a:prstGeom>
          <a:noFill/>
        </p:spPr>
        <p:txBody>
          <a:bodyPr wrap="square">
            <a:spAutoFit/>
          </a:bodyPr>
          <a:lstStyle/>
          <a:p>
            <a:pPr>
              <a:spcAft>
                <a:spcPts val="1100"/>
              </a:spcAft>
              <a:defRPr sz="1800">
                <a:solidFill>
                  <a:srgbClr val="23232D"/>
                </a:solidFill>
              </a:defRPr>
            </a:pPr>
            <a:r>
              <a:rPr lang="fr-FR" noProof="0">
                <a:solidFill>
                  <a:srgbClr val="141991"/>
                </a:solidFill>
              </a:rPr>
              <a:t>• Le document est-il déjà présent dans le catalogue ?</a:t>
            </a:r>
          </a:p>
          <a:p>
            <a:pPr>
              <a:spcAft>
                <a:spcPts val="1100"/>
              </a:spcAft>
              <a:defRPr sz="1800">
                <a:solidFill>
                  <a:srgbClr val="23232D"/>
                </a:solidFill>
              </a:defRPr>
            </a:pPr>
            <a:r>
              <a:rPr lang="fr-FR" noProof="0" dirty="0">
                <a:solidFill>
                  <a:srgbClr val="141991"/>
                </a:solidFill>
              </a:rPr>
              <a:t>• La notice correspond-elle exactement au document ?</a:t>
            </a:r>
          </a:p>
          <a:p>
            <a:pPr>
              <a:spcAft>
                <a:spcPts val="1100"/>
              </a:spcAft>
              <a:defRPr sz="1800">
                <a:solidFill>
                  <a:srgbClr val="23232D"/>
                </a:solidFill>
              </a:defRPr>
            </a:pPr>
            <a:r>
              <a:rPr lang="fr-FR" noProof="0" dirty="0">
                <a:solidFill>
                  <a:srgbClr val="141991"/>
                </a:solidFill>
              </a:rPr>
              <a:t>• Les zones essentielles sont-elles présentes et cohérentes ?</a:t>
            </a:r>
          </a:p>
          <a:p>
            <a:pPr>
              <a:spcAft>
                <a:spcPts val="1100"/>
              </a:spcAft>
              <a:defRPr sz="1800">
                <a:solidFill>
                  <a:srgbClr val="23232D"/>
                </a:solidFill>
              </a:defRPr>
            </a:pPr>
            <a:r>
              <a:rPr lang="fr-FR" noProof="0" dirty="0">
                <a:solidFill>
                  <a:srgbClr val="141991"/>
                </a:solidFill>
              </a:rPr>
              <a:t>• Les autorités sont-elles liées correctement ?</a:t>
            </a:r>
          </a:p>
          <a:p>
            <a:pPr>
              <a:spcAft>
                <a:spcPts val="1100"/>
              </a:spcAft>
              <a:defRPr sz="1800">
                <a:solidFill>
                  <a:srgbClr val="23232D"/>
                </a:solidFill>
              </a:defRPr>
            </a:pPr>
            <a:r>
              <a:rPr lang="fr-FR" noProof="0" dirty="0">
                <a:solidFill>
                  <a:srgbClr val="141991"/>
                </a:solidFill>
              </a:rPr>
              <a:t>• Les données locales correspondent-elles à la DRAC et à la localisation ?</a:t>
            </a:r>
          </a:p>
          <a:p>
            <a:pPr>
              <a:spcAft>
                <a:spcPts val="1100"/>
              </a:spcAft>
              <a:defRPr sz="1800">
                <a:solidFill>
                  <a:srgbClr val="23232D"/>
                </a:solidFill>
              </a:defRPr>
            </a:pPr>
            <a:r>
              <a:rPr lang="fr-FR" noProof="0" dirty="0">
                <a:solidFill>
                  <a:srgbClr val="141991"/>
                </a:solidFill>
              </a:rPr>
              <a:t>• Le lien 856 fonctionne-t-il lorsqu’il existe ?</a:t>
            </a:r>
          </a:p>
          <a:p>
            <a:pPr>
              <a:spcAft>
                <a:spcPts val="1100"/>
              </a:spcAft>
              <a:defRPr sz="1800">
                <a:solidFill>
                  <a:srgbClr val="23232D"/>
                </a:solidFill>
              </a:defRPr>
            </a:pPr>
            <a:r>
              <a:rPr lang="fr-FR" noProof="0" dirty="0">
                <a:solidFill>
                  <a:srgbClr val="141991"/>
                </a:solidFill>
              </a:rPr>
              <a:t>• L’affichage public est-il compréhensible ?</a:t>
            </a:r>
          </a:p>
        </p:txBody>
      </p:sp>
      <p:sp>
        <p:nvSpPr>
          <p:cNvPr id="7" name="Rectangle 6">
            <a:extLst>
              <a:ext uri="{FF2B5EF4-FFF2-40B4-BE49-F238E27FC236}">
                <a16:creationId xmlns:a16="http://schemas.microsoft.com/office/drawing/2014/main" id="{98624844-9F27-EE88-EAB8-334F21897179}"/>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9" name="TextBox 2">
            <a:extLst>
              <a:ext uri="{FF2B5EF4-FFF2-40B4-BE49-F238E27FC236}">
                <a16:creationId xmlns:a16="http://schemas.microsoft.com/office/drawing/2014/main" id="{5B3E001A-33FF-D4FF-DD05-E5E688C29577}"/>
              </a:ext>
            </a:extLst>
          </p:cNvPr>
          <p:cNvSpPr txBox="1"/>
          <p:nvPr/>
        </p:nvSpPr>
        <p:spPr>
          <a:xfrm>
            <a:off x="8655767" y="914400"/>
            <a:ext cx="3547872" cy="1077218"/>
          </a:xfrm>
          <a:prstGeom prst="rect">
            <a:avLst/>
          </a:prstGeom>
          <a:noFill/>
        </p:spPr>
        <p:txBody>
          <a:bodyPr wrap="square">
            <a:spAutoFit/>
          </a:bodyPr>
          <a:lstStyle/>
          <a:p>
            <a:pPr>
              <a:defRPr sz="1600" b="1">
                <a:solidFill>
                  <a:srgbClr val="FFFFFF"/>
                </a:solidFill>
              </a:defRPr>
            </a:pPr>
            <a:r>
              <a:rPr lang="fr-FR" sz="3200" dirty="0"/>
              <a:t>Contrôle qualité avant validation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3385" y="405765"/>
            <a:ext cx="7482840" cy="3567643"/>
          </a:xfrm>
          <a:prstGeom prst="rect">
            <a:avLst/>
          </a:prstGeom>
          <a:noFill/>
        </p:spPr>
        <p:txBody>
          <a:bodyPr wrap="square">
            <a:spAutoFit/>
          </a:bodyPr>
          <a:lstStyle/>
          <a:p>
            <a:pPr>
              <a:spcAft>
                <a:spcPts val="1100"/>
              </a:spcAft>
              <a:defRPr sz="1800">
                <a:solidFill>
                  <a:srgbClr val="23232D"/>
                </a:solidFill>
              </a:defRPr>
            </a:pPr>
            <a:r>
              <a:rPr lang="fr-FR" noProof="0">
                <a:solidFill>
                  <a:srgbClr val="141991"/>
                </a:solidFill>
              </a:rPr>
              <a:t>• Créer une deuxième notice parce que la première appartient à une autre DRAC.</a:t>
            </a:r>
          </a:p>
          <a:p>
            <a:pPr>
              <a:spcAft>
                <a:spcPts val="1100"/>
              </a:spcAft>
              <a:defRPr sz="1800">
                <a:solidFill>
                  <a:srgbClr val="23232D"/>
                </a:solidFill>
              </a:defRPr>
            </a:pPr>
            <a:r>
              <a:rPr lang="fr-FR" noProof="0" dirty="0">
                <a:solidFill>
                  <a:srgbClr val="141991"/>
                </a:solidFill>
              </a:rPr>
              <a:t>• Importer une notice sans la contrôler.</a:t>
            </a:r>
          </a:p>
          <a:p>
            <a:pPr>
              <a:spcAft>
                <a:spcPts val="1100"/>
              </a:spcAft>
              <a:defRPr sz="1800">
                <a:solidFill>
                  <a:srgbClr val="23232D"/>
                </a:solidFill>
              </a:defRPr>
            </a:pPr>
            <a:r>
              <a:rPr lang="fr-FR" noProof="0" dirty="0">
                <a:solidFill>
                  <a:srgbClr val="141991"/>
                </a:solidFill>
              </a:rPr>
              <a:t>• Saisir un auteur ou un sujet en texte libre alors qu’une autorité existe.</a:t>
            </a:r>
          </a:p>
          <a:p>
            <a:pPr>
              <a:spcAft>
                <a:spcPts val="1100"/>
              </a:spcAft>
              <a:defRPr sz="1800">
                <a:solidFill>
                  <a:srgbClr val="23232D"/>
                </a:solidFill>
              </a:defRPr>
            </a:pPr>
            <a:r>
              <a:rPr lang="fr-FR" noProof="0" dirty="0">
                <a:solidFill>
                  <a:srgbClr val="141991"/>
                </a:solidFill>
              </a:rPr>
              <a:t>• Confondre données bibliographiques communes et données d’exemplaire locales.</a:t>
            </a:r>
          </a:p>
          <a:p>
            <a:pPr>
              <a:spcAft>
                <a:spcPts val="1100"/>
              </a:spcAft>
              <a:defRPr sz="1800">
                <a:solidFill>
                  <a:srgbClr val="23232D"/>
                </a:solidFill>
              </a:defRPr>
            </a:pPr>
            <a:r>
              <a:rPr lang="fr-FR" noProof="0" dirty="0">
                <a:solidFill>
                  <a:srgbClr val="141991"/>
                </a:solidFill>
              </a:rPr>
              <a:t>• Modifier une notice partagée sans mesurer l’impact pour les autres structures.</a:t>
            </a:r>
          </a:p>
          <a:p>
            <a:pPr>
              <a:spcAft>
                <a:spcPts val="1100"/>
              </a:spcAft>
              <a:defRPr sz="1800">
                <a:solidFill>
                  <a:srgbClr val="23232D"/>
                </a:solidFill>
              </a:defRPr>
            </a:pPr>
            <a:r>
              <a:rPr lang="fr-FR" noProof="0" dirty="0">
                <a:solidFill>
                  <a:srgbClr val="141991"/>
                </a:solidFill>
              </a:rPr>
              <a:t>• Multiplier les pratiques locales lorsque le référentiel commun prévoit déjà une règle.</a:t>
            </a:r>
          </a:p>
        </p:txBody>
      </p:sp>
      <p:sp>
        <p:nvSpPr>
          <p:cNvPr id="7" name="Rectangle 6">
            <a:extLst>
              <a:ext uri="{FF2B5EF4-FFF2-40B4-BE49-F238E27FC236}">
                <a16:creationId xmlns:a16="http://schemas.microsoft.com/office/drawing/2014/main" id="{76ACD030-3C95-FB37-BCEA-17B931878BFA}"/>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9" name="TextBox 2">
            <a:extLst>
              <a:ext uri="{FF2B5EF4-FFF2-40B4-BE49-F238E27FC236}">
                <a16:creationId xmlns:a16="http://schemas.microsoft.com/office/drawing/2014/main" id="{3F9B1511-85A1-3519-1E87-F9D2ADD89704}"/>
              </a:ext>
            </a:extLst>
          </p:cNvPr>
          <p:cNvSpPr txBox="1"/>
          <p:nvPr/>
        </p:nvSpPr>
        <p:spPr>
          <a:xfrm>
            <a:off x="8655767" y="914400"/>
            <a:ext cx="3547872" cy="1569660"/>
          </a:xfrm>
          <a:prstGeom prst="rect">
            <a:avLst/>
          </a:prstGeom>
          <a:noFill/>
        </p:spPr>
        <p:txBody>
          <a:bodyPr wrap="square">
            <a:spAutoFit/>
          </a:bodyPr>
          <a:lstStyle/>
          <a:p>
            <a:pPr>
              <a:defRPr sz="1600" b="1">
                <a:solidFill>
                  <a:srgbClr val="FFFFFF"/>
                </a:solidFill>
              </a:defRPr>
            </a:pPr>
            <a:r>
              <a:rPr lang="fr-FR" sz="3200" dirty="0"/>
              <a:t>Les erreurs à éviter dans un catalogue mutualisé</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32435" y="376609"/>
            <a:ext cx="6839331" cy="2877711"/>
          </a:xfrm>
          <a:prstGeom prst="rect">
            <a:avLst/>
          </a:prstGeom>
          <a:noFill/>
        </p:spPr>
        <p:txBody>
          <a:bodyPr wrap="square">
            <a:spAutoFit/>
          </a:bodyPr>
          <a:lstStyle/>
          <a:p>
            <a:pPr>
              <a:spcAft>
                <a:spcPts val="1100"/>
              </a:spcAft>
              <a:defRPr sz="1800">
                <a:solidFill>
                  <a:srgbClr val="23232D"/>
                </a:solidFill>
              </a:defRPr>
            </a:pPr>
            <a:r>
              <a:rPr lang="fr-FR" noProof="0" dirty="0">
                <a:solidFill>
                  <a:srgbClr val="141991"/>
                </a:solidFill>
              </a:rPr>
              <a:t>• 1. Je cherche avant de créer.</a:t>
            </a:r>
          </a:p>
          <a:p>
            <a:pPr>
              <a:spcAft>
                <a:spcPts val="1100"/>
              </a:spcAft>
              <a:defRPr sz="1800">
                <a:solidFill>
                  <a:srgbClr val="23232D"/>
                </a:solidFill>
              </a:defRPr>
            </a:pPr>
            <a:r>
              <a:rPr lang="fr-FR" noProof="0" dirty="0">
                <a:solidFill>
                  <a:srgbClr val="141991"/>
                </a:solidFill>
              </a:rPr>
              <a:t>• 2. Je privilégie la dérivation.</a:t>
            </a:r>
          </a:p>
          <a:p>
            <a:pPr>
              <a:spcAft>
                <a:spcPts val="1100"/>
              </a:spcAft>
              <a:defRPr sz="1800">
                <a:solidFill>
                  <a:srgbClr val="23232D"/>
                </a:solidFill>
              </a:defRPr>
            </a:pPr>
            <a:r>
              <a:rPr lang="fr-FR" noProof="0" dirty="0">
                <a:solidFill>
                  <a:srgbClr val="141991"/>
                </a:solidFill>
              </a:rPr>
              <a:t>• 3. Je contrôle toujours la notice importée.</a:t>
            </a:r>
          </a:p>
          <a:p>
            <a:pPr>
              <a:spcAft>
                <a:spcPts val="1100"/>
              </a:spcAft>
              <a:defRPr sz="1800">
                <a:solidFill>
                  <a:srgbClr val="23232D"/>
                </a:solidFill>
              </a:defRPr>
            </a:pPr>
            <a:r>
              <a:rPr lang="fr-FR" noProof="0" dirty="0">
                <a:solidFill>
                  <a:srgbClr val="141991"/>
                </a:solidFill>
              </a:rPr>
              <a:t>• 4. Je respecte le référentiel commun.</a:t>
            </a:r>
          </a:p>
          <a:p>
            <a:pPr>
              <a:spcAft>
                <a:spcPts val="1100"/>
              </a:spcAft>
              <a:defRPr sz="1800">
                <a:solidFill>
                  <a:srgbClr val="23232D"/>
                </a:solidFill>
              </a:defRPr>
            </a:pPr>
            <a:r>
              <a:rPr lang="fr-FR" noProof="0" dirty="0">
                <a:solidFill>
                  <a:srgbClr val="141991"/>
                </a:solidFill>
              </a:rPr>
              <a:t>• 5. Je lie les autorités plutôt que de multiplier les formes libres.</a:t>
            </a:r>
          </a:p>
          <a:p>
            <a:pPr>
              <a:spcAft>
                <a:spcPts val="1100"/>
              </a:spcAft>
              <a:defRPr sz="1800">
                <a:solidFill>
                  <a:srgbClr val="23232D"/>
                </a:solidFill>
              </a:defRPr>
            </a:pPr>
            <a:r>
              <a:rPr lang="fr-FR" noProof="0" dirty="0">
                <a:solidFill>
                  <a:srgbClr val="141991"/>
                </a:solidFill>
              </a:rPr>
              <a:t>• 6. Je distingue la notice commune de mon exemplaire local.</a:t>
            </a:r>
          </a:p>
          <a:p>
            <a:pPr>
              <a:spcAft>
                <a:spcPts val="1100"/>
              </a:spcAft>
              <a:defRPr sz="1800">
                <a:solidFill>
                  <a:srgbClr val="23232D"/>
                </a:solidFill>
              </a:defRPr>
            </a:pPr>
            <a:r>
              <a:rPr lang="fr-FR" noProof="0" dirty="0">
                <a:solidFill>
                  <a:srgbClr val="141991"/>
                </a:solidFill>
              </a:rPr>
              <a:t>• 7. Je vérifie l’affichage final.</a:t>
            </a:r>
          </a:p>
        </p:txBody>
      </p:sp>
      <p:sp>
        <p:nvSpPr>
          <p:cNvPr id="8" name="Rectangle 7">
            <a:extLst>
              <a:ext uri="{FF2B5EF4-FFF2-40B4-BE49-F238E27FC236}">
                <a16:creationId xmlns:a16="http://schemas.microsoft.com/office/drawing/2014/main" id="{0B31585C-E6B0-15B1-B03D-8DBE5A84CC9C}"/>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0" name="TextBox 2">
            <a:extLst>
              <a:ext uri="{FF2B5EF4-FFF2-40B4-BE49-F238E27FC236}">
                <a16:creationId xmlns:a16="http://schemas.microsoft.com/office/drawing/2014/main" id="{8E8C7EAF-B2FB-056B-62B0-81E0C9F0CFB8}"/>
              </a:ext>
            </a:extLst>
          </p:cNvPr>
          <p:cNvSpPr txBox="1"/>
          <p:nvPr/>
        </p:nvSpPr>
        <p:spPr>
          <a:xfrm>
            <a:off x="8655767" y="914400"/>
            <a:ext cx="3547872" cy="1077218"/>
          </a:xfrm>
          <a:prstGeom prst="rect">
            <a:avLst/>
          </a:prstGeom>
          <a:noFill/>
        </p:spPr>
        <p:txBody>
          <a:bodyPr wrap="square">
            <a:spAutoFit/>
          </a:bodyPr>
          <a:lstStyle/>
          <a:p>
            <a:pPr>
              <a:defRPr sz="1600" b="1">
                <a:solidFill>
                  <a:srgbClr val="FFFFFF"/>
                </a:solidFill>
              </a:defRPr>
            </a:pPr>
            <a:r>
              <a:rPr lang="fr-FR" sz="3200" dirty="0"/>
              <a:t>La fiche réflexe </a:t>
            </a:r>
            <a:br>
              <a:rPr lang="fr-FR" sz="3200" dirty="0"/>
            </a:br>
            <a:r>
              <a:rPr lang="fr-FR" sz="3200" dirty="0"/>
              <a:t>du catalogueur</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E7F18B8-F7A3-8C7D-4A98-6F2F00D39E7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EFC2AFD-4CEC-B087-CD09-9947DBFBCAAF}"/>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C67E26A4-57DA-3072-6172-8CAB633F9E10}"/>
              </a:ext>
            </a:extLst>
          </p:cNvPr>
          <p:cNvSpPr txBox="1"/>
          <p:nvPr/>
        </p:nvSpPr>
        <p:spPr>
          <a:xfrm>
            <a:off x="432435" y="376609"/>
            <a:ext cx="3725588" cy="6524863"/>
          </a:xfrm>
          <a:prstGeom prst="rect">
            <a:avLst/>
          </a:prstGeom>
          <a:noFill/>
        </p:spPr>
        <p:txBody>
          <a:bodyPr wrap="square">
            <a:spAutoFit/>
          </a:bodyPr>
          <a:lstStyle/>
          <a:p>
            <a:r>
              <a:rPr lang="fr-FR" sz="1100" b="1" dirty="0">
                <a:solidFill>
                  <a:srgbClr val="141991"/>
                </a:solidFill>
              </a:rPr>
              <a:t>Bloc 2XX</a:t>
            </a:r>
            <a:endParaRPr lang="fr-FR" sz="1100" dirty="0">
              <a:solidFill>
                <a:srgbClr val="141991"/>
              </a:solidFill>
            </a:endParaRPr>
          </a:p>
          <a:p>
            <a:r>
              <a:rPr lang="fr-FR" sz="1100" dirty="0">
                <a:solidFill>
                  <a:srgbClr val="141991"/>
                </a:solidFill>
              </a:rPr>
              <a:t>200$a : Titre propre </a:t>
            </a:r>
          </a:p>
          <a:p>
            <a:r>
              <a:rPr lang="fr-FR" sz="1100" dirty="0">
                <a:solidFill>
                  <a:srgbClr val="141991"/>
                </a:solidFill>
              </a:rPr>
              <a:t>200$e : Complément du titre</a:t>
            </a:r>
          </a:p>
          <a:p>
            <a:r>
              <a:rPr lang="fr-FR" sz="1100" dirty="0">
                <a:solidFill>
                  <a:srgbClr val="141991"/>
                </a:solidFill>
              </a:rPr>
              <a:t>200$f : 1ere mention de responsabilité (auteur principal)</a:t>
            </a:r>
          </a:p>
          <a:p>
            <a:r>
              <a:rPr lang="fr-FR" sz="1100" dirty="0">
                <a:solidFill>
                  <a:srgbClr val="141991"/>
                </a:solidFill>
              </a:rPr>
              <a:t>200$g : mention de responsabilité suivante (auteur(s) secondaire(s))</a:t>
            </a:r>
          </a:p>
          <a:p>
            <a:r>
              <a:rPr lang="fr-FR" sz="1100" dirty="0">
                <a:solidFill>
                  <a:srgbClr val="141991"/>
                </a:solidFill>
              </a:rPr>
              <a:t> </a:t>
            </a:r>
          </a:p>
          <a:p>
            <a:r>
              <a:rPr lang="fr-FR" sz="1100" dirty="0">
                <a:solidFill>
                  <a:srgbClr val="141991"/>
                </a:solidFill>
              </a:rPr>
              <a:t>214$a : Lieu de publication </a:t>
            </a:r>
          </a:p>
          <a:p>
            <a:r>
              <a:rPr lang="fr-FR" sz="1100" dirty="0">
                <a:solidFill>
                  <a:srgbClr val="141991"/>
                </a:solidFill>
              </a:rPr>
              <a:t>214$c : Nom de l’éditeur </a:t>
            </a:r>
          </a:p>
          <a:p>
            <a:r>
              <a:rPr lang="fr-FR" sz="1100" dirty="0">
                <a:solidFill>
                  <a:srgbClr val="141991"/>
                </a:solidFill>
              </a:rPr>
              <a:t>214$d : Date de publication (format AAAA ou MM/AAAA)</a:t>
            </a:r>
          </a:p>
          <a:p>
            <a:r>
              <a:rPr lang="fr-FR" sz="1100" dirty="0">
                <a:solidFill>
                  <a:srgbClr val="141991"/>
                </a:solidFill>
              </a:rPr>
              <a:t> </a:t>
            </a:r>
          </a:p>
          <a:p>
            <a:r>
              <a:rPr lang="fr-FR" sz="1100" dirty="0">
                <a:solidFill>
                  <a:srgbClr val="141991"/>
                </a:solidFill>
              </a:rPr>
              <a:t>215$a : Importance matérielle (nombre de pages : format XXX p.)</a:t>
            </a:r>
          </a:p>
          <a:p>
            <a:r>
              <a:rPr lang="fr-FR" sz="1100" dirty="0">
                <a:solidFill>
                  <a:srgbClr val="141991"/>
                </a:solidFill>
              </a:rPr>
              <a:t> </a:t>
            </a:r>
          </a:p>
          <a:p>
            <a:r>
              <a:rPr lang="fr-FR" sz="1100" b="1" dirty="0">
                <a:solidFill>
                  <a:srgbClr val="141991"/>
                </a:solidFill>
              </a:rPr>
              <a:t>Bloc 3XX</a:t>
            </a:r>
            <a:endParaRPr lang="fr-FR" sz="1100" dirty="0">
              <a:solidFill>
                <a:srgbClr val="141991"/>
              </a:solidFill>
            </a:endParaRPr>
          </a:p>
          <a:p>
            <a:r>
              <a:rPr lang="fr-FR" sz="1100" dirty="0">
                <a:solidFill>
                  <a:srgbClr val="141991"/>
                </a:solidFill>
              </a:rPr>
              <a:t>300$a : Note générale</a:t>
            </a:r>
          </a:p>
          <a:p>
            <a:r>
              <a:rPr lang="fr-FR" sz="1100" dirty="0">
                <a:solidFill>
                  <a:srgbClr val="141991"/>
                </a:solidFill>
              </a:rPr>
              <a:t>330$a : Résumé</a:t>
            </a:r>
          </a:p>
          <a:p>
            <a:r>
              <a:rPr lang="fr-FR" sz="1100" dirty="0">
                <a:solidFill>
                  <a:srgbClr val="141991"/>
                </a:solidFill>
              </a:rPr>
              <a:t> </a:t>
            </a:r>
          </a:p>
          <a:p>
            <a:r>
              <a:rPr lang="fr-FR" sz="1100" b="1" dirty="0">
                <a:solidFill>
                  <a:srgbClr val="141991"/>
                </a:solidFill>
              </a:rPr>
              <a:t>Bloc 4XX</a:t>
            </a:r>
            <a:endParaRPr lang="fr-FR" sz="1100" dirty="0">
              <a:solidFill>
                <a:srgbClr val="141991"/>
              </a:solidFill>
            </a:endParaRPr>
          </a:p>
          <a:p>
            <a:r>
              <a:rPr lang="fr-FR" sz="1100" dirty="0">
                <a:solidFill>
                  <a:srgbClr val="141991"/>
                </a:solidFill>
              </a:rPr>
              <a:t>454$t : Traduit de (titre original)</a:t>
            </a:r>
          </a:p>
          <a:p>
            <a:r>
              <a:rPr lang="fr-FR" sz="1100" dirty="0">
                <a:solidFill>
                  <a:srgbClr val="141991"/>
                </a:solidFill>
              </a:rPr>
              <a:t> </a:t>
            </a:r>
          </a:p>
          <a:p>
            <a:r>
              <a:rPr lang="fr-FR" sz="1100" b="1" dirty="0">
                <a:solidFill>
                  <a:srgbClr val="141991"/>
                </a:solidFill>
              </a:rPr>
              <a:t>Bloc 9XX</a:t>
            </a:r>
            <a:endParaRPr lang="fr-FR" sz="1100" dirty="0">
              <a:solidFill>
                <a:srgbClr val="141991"/>
              </a:solidFill>
            </a:endParaRPr>
          </a:p>
          <a:p>
            <a:r>
              <a:rPr lang="fr-FR" sz="1100" dirty="0">
                <a:solidFill>
                  <a:srgbClr val="141991"/>
                </a:solidFill>
              </a:rPr>
              <a:t>920$5 : Identification de l’établissement et de l’exemplaire = Administration centrale</a:t>
            </a:r>
          </a:p>
          <a:p>
            <a:r>
              <a:rPr lang="fr-FR" sz="1100" dirty="0">
                <a:solidFill>
                  <a:srgbClr val="141991"/>
                </a:solidFill>
              </a:rPr>
              <a:t>920$c : Précisions sur la Propriété du document = Administration centrale</a:t>
            </a:r>
          </a:p>
          <a:p>
            <a:r>
              <a:rPr lang="fr-FR" sz="1100" dirty="0">
                <a:solidFill>
                  <a:srgbClr val="141991"/>
                </a:solidFill>
              </a:rPr>
              <a:t> </a:t>
            </a:r>
          </a:p>
          <a:p>
            <a:r>
              <a:rPr lang="fr-FR" sz="1100" b="1" dirty="0">
                <a:solidFill>
                  <a:srgbClr val="141991"/>
                </a:solidFill>
              </a:rPr>
              <a:t>Bloc 0XX</a:t>
            </a:r>
            <a:endParaRPr lang="fr-FR" sz="1100" dirty="0">
              <a:solidFill>
                <a:srgbClr val="141991"/>
              </a:solidFill>
            </a:endParaRPr>
          </a:p>
          <a:p>
            <a:r>
              <a:rPr lang="fr-FR" sz="1100" dirty="0">
                <a:solidFill>
                  <a:srgbClr val="141991"/>
                </a:solidFill>
              </a:rPr>
              <a:t>000 Label (utiliser l’éditeur de champs pour créer les données codées)</a:t>
            </a:r>
          </a:p>
          <a:p>
            <a:r>
              <a:rPr lang="fr-FR" sz="1100" dirty="0">
                <a:solidFill>
                  <a:srgbClr val="141991"/>
                </a:solidFill>
              </a:rPr>
              <a:t>099$t : Catégorie de document</a:t>
            </a:r>
          </a:p>
          <a:p>
            <a:r>
              <a:rPr lang="fr-FR" sz="1100" dirty="0">
                <a:solidFill>
                  <a:srgbClr val="141991"/>
                </a:solidFill>
              </a:rPr>
              <a:t> </a:t>
            </a:r>
          </a:p>
          <a:p>
            <a:r>
              <a:rPr lang="fr-FR" sz="1100" b="1" dirty="0">
                <a:solidFill>
                  <a:srgbClr val="141991"/>
                </a:solidFill>
              </a:rPr>
              <a:t>Bloc 1XX</a:t>
            </a:r>
            <a:endParaRPr lang="fr-FR" sz="1100" dirty="0">
              <a:solidFill>
                <a:srgbClr val="141991"/>
              </a:solidFill>
            </a:endParaRPr>
          </a:p>
          <a:p>
            <a:r>
              <a:rPr lang="fr-FR" sz="1100" dirty="0">
                <a:solidFill>
                  <a:srgbClr val="141991"/>
                </a:solidFill>
              </a:rPr>
              <a:t>100$a : Données générales de traitement (utiliser l’éditeur de champs pour créer les données codées)</a:t>
            </a:r>
          </a:p>
          <a:p>
            <a:r>
              <a:rPr lang="fr-FR" sz="1100" dirty="0">
                <a:solidFill>
                  <a:srgbClr val="141991"/>
                </a:solidFill>
              </a:rPr>
              <a:t>101$a : Langue du document (choix de la langue dans une liste déroulante)</a:t>
            </a:r>
          </a:p>
        </p:txBody>
      </p:sp>
      <p:sp>
        <p:nvSpPr>
          <p:cNvPr id="8" name="Rectangle 7">
            <a:extLst>
              <a:ext uri="{FF2B5EF4-FFF2-40B4-BE49-F238E27FC236}">
                <a16:creationId xmlns:a16="http://schemas.microsoft.com/office/drawing/2014/main" id="{CC80ED55-4246-82E7-46F6-941458CA2478}"/>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0" name="TextBox 2">
            <a:extLst>
              <a:ext uri="{FF2B5EF4-FFF2-40B4-BE49-F238E27FC236}">
                <a16:creationId xmlns:a16="http://schemas.microsoft.com/office/drawing/2014/main" id="{F449FA18-0E45-B2C3-ABEC-809659FBB49F}"/>
              </a:ext>
            </a:extLst>
          </p:cNvPr>
          <p:cNvSpPr txBox="1"/>
          <p:nvPr/>
        </p:nvSpPr>
        <p:spPr>
          <a:xfrm>
            <a:off x="8655767" y="914400"/>
            <a:ext cx="3547872" cy="1077218"/>
          </a:xfrm>
          <a:prstGeom prst="rect">
            <a:avLst/>
          </a:prstGeom>
          <a:noFill/>
        </p:spPr>
        <p:txBody>
          <a:bodyPr wrap="square">
            <a:spAutoFit/>
          </a:bodyPr>
          <a:lstStyle/>
          <a:p>
            <a:pPr>
              <a:defRPr sz="1600" b="1">
                <a:solidFill>
                  <a:srgbClr val="FFFFFF"/>
                </a:solidFill>
              </a:defRPr>
            </a:pPr>
            <a:r>
              <a:rPr lang="fr-FR" sz="3200" dirty="0"/>
              <a:t>Notice bibliographique</a:t>
            </a:r>
          </a:p>
        </p:txBody>
      </p:sp>
      <p:sp>
        <p:nvSpPr>
          <p:cNvPr id="3" name="TextBox 4">
            <a:extLst>
              <a:ext uri="{FF2B5EF4-FFF2-40B4-BE49-F238E27FC236}">
                <a16:creationId xmlns:a16="http://schemas.microsoft.com/office/drawing/2014/main" id="{DEA3C18A-0FFC-D44E-0071-23E1DD00D1A6}"/>
              </a:ext>
            </a:extLst>
          </p:cNvPr>
          <p:cNvSpPr txBox="1"/>
          <p:nvPr/>
        </p:nvSpPr>
        <p:spPr>
          <a:xfrm>
            <a:off x="4425866" y="376609"/>
            <a:ext cx="3725588" cy="3647152"/>
          </a:xfrm>
          <a:prstGeom prst="rect">
            <a:avLst/>
          </a:prstGeom>
          <a:noFill/>
        </p:spPr>
        <p:txBody>
          <a:bodyPr wrap="square">
            <a:spAutoFit/>
          </a:bodyPr>
          <a:lstStyle/>
          <a:p>
            <a:r>
              <a:rPr lang="fr-FR" sz="1100" dirty="0">
                <a:solidFill>
                  <a:srgbClr val="141991"/>
                </a:solidFill>
              </a:rPr>
              <a:t> Pour les champs 6XX et 7XX, nous discuterons de l’opportunité d’utiliser des autorités </a:t>
            </a:r>
          </a:p>
          <a:p>
            <a:r>
              <a:rPr lang="fr-FR" sz="1100" dirty="0">
                <a:solidFill>
                  <a:srgbClr val="141991"/>
                </a:solidFill>
              </a:rPr>
              <a:t> </a:t>
            </a:r>
          </a:p>
          <a:p>
            <a:r>
              <a:rPr lang="fr-FR" sz="1100" dirty="0">
                <a:solidFill>
                  <a:srgbClr val="141991"/>
                </a:solidFill>
              </a:rPr>
              <a:t> </a:t>
            </a:r>
          </a:p>
          <a:p>
            <a:r>
              <a:rPr lang="fr-FR" sz="1100" dirty="0">
                <a:solidFill>
                  <a:srgbClr val="141991"/>
                </a:solidFill>
              </a:rPr>
              <a:t>Plus rarement, suivant les cas de figure, on ajoutera les champs : </a:t>
            </a:r>
          </a:p>
          <a:p>
            <a:r>
              <a:rPr lang="fr-FR" sz="1100" dirty="0">
                <a:solidFill>
                  <a:srgbClr val="141991"/>
                </a:solidFill>
              </a:rPr>
              <a:t> </a:t>
            </a:r>
          </a:p>
          <a:p>
            <a:r>
              <a:rPr lang="fr-FR" sz="1100" dirty="0">
                <a:solidFill>
                  <a:srgbClr val="141991"/>
                </a:solidFill>
              </a:rPr>
              <a:t>200$v : Volumaison </a:t>
            </a:r>
          </a:p>
          <a:p>
            <a:r>
              <a:rPr lang="fr-FR" sz="1100" dirty="0">
                <a:solidFill>
                  <a:srgbClr val="141991"/>
                </a:solidFill>
              </a:rPr>
              <a:t>225$a : Titre de la collection</a:t>
            </a:r>
          </a:p>
          <a:p>
            <a:r>
              <a:rPr lang="fr-FR" sz="1100" dirty="0">
                <a:solidFill>
                  <a:srgbClr val="141991"/>
                </a:solidFill>
              </a:rPr>
              <a:t>410$t : Titre de la collection</a:t>
            </a:r>
          </a:p>
          <a:p>
            <a:r>
              <a:rPr lang="fr-FR" sz="1100" dirty="0">
                <a:solidFill>
                  <a:srgbClr val="141991"/>
                </a:solidFill>
              </a:rPr>
              <a:t>461$t : Titre de la série</a:t>
            </a:r>
          </a:p>
          <a:p>
            <a:r>
              <a:rPr lang="fr-FR" sz="1100" dirty="0">
                <a:solidFill>
                  <a:srgbClr val="141991"/>
                </a:solidFill>
              </a:rPr>
              <a:t> </a:t>
            </a:r>
          </a:p>
          <a:p>
            <a:r>
              <a:rPr lang="fr-FR" sz="1100" dirty="0">
                <a:solidFill>
                  <a:srgbClr val="141991"/>
                </a:solidFill>
              </a:rPr>
              <a:t> </a:t>
            </a:r>
          </a:p>
          <a:p>
            <a:r>
              <a:rPr lang="fr-FR" sz="1100" b="1" dirty="0">
                <a:solidFill>
                  <a:srgbClr val="141991"/>
                </a:solidFill>
              </a:rPr>
              <a:t>Notice exemplaire </a:t>
            </a:r>
            <a:endParaRPr lang="fr-FR" sz="1100" dirty="0">
              <a:solidFill>
                <a:srgbClr val="141991"/>
              </a:solidFill>
            </a:endParaRPr>
          </a:p>
          <a:p>
            <a:r>
              <a:rPr lang="fr-FR" sz="1100" dirty="0">
                <a:solidFill>
                  <a:srgbClr val="141991"/>
                </a:solidFill>
              </a:rPr>
              <a:t> </a:t>
            </a:r>
          </a:p>
          <a:p>
            <a:r>
              <a:rPr lang="fr-FR" sz="1100" dirty="0">
                <a:solidFill>
                  <a:srgbClr val="141991"/>
                </a:solidFill>
              </a:rPr>
              <a:t>Site Propriétaire</a:t>
            </a:r>
          </a:p>
          <a:p>
            <a:r>
              <a:rPr lang="fr-FR" sz="1100" dirty="0">
                <a:solidFill>
                  <a:srgbClr val="141991"/>
                </a:solidFill>
              </a:rPr>
              <a:t>Site Dépositaire</a:t>
            </a:r>
          </a:p>
          <a:p>
            <a:r>
              <a:rPr lang="fr-FR" sz="1100" dirty="0">
                <a:solidFill>
                  <a:srgbClr val="141991"/>
                </a:solidFill>
              </a:rPr>
              <a:t>Localisation (si document en réserve)</a:t>
            </a:r>
          </a:p>
          <a:p>
            <a:r>
              <a:rPr lang="fr-FR" sz="1100" dirty="0">
                <a:solidFill>
                  <a:srgbClr val="141991"/>
                </a:solidFill>
              </a:rPr>
              <a:t>Code barre</a:t>
            </a:r>
          </a:p>
          <a:p>
            <a:r>
              <a:rPr lang="fr-FR" sz="1100" dirty="0">
                <a:solidFill>
                  <a:srgbClr val="141991"/>
                </a:solidFill>
              </a:rPr>
              <a:t>Cote</a:t>
            </a:r>
          </a:p>
          <a:p>
            <a:r>
              <a:rPr lang="fr-FR" sz="1100" dirty="0">
                <a:solidFill>
                  <a:srgbClr val="141991"/>
                </a:solidFill>
              </a:rPr>
              <a:t>Type de prêt</a:t>
            </a:r>
          </a:p>
        </p:txBody>
      </p:sp>
    </p:spTree>
    <p:extLst>
      <p:ext uri="{BB962C8B-B14F-4D97-AF65-F5344CB8AC3E}">
        <p14:creationId xmlns:p14="http://schemas.microsoft.com/office/powerpoint/2010/main" val="6852247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A18B2EE-9AFB-D3CB-0EC3-62853B3C821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2D4F99D-F304-3777-0638-10DDA7A6F383}"/>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a:extLst>
              <a:ext uri="{FF2B5EF4-FFF2-40B4-BE49-F238E27FC236}">
                <a16:creationId xmlns:a16="http://schemas.microsoft.com/office/drawing/2014/main" id="{F5E2CDF9-1452-1F0E-7B81-D4C49BC96CC4}"/>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0" name="TextBox 2">
            <a:extLst>
              <a:ext uri="{FF2B5EF4-FFF2-40B4-BE49-F238E27FC236}">
                <a16:creationId xmlns:a16="http://schemas.microsoft.com/office/drawing/2014/main" id="{90C3BB6A-A918-8F0C-9403-CFD6789B9F7E}"/>
              </a:ext>
            </a:extLst>
          </p:cNvPr>
          <p:cNvSpPr txBox="1"/>
          <p:nvPr/>
        </p:nvSpPr>
        <p:spPr>
          <a:xfrm>
            <a:off x="8655767" y="914400"/>
            <a:ext cx="3547872" cy="584775"/>
          </a:xfrm>
          <a:prstGeom prst="rect">
            <a:avLst/>
          </a:prstGeom>
          <a:noFill/>
        </p:spPr>
        <p:txBody>
          <a:bodyPr wrap="square">
            <a:spAutoFit/>
          </a:bodyPr>
          <a:lstStyle/>
          <a:p>
            <a:pPr>
              <a:defRPr sz="1600" b="1">
                <a:solidFill>
                  <a:srgbClr val="FFFFFF"/>
                </a:solidFill>
              </a:defRPr>
            </a:pPr>
            <a:r>
              <a:rPr lang="fr-FR" sz="3200" dirty="0"/>
              <a:t>Paniers et listes</a:t>
            </a:r>
          </a:p>
        </p:txBody>
      </p:sp>
      <p:sp>
        <p:nvSpPr>
          <p:cNvPr id="6" name="TextBox 3">
            <a:extLst>
              <a:ext uri="{FF2B5EF4-FFF2-40B4-BE49-F238E27FC236}">
                <a16:creationId xmlns:a16="http://schemas.microsoft.com/office/drawing/2014/main" id="{F58BC1D7-88CE-5513-FC3B-162B7884D9A9}"/>
              </a:ext>
            </a:extLst>
          </p:cNvPr>
          <p:cNvSpPr txBox="1"/>
          <p:nvPr/>
        </p:nvSpPr>
        <p:spPr>
          <a:xfrm>
            <a:off x="394335" y="501015"/>
            <a:ext cx="7501890" cy="5124480"/>
          </a:xfrm>
          <a:prstGeom prst="rect">
            <a:avLst/>
          </a:prstGeom>
          <a:noFill/>
        </p:spPr>
        <p:txBody>
          <a:bodyPr wrap="square">
            <a:spAutoFit/>
          </a:bodyPr>
          <a:lstStyle/>
          <a:p>
            <a:pPr>
              <a:spcAft>
                <a:spcPts val="1100"/>
              </a:spcAft>
              <a:defRPr sz="1800">
                <a:solidFill>
                  <a:srgbClr val="23232D"/>
                </a:solidFill>
              </a:defRPr>
            </a:pPr>
            <a:r>
              <a:rPr lang="fr-FR" sz="1600" dirty="0">
                <a:solidFill>
                  <a:srgbClr val="002060"/>
                </a:solidFill>
              </a:rPr>
              <a:t>Les paniers et les listes permettent de regrouper temporairement ou durablement des notices afin de faciliter leur consultation et certaines opérations de gestion. </a:t>
            </a:r>
          </a:p>
          <a:p>
            <a:pPr>
              <a:spcAft>
                <a:spcPts val="1100"/>
              </a:spcAft>
              <a:defRPr sz="1800">
                <a:solidFill>
                  <a:srgbClr val="23232D"/>
                </a:solidFill>
              </a:defRPr>
            </a:pPr>
            <a:r>
              <a:rPr lang="fr-FR" sz="1600" dirty="0">
                <a:solidFill>
                  <a:srgbClr val="002060"/>
                </a:solidFill>
              </a:rPr>
              <a:t>Ils sont particulièrement utiles pour constituer des ensembles de documents correspondant à un besoin précis : contrôle qualité, préparation d’un traitement par lot, sélection thématique ou suivi d’un fonds.</a:t>
            </a:r>
          </a:p>
          <a:p>
            <a:pPr>
              <a:spcAft>
                <a:spcPts val="1100"/>
              </a:spcAft>
              <a:defRPr sz="1800">
                <a:solidFill>
                  <a:srgbClr val="23232D"/>
                </a:solidFill>
              </a:defRPr>
            </a:pPr>
            <a:r>
              <a:rPr lang="fr-FR" sz="1600" dirty="0">
                <a:solidFill>
                  <a:srgbClr val="002060"/>
                </a:solidFill>
              </a:rPr>
              <a:t>Les </a:t>
            </a:r>
            <a:r>
              <a:rPr lang="fr-FR" sz="1600" b="1" dirty="0">
                <a:solidFill>
                  <a:srgbClr val="002060"/>
                </a:solidFill>
              </a:rPr>
              <a:t>paniers</a:t>
            </a:r>
            <a:r>
              <a:rPr lang="fr-FR" sz="1600" dirty="0">
                <a:solidFill>
                  <a:srgbClr val="002060"/>
                </a:solidFill>
              </a:rPr>
              <a:t> sont principalement conçus pour constituer rapidement une sélection de notices au cours d’une recherche. Ils permettent de rassembler des résultats provenant de plusieurs recherches avant de les consulter, les imprimer, les envoyer ou les exporter.</a:t>
            </a:r>
          </a:p>
          <a:p>
            <a:pPr>
              <a:spcAft>
                <a:spcPts val="1100"/>
              </a:spcAft>
              <a:defRPr sz="1800">
                <a:solidFill>
                  <a:srgbClr val="23232D"/>
                </a:solidFill>
              </a:defRPr>
            </a:pPr>
            <a:r>
              <a:rPr lang="fr-FR" sz="1600" dirty="0">
                <a:solidFill>
                  <a:srgbClr val="002060"/>
                </a:solidFill>
              </a:rPr>
              <a:t>Les </a:t>
            </a:r>
            <a:r>
              <a:rPr lang="fr-FR" sz="1600" b="1" dirty="0">
                <a:solidFill>
                  <a:srgbClr val="002060"/>
                </a:solidFill>
              </a:rPr>
              <a:t>listes</a:t>
            </a:r>
            <a:r>
              <a:rPr lang="fr-FR" sz="1600" dirty="0">
                <a:solidFill>
                  <a:srgbClr val="002060"/>
                </a:solidFill>
              </a:rPr>
              <a:t> permettent de conserver une sélection de notices de manière plus durable. Elles peuvent servir, par exemple, à constituer une bibliographie, préparer une sélection documentaire ou conserver un ensemble de notices à contrôler. Selon leur paramétrage, elles peuvent être privées ou partagées.</a:t>
            </a:r>
          </a:p>
          <a:p>
            <a:pPr>
              <a:spcAft>
                <a:spcPts val="1100"/>
              </a:spcAft>
              <a:defRPr sz="1800">
                <a:solidFill>
                  <a:srgbClr val="23232D"/>
                </a:solidFill>
              </a:defRPr>
            </a:pPr>
            <a:endParaRPr lang="fr-FR" sz="1600" dirty="0">
              <a:solidFill>
                <a:srgbClr val="002060"/>
              </a:solidFill>
            </a:endParaRPr>
          </a:p>
          <a:p>
            <a:pPr>
              <a:spcAft>
                <a:spcPts val="1100"/>
              </a:spcAft>
              <a:defRPr sz="1800">
                <a:solidFill>
                  <a:srgbClr val="23232D"/>
                </a:solidFill>
              </a:defRPr>
            </a:pPr>
            <a:endParaRPr lang="fr-FR" sz="1600" dirty="0">
              <a:solidFill>
                <a:srgbClr val="002060"/>
              </a:solidFill>
            </a:endParaRPr>
          </a:p>
          <a:p>
            <a:pPr>
              <a:spcAft>
                <a:spcPts val="1100"/>
              </a:spcAft>
              <a:defRPr sz="1800">
                <a:solidFill>
                  <a:srgbClr val="23232D"/>
                </a:solidFill>
              </a:defRPr>
            </a:pPr>
            <a:r>
              <a:rPr lang="fr-FR" sz="1600" b="1" dirty="0">
                <a:solidFill>
                  <a:srgbClr val="002060"/>
                </a:solidFill>
              </a:rPr>
              <a:t>À retenir : </a:t>
            </a:r>
            <a:r>
              <a:rPr lang="fr-FR" sz="1600" dirty="0">
                <a:solidFill>
                  <a:srgbClr val="002060"/>
                </a:solidFill>
              </a:rPr>
              <a:t>le panier sert surtout à travailler sur une sélection ponctuelle ; la liste permet de conserver et d’organiser une sélection dans le temps. Dans les deux cas, ils facilitent le travail sur des ensembles de notices sans modifier directement leur contenu.</a:t>
            </a:r>
          </a:p>
        </p:txBody>
      </p:sp>
    </p:spTree>
    <p:extLst>
      <p:ext uri="{BB962C8B-B14F-4D97-AF65-F5344CB8AC3E}">
        <p14:creationId xmlns:p14="http://schemas.microsoft.com/office/powerpoint/2010/main" val="9934858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6EAD360-AAE6-474C-3883-5C5C351D9FF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F1EF9F0-2BE4-1F2D-39CF-93A6DB5D55C2}"/>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a:extLst>
              <a:ext uri="{FF2B5EF4-FFF2-40B4-BE49-F238E27FC236}">
                <a16:creationId xmlns:a16="http://schemas.microsoft.com/office/drawing/2014/main" id="{49E868DE-8277-C990-FC82-0EE895F8FFDA}"/>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0" name="TextBox 2">
            <a:extLst>
              <a:ext uri="{FF2B5EF4-FFF2-40B4-BE49-F238E27FC236}">
                <a16:creationId xmlns:a16="http://schemas.microsoft.com/office/drawing/2014/main" id="{B30FB4A3-715E-5FF6-B9AF-94DD24EC7F5F}"/>
              </a:ext>
            </a:extLst>
          </p:cNvPr>
          <p:cNvSpPr txBox="1"/>
          <p:nvPr/>
        </p:nvSpPr>
        <p:spPr>
          <a:xfrm>
            <a:off x="8655767" y="914400"/>
            <a:ext cx="3547872" cy="584775"/>
          </a:xfrm>
          <a:prstGeom prst="rect">
            <a:avLst/>
          </a:prstGeom>
          <a:noFill/>
        </p:spPr>
        <p:txBody>
          <a:bodyPr wrap="square">
            <a:spAutoFit/>
          </a:bodyPr>
          <a:lstStyle/>
          <a:p>
            <a:pPr>
              <a:defRPr sz="1600" b="1">
                <a:solidFill>
                  <a:srgbClr val="FFFFFF"/>
                </a:solidFill>
              </a:defRPr>
            </a:pPr>
            <a:r>
              <a:rPr lang="fr-FR" sz="3200" dirty="0"/>
              <a:t>Paniers et listes</a:t>
            </a:r>
          </a:p>
        </p:txBody>
      </p:sp>
      <p:pic>
        <p:nvPicPr>
          <p:cNvPr id="4" name="Image 3">
            <a:extLst>
              <a:ext uri="{FF2B5EF4-FFF2-40B4-BE49-F238E27FC236}">
                <a16:creationId xmlns:a16="http://schemas.microsoft.com/office/drawing/2014/main" id="{C1C020E3-82B5-1C9C-8585-C7028D676FB8}"/>
              </a:ext>
            </a:extLst>
          </p:cNvPr>
          <p:cNvPicPr>
            <a:picLocks noChangeAspect="1"/>
          </p:cNvPicPr>
          <p:nvPr/>
        </p:nvPicPr>
        <p:blipFill>
          <a:blip r:embed="rId2"/>
          <a:stretch>
            <a:fillRect/>
          </a:stretch>
        </p:blipFill>
        <p:spPr>
          <a:xfrm>
            <a:off x="270588" y="364963"/>
            <a:ext cx="8220269" cy="263328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Image 6">
            <a:extLst>
              <a:ext uri="{FF2B5EF4-FFF2-40B4-BE49-F238E27FC236}">
                <a16:creationId xmlns:a16="http://schemas.microsoft.com/office/drawing/2014/main" id="{79058B7C-CCBB-2E63-FC2F-89BAA90A401D}"/>
              </a:ext>
            </a:extLst>
          </p:cNvPr>
          <p:cNvPicPr>
            <a:picLocks noChangeAspect="1"/>
          </p:cNvPicPr>
          <p:nvPr/>
        </p:nvPicPr>
        <p:blipFill>
          <a:blip r:embed="rId3"/>
          <a:stretch>
            <a:fillRect/>
          </a:stretch>
        </p:blipFill>
        <p:spPr>
          <a:xfrm>
            <a:off x="6027575" y="1594616"/>
            <a:ext cx="4503576" cy="516794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1" name="Image 10">
            <a:extLst>
              <a:ext uri="{FF2B5EF4-FFF2-40B4-BE49-F238E27FC236}">
                <a16:creationId xmlns:a16="http://schemas.microsoft.com/office/drawing/2014/main" id="{BAD1AADF-1583-BC3D-E054-8C296ADE8960}"/>
              </a:ext>
            </a:extLst>
          </p:cNvPr>
          <p:cNvPicPr>
            <a:picLocks noChangeAspect="1"/>
          </p:cNvPicPr>
          <p:nvPr/>
        </p:nvPicPr>
        <p:blipFill>
          <a:blip r:embed="rId4"/>
          <a:stretch>
            <a:fillRect/>
          </a:stretch>
        </p:blipFill>
        <p:spPr>
          <a:xfrm>
            <a:off x="0" y="4363964"/>
            <a:ext cx="6353120" cy="1514607"/>
          </a:xfrm>
          <a:prstGeom prst="rect">
            <a:avLst/>
          </a:prstGeom>
        </p:spPr>
      </p:pic>
      <p:pic>
        <p:nvPicPr>
          <p:cNvPr id="13" name="Image 12">
            <a:extLst>
              <a:ext uri="{FF2B5EF4-FFF2-40B4-BE49-F238E27FC236}">
                <a16:creationId xmlns:a16="http://schemas.microsoft.com/office/drawing/2014/main" id="{369B45FD-AEAE-985D-989F-141A1EF7B5AC}"/>
              </a:ext>
            </a:extLst>
          </p:cNvPr>
          <p:cNvPicPr>
            <a:picLocks noChangeAspect="1"/>
          </p:cNvPicPr>
          <p:nvPr/>
        </p:nvPicPr>
        <p:blipFill>
          <a:blip r:embed="rId5"/>
          <a:stretch>
            <a:fillRect/>
          </a:stretch>
        </p:blipFill>
        <p:spPr>
          <a:xfrm>
            <a:off x="2315052" y="117921"/>
            <a:ext cx="861508" cy="861508"/>
          </a:xfrm>
          <a:prstGeom prst="rect">
            <a:avLst/>
          </a:prstGeom>
        </p:spPr>
      </p:pic>
      <p:pic>
        <p:nvPicPr>
          <p:cNvPr id="17" name="Image 16">
            <a:extLst>
              <a:ext uri="{FF2B5EF4-FFF2-40B4-BE49-F238E27FC236}">
                <a16:creationId xmlns:a16="http://schemas.microsoft.com/office/drawing/2014/main" id="{8411EE87-7672-7642-5BF5-386421D92790}"/>
              </a:ext>
            </a:extLst>
          </p:cNvPr>
          <p:cNvPicPr>
            <a:picLocks noChangeAspect="1"/>
          </p:cNvPicPr>
          <p:nvPr/>
        </p:nvPicPr>
        <p:blipFill>
          <a:blip r:embed="rId6"/>
          <a:stretch>
            <a:fillRect/>
          </a:stretch>
        </p:blipFill>
        <p:spPr>
          <a:xfrm>
            <a:off x="9416640" y="1681604"/>
            <a:ext cx="998376" cy="998376"/>
          </a:xfrm>
          <a:prstGeom prst="rect">
            <a:avLst/>
          </a:prstGeom>
        </p:spPr>
      </p:pic>
    </p:spTree>
    <p:extLst>
      <p:ext uri="{BB962C8B-B14F-4D97-AF65-F5344CB8AC3E}">
        <p14:creationId xmlns:p14="http://schemas.microsoft.com/office/powerpoint/2010/main" val="1339748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F52B5A9-73AD-70C3-F027-7B6E9936D35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38F9F06-FD8C-D563-9AB7-3E1B87EE2C67}"/>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BD3560AD-5694-DAC0-9075-DDC7324DD895}"/>
              </a:ext>
            </a:extLst>
          </p:cNvPr>
          <p:cNvSpPr txBox="1"/>
          <p:nvPr/>
        </p:nvSpPr>
        <p:spPr>
          <a:xfrm>
            <a:off x="432435" y="376609"/>
            <a:ext cx="6839331" cy="1477328"/>
          </a:xfrm>
          <a:prstGeom prst="rect">
            <a:avLst/>
          </a:prstGeom>
          <a:noFill/>
        </p:spPr>
        <p:txBody>
          <a:bodyPr wrap="square">
            <a:spAutoFit/>
          </a:bodyPr>
          <a:lstStyle/>
          <a:p>
            <a:r>
              <a:rPr lang="fr-FR" noProof="0">
                <a:solidFill>
                  <a:srgbClr val="141991"/>
                </a:solidFill>
              </a:rPr>
              <a:t>Exercice 1 – Créer une notice originale pour une brochure locale.  </a:t>
            </a:r>
          </a:p>
          <a:p>
            <a:endParaRPr lang="fr-FR" noProof="0" dirty="0">
              <a:solidFill>
                <a:srgbClr val="141991"/>
              </a:solidFill>
            </a:endParaRPr>
          </a:p>
          <a:p>
            <a:br>
              <a:rPr lang="fr-FR" noProof="0" dirty="0">
                <a:solidFill>
                  <a:srgbClr val="141991"/>
                </a:solidFill>
              </a:rPr>
            </a:br>
            <a:r>
              <a:rPr lang="fr-FR" noProof="0" dirty="0">
                <a:solidFill>
                  <a:srgbClr val="141991"/>
                </a:solidFill>
              </a:rPr>
              <a:t>Exercice 2 – Importer via Z39.50 un roman connu et compléter résumé + exemplaire. </a:t>
            </a:r>
          </a:p>
        </p:txBody>
      </p:sp>
      <p:sp>
        <p:nvSpPr>
          <p:cNvPr id="8" name="Rectangle 7">
            <a:extLst>
              <a:ext uri="{FF2B5EF4-FFF2-40B4-BE49-F238E27FC236}">
                <a16:creationId xmlns:a16="http://schemas.microsoft.com/office/drawing/2014/main" id="{DA1CEDD6-9189-5AA5-D02D-159FF4CD3C9C}"/>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0" name="TextBox 2">
            <a:extLst>
              <a:ext uri="{FF2B5EF4-FFF2-40B4-BE49-F238E27FC236}">
                <a16:creationId xmlns:a16="http://schemas.microsoft.com/office/drawing/2014/main" id="{97A2ADF8-D934-5738-3328-E185C00B8658}"/>
              </a:ext>
            </a:extLst>
          </p:cNvPr>
          <p:cNvSpPr txBox="1"/>
          <p:nvPr/>
        </p:nvSpPr>
        <p:spPr>
          <a:xfrm>
            <a:off x="8655767" y="914400"/>
            <a:ext cx="3547872" cy="584775"/>
          </a:xfrm>
          <a:prstGeom prst="rect">
            <a:avLst/>
          </a:prstGeom>
          <a:noFill/>
        </p:spPr>
        <p:txBody>
          <a:bodyPr wrap="square">
            <a:spAutoFit/>
          </a:bodyPr>
          <a:lstStyle/>
          <a:p>
            <a:pPr>
              <a:defRPr sz="1600" b="1">
                <a:solidFill>
                  <a:srgbClr val="FFFFFF"/>
                </a:solidFill>
              </a:defRPr>
            </a:pPr>
            <a:r>
              <a:rPr lang="fr-FR" sz="3200" b="1" noProof="0" dirty="0"/>
              <a:t>Exercices pratiques</a:t>
            </a:r>
            <a:endParaRPr lang="fr-FR" sz="3200" noProof="0" dirty="0"/>
          </a:p>
        </p:txBody>
      </p:sp>
      <p:pic>
        <p:nvPicPr>
          <p:cNvPr id="4" name="Image 3">
            <a:extLst>
              <a:ext uri="{FF2B5EF4-FFF2-40B4-BE49-F238E27FC236}">
                <a16:creationId xmlns:a16="http://schemas.microsoft.com/office/drawing/2014/main" id="{3C001EFC-AA5D-8BFA-9947-40F2429E1F5C}"/>
              </a:ext>
            </a:extLst>
          </p:cNvPr>
          <p:cNvPicPr>
            <a:picLocks noChangeAspect="1"/>
          </p:cNvPicPr>
          <p:nvPr/>
        </p:nvPicPr>
        <p:blipFill>
          <a:blip r:embed="rId2"/>
          <a:stretch>
            <a:fillRect/>
          </a:stretch>
        </p:blipFill>
        <p:spPr>
          <a:xfrm>
            <a:off x="2543175" y="2438400"/>
            <a:ext cx="3238500" cy="3238500"/>
          </a:xfrm>
          <a:prstGeom prst="rect">
            <a:avLst/>
          </a:prstGeom>
        </p:spPr>
      </p:pic>
    </p:spTree>
    <p:extLst>
      <p:ext uri="{BB962C8B-B14F-4D97-AF65-F5344CB8AC3E}">
        <p14:creationId xmlns:p14="http://schemas.microsoft.com/office/powerpoint/2010/main" val="8211020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779E1A3-5944-551F-10C8-1EBDFC4159D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EFD7147-0BAB-DFDD-9F19-1B83C1955511}"/>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3A52FAFB-B1D4-5ACA-A8BE-BD3AAF10A50B}"/>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9" name="TextBox 2">
            <a:extLst>
              <a:ext uri="{FF2B5EF4-FFF2-40B4-BE49-F238E27FC236}">
                <a16:creationId xmlns:a16="http://schemas.microsoft.com/office/drawing/2014/main" id="{39836E44-23D4-9A42-4438-5C27B9E99D18}"/>
              </a:ext>
            </a:extLst>
          </p:cNvPr>
          <p:cNvSpPr txBox="1"/>
          <p:nvPr/>
        </p:nvSpPr>
        <p:spPr>
          <a:xfrm>
            <a:off x="8655767" y="914400"/>
            <a:ext cx="3547872" cy="584775"/>
          </a:xfrm>
          <a:prstGeom prst="rect">
            <a:avLst/>
          </a:prstGeom>
          <a:noFill/>
        </p:spPr>
        <p:txBody>
          <a:bodyPr wrap="square">
            <a:spAutoFit/>
          </a:bodyPr>
          <a:lstStyle/>
          <a:p>
            <a:pPr>
              <a:defRPr sz="1600" b="1">
                <a:solidFill>
                  <a:srgbClr val="FFFFFF"/>
                </a:solidFill>
              </a:defRPr>
            </a:pPr>
            <a:r>
              <a:rPr lang="fr-FR" sz="3200" noProof="0" dirty="0"/>
              <a:t>Créer un adhérent</a:t>
            </a:r>
          </a:p>
        </p:txBody>
      </p:sp>
      <p:sp>
        <p:nvSpPr>
          <p:cNvPr id="11" name="ZoneTexte 10">
            <a:extLst>
              <a:ext uri="{FF2B5EF4-FFF2-40B4-BE49-F238E27FC236}">
                <a16:creationId xmlns:a16="http://schemas.microsoft.com/office/drawing/2014/main" id="{401C8CDC-D5AF-AEB0-5B60-31B688574B4C}"/>
              </a:ext>
            </a:extLst>
          </p:cNvPr>
          <p:cNvSpPr txBox="1"/>
          <p:nvPr/>
        </p:nvSpPr>
        <p:spPr>
          <a:xfrm>
            <a:off x="301372" y="268068"/>
            <a:ext cx="8156828" cy="1600438"/>
          </a:xfrm>
          <a:prstGeom prst="rect">
            <a:avLst/>
          </a:prstGeom>
          <a:noFill/>
        </p:spPr>
        <p:txBody>
          <a:bodyPr wrap="square">
            <a:spAutoFit/>
          </a:bodyPr>
          <a:lstStyle/>
          <a:p>
            <a:pPr>
              <a:buNone/>
            </a:pPr>
            <a:r>
              <a:rPr lang="fr-FR" sz="1400" noProof="0" dirty="0">
                <a:solidFill>
                  <a:srgbClr val="141991"/>
                </a:solidFill>
              </a:rPr>
              <a:t>Dans Koha, les adhérents regroupent aussi bien les usagers de la bibliothèque que les agents disposant d’un compte professionnel. </a:t>
            </a:r>
            <a:br>
              <a:rPr lang="fr-FR" sz="1400" noProof="0" dirty="0">
                <a:solidFill>
                  <a:srgbClr val="141991"/>
                </a:solidFill>
              </a:rPr>
            </a:br>
            <a:r>
              <a:rPr lang="fr-FR" sz="1400" noProof="0" dirty="0">
                <a:solidFill>
                  <a:srgbClr val="141991"/>
                </a:solidFill>
              </a:rPr>
              <a:t>Chaque adhérent est rattaché à une bibliothèque et à une catégorie d’adhérent, qui déterminent une partie de ses caractéristiques et de ses droits d’utilisation.</a:t>
            </a:r>
            <a:br>
              <a:rPr lang="fr-FR" sz="1400" noProof="0" dirty="0">
                <a:solidFill>
                  <a:srgbClr val="141991"/>
                </a:solidFill>
              </a:rPr>
            </a:br>
            <a:r>
              <a:rPr lang="fr-FR" sz="1400" noProof="0" dirty="0">
                <a:solidFill>
                  <a:srgbClr val="141991"/>
                </a:solidFill>
              </a:rPr>
              <a:t>La création d’un adhérent consiste à renseigner les informations nécessaires à son identification : nom, prénom, bibliothèque de rattachement, catégorie, identifiant ou numéro de carte, ainsi que les coordonnées utiles selon les besoins du service.</a:t>
            </a:r>
          </a:p>
        </p:txBody>
      </p:sp>
      <p:pic>
        <p:nvPicPr>
          <p:cNvPr id="5" name="Image 4">
            <a:extLst>
              <a:ext uri="{FF2B5EF4-FFF2-40B4-BE49-F238E27FC236}">
                <a16:creationId xmlns:a16="http://schemas.microsoft.com/office/drawing/2014/main" id="{D08082C4-1092-28B6-F33C-A1CBBD55CE86}"/>
              </a:ext>
            </a:extLst>
          </p:cNvPr>
          <p:cNvPicPr>
            <a:picLocks noChangeAspect="1"/>
          </p:cNvPicPr>
          <p:nvPr/>
        </p:nvPicPr>
        <p:blipFill>
          <a:blip r:embed="rId2"/>
          <a:stretch>
            <a:fillRect/>
          </a:stretch>
        </p:blipFill>
        <p:spPr>
          <a:xfrm>
            <a:off x="347472" y="2413575"/>
            <a:ext cx="9499558" cy="2879322"/>
          </a:xfrm>
          <a:prstGeom prst="rect">
            <a:avLst/>
          </a:prstGeom>
        </p:spPr>
      </p:pic>
    </p:spTree>
    <p:extLst>
      <p:ext uri="{BB962C8B-B14F-4D97-AF65-F5344CB8AC3E}">
        <p14:creationId xmlns:p14="http://schemas.microsoft.com/office/powerpoint/2010/main" val="5253534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1900B2A-C338-00CA-1C42-1C07787871C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279FC2E-7D3F-F0C1-36D2-89791380E880}"/>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675EF4CD-38FF-FD68-0C07-4C7DBD21EAE1}"/>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9" name="TextBox 2">
            <a:extLst>
              <a:ext uri="{FF2B5EF4-FFF2-40B4-BE49-F238E27FC236}">
                <a16:creationId xmlns:a16="http://schemas.microsoft.com/office/drawing/2014/main" id="{74DA9118-02D3-E4B9-092E-FF76EE42B041}"/>
              </a:ext>
            </a:extLst>
          </p:cNvPr>
          <p:cNvSpPr txBox="1"/>
          <p:nvPr/>
        </p:nvSpPr>
        <p:spPr>
          <a:xfrm>
            <a:off x="8655767" y="914400"/>
            <a:ext cx="3547872" cy="584775"/>
          </a:xfrm>
          <a:prstGeom prst="rect">
            <a:avLst/>
          </a:prstGeom>
          <a:noFill/>
        </p:spPr>
        <p:txBody>
          <a:bodyPr wrap="square">
            <a:spAutoFit/>
          </a:bodyPr>
          <a:lstStyle/>
          <a:p>
            <a:pPr>
              <a:defRPr sz="1600" b="1">
                <a:solidFill>
                  <a:srgbClr val="FFFFFF"/>
                </a:solidFill>
              </a:defRPr>
            </a:pPr>
            <a:r>
              <a:rPr lang="fr-FR" sz="3200" noProof="0" dirty="0"/>
              <a:t>Créer un adhérent</a:t>
            </a:r>
          </a:p>
        </p:txBody>
      </p:sp>
      <p:sp>
        <p:nvSpPr>
          <p:cNvPr id="11" name="ZoneTexte 10">
            <a:extLst>
              <a:ext uri="{FF2B5EF4-FFF2-40B4-BE49-F238E27FC236}">
                <a16:creationId xmlns:a16="http://schemas.microsoft.com/office/drawing/2014/main" id="{4BFB1385-A5E9-EB94-2BE1-C77F44D0B3CA}"/>
              </a:ext>
            </a:extLst>
          </p:cNvPr>
          <p:cNvSpPr txBox="1"/>
          <p:nvPr/>
        </p:nvSpPr>
        <p:spPr>
          <a:xfrm>
            <a:off x="301372" y="268068"/>
            <a:ext cx="8156828" cy="523220"/>
          </a:xfrm>
          <a:prstGeom prst="rect">
            <a:avLst/>
          </a:prstGeom>
          <a:noFill/>
        </p:spPr>
        <p:txBody>
          <a:bodyPr wrap="square">
            <a:spAutoFit/>
          </a:bodyPr>
          <a:lstStyle/>
          <a:p>
            <a:pPr>
              <a:buNone/>
            </a:pPr>
            <a:r>
              <a:rPr lang="fr-FR" sz="1400" noProof="0" dirty="0">
                <a:solidFill>
                  <a:srgbClr val="141991"/>
                </a:solidFill>
              </a:rPr>
              <a:t>À retenir : créer un adhérent revient à créer son identité dans Koha ; lui attribuer des permissions détermine ensuite ce qu’il est autorisé à faire dans l’interface professionnelle</a:t>
            </a:r>
          </a:p>
        </p:txBody>
      </p:sp>
      <p:pic>
        <p:nvPicPr>
          <p:cNvPr id="4" name="Image 3">
            <a:extLst>
              <a:ext uri="{FF2B5EF4-FFF2-40B4-BE49-F238E27FC236}">
                <a16:creationId xmlns:a16="http://schemas.microsoft.com/office/drawing/2014/main" id="{844935F5-9F97-1667-78BA-7CEAD82136AA}"/>
              </a:ext>
            </a:extLst>
          </p:cNvPr>
          <p:cNvPicPr>
            <a:picLocks noChangeAspect="1"/>
          </p:cNvPicPr>
          <p:nvPr/>
        </p:nvPicPr>
        <p:blipFill>
          <a:blip r:embed="rId2"/>
          <a:stretch>
            <a:fillRect/>
          </a:stretch>
        </p:blipFill>
        <p:spPr>
          <a:xfrm>
            <a:off x="301372" y="914400"/>
            <a:ext cx="4708846" cy="5168068"/>
          </a:xfrm>
          <a:prstGeom prst="rect">
            <a:avLst/>
          </a:prstGeom>
        </p:spPr>
      </p:pic>
      <p:pic>
        <p:nvPicPr>
          <p:cNvPr id="8" name="Image 7">
            <a:extLst>
              <a:ext uri="{FF2B5EF4-FFF2-40B4-BE49-F238E27FC236}">
                <a16:creationId xmlns:a16="http://schemas.microsoft.com/office/drawing/2014/main" id="{E7C96BBC-E870-9E4A-31D2-22C278B09D91}"/>
              </a:ext>
            </a:extLst>
          </p:cNvPr>
          <p:cNvPicPr>
            <a:picLocks noChangeAspect="1"/>
          </p:cNvPicPr>
          <p:nvPr/>
        </p:nvPicPr>
        <p:blipFill>
          <a:blip r:embed="rId3"/>
          <a:srcRect t="11648"/>
          <a:stretch>
            <a:fillRect/>
          </a:stretch>
        </p:blipFill>
        <p:spPr>
          <a:xfrm>
            <a:off x="5389100" y="2799847"/>
            <a:ext cx="5687219" cy="698587"/>
          </a:xfrm>
          <a:prstGeom prst="rect">
            <a:avLst/>
          </a:prstGeom>
        </p:spPr>
      </p:pic>
      <p:pic>
        <p:nvPicPr>
          <p:cNvPr id="12" name="Image 11">
            <a:extLst>
              <a:ext uri="{FF2B5EF4-FFF2-40B4-BE49-F238E27FC236}">
                <a16:creationId xmlns:a16="http://schemas.microsoft.com/office/drawing/2014/main" id="{ECDA2359-8C23-F31B-6619-AC546DEA7AC5}"/>
              </a:ext>
            </a:extLst>
          </p:cNvPr>
          <p:cNvPicPr>
            <a:picLocks noChangeAspect="1"/>
          </p:cNvPicPr>
          <p:nvPr/>
        </p:nvPicPr>
        <p:blipFill>
          <a:blip r:embed="rId4"/>
          <a:stretch>
            <a:fillRect/>
          </a:stretch>
        </p:blipFill>
        <p:spPr>
          <a:xfrm>
            <a:off x="5010218" y="3793144"/>
            <a:ext cx="6910874" cy="1005962"/>
          </a:xfrm>
          <a:prstGeom prst="rect">
            <a:avLst/>
          </a:prstGeom>
        </p:spPr>
      </p:pic>
    </p:spTree>
    <p:extLst>
      <p:ext uri="{BB962C8B-B14F-4D97-AF65-F5344CB8AC3E}">
        <p14:creationId xmlns:p14="http://schemas.microsoft.com/office/powerpoint/2010/main" val="5743001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9C2D342-F3C4-4776-A26C-406AABD54B5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5DA943B-D6BF-F8A0-0298-31855DFD77C3}"/>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2B2F809B-DA86-2D0B-2942-F9E80B169726}"/>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9" name="TextBox 2">
            <a:extLst>
              <a:ext uri="{FF2B5EF4-FFF2-40B4-BE49-F238E27FC236}">
                <a16:creationId xmlns:a16="http://schemas.microsoft.com/office/drawing/2014/main" id="{BF8082CD-CAF2-1EFC-D925-17308856C315}"/>
              </a:ext>
            </a:extLst>
          </p:cNvPr>
          <p:cNvSpPr txBox="1"/>
          <p:nvPr/>
        </p:nvSpPr>
        <p:spPr>
          <a:xfrm>
            <a:off x="8655767" y="914400"/>
            <a:ext cx="3547872" cy="584775"/>
          </a:xfrm>
          <a:prstGeom prst="rect">
            <a:avLst/>
          </a:prstGeom>
          <a:noFill/>
        </p:spPr>
        <p:txBody>
          <a:bodyPr wrap="square">
            <a:spAutoFit/>
          </a:bodyPr>
          <a:lstStyle/>
          <a:p>
            <a:pPr>
              <a:defRPr sz="1600" b="1">
                <a:solidFill>
                  <a:srgbClr val="FFFFFF"/>
                </a:solidFill>
              </a:defRPr>
            </a:pPr>
            <a:r>
              <a:rPr lang="fr-FR" sz="3200" noProof="0" dirty="0"/>
              <a:t>Prêt et retour</a:t>
            </a:r>
          </a:p>
        </p:txBody>
      </p:sp>
      <p:sp>
        <p:nvSpPr>
          <p:cNvPr id="11" name="ZoneTexte 10">
            <a:extLst>
              <a:ext uri="{FF2B5EF4-FFF2-40B4-BE49-F238E27FC236}">
                <a16:creationId xmlns:a16="http://schemas.microsoft.com/office/drawing/2014/main" id="{525D57AF-2CC7-53CC-E7CB-A45F995542EB}"/>
              </a:ext>
            </a:extLst>
          </p:cNvPr>
          <p:cNvSpPr txBox="1"/>
          <p:nvPr/>
        </p:nvSpPr>
        <p:spPr>
          <a:xfrm>
            <a:off x="301372" y="268068"/>
            <a:ext cx="8156828" cy="1600438"/>
          </a:xfrm>
          <a:prstGeom prst="rect">
            <a:avLst/>
          </a:prstGeom>
          <a:noFill/>
        </p:spPr>
        <p:txBody>
          <a:bodyPr wrap="square">
            <a:spAutoFit/>
          </a:bodyPr>
          <a:lstStyle/>
          <a:p>
            <a:pPr>
              <a:buNone/>
            </a:pPr>
            <a:r>
              <a:rPr lang="fr-FR" sz="1400" noProof="0" dirty="0">
                <a:solidFill>
                  <a:srgbClr val="141991"/>
                </a:solidFill>
              </a:rPr>
              <a:t>Le module Circulation permet de gérer les mouvements des documents entre la bibliothèque et ses adhérents : prêts, retours, renouvellements et réservations. </a:t>
            </a:r>
            <a:br>
              <a:rPr lang="fr-FR" sz="1400" noProof="0" dirty="0">
                <a:solidFill>
                  <a:srgbClr val="141991"/>
                </a:solidFill>
              </a:rPr>
            </a:br>
            <a:r>
              <a:rPr lang="fr-FR" sz="1400" noProof="0" dirty="0">
                <a:solidFill>
                  <a:srgbClr val="141991"/>
                </a:solidFill>
              </a:rPr>
              <a:t>Son fonctionnement repose sur les informations enregistrées dans les fiches des adhérents et des exemplaires, ainsi que sur les règles définies par les administrateurs.</a:t>
            </a:r>
            <a:br>
              <a:rPr lang="fr-FR" sz="1400" noProof="0" dirty="0">
                <a:solidFill>
                  <a:srgbClr val="141991"/>
                </a:solidFill>
              </a:rPr>
            </a:br>
            <a:r>
              <a:rPr lang="fr-FR" sz="1400" noProof="0" dirty="0">
                <a:solidFill>
                  <a:srgbClr val="141991"/>
                </a:solidFill>
              </a:rPr>
              <a:t>Les règles de circulation et de prêt déterminent les conditions applicables en croisant notamment trois éléments : la bibliothèque, la catégorie d’adhérent et le type de document. Elles permettent ensuite de définir des paramètres comme la durée du prêt, les renouvellements, les réservations ou les éventuelles pénalités.</a:t>
            </a:r>
          </a:p>
        </p:txBody>
      </p:sp>
      <p:pic>
        <p:nvPicPr>
          <p:cNvPr id="5" name="Image 4">
            <a:extLst>
              <a:ext uri="{FF2B5EF4-FFF2-40B4-BE49-F238E27FC236}">
                <a16:creationId xmlns:a16="http://schemas.microsoft.com/office/drawing/2014/main" id="{4FF62892-D1F9-5025-E725-CB2A4C3FDD57}"/>
              </a:ext>
            </a:extLst>
          </p:cNvPr>
          <p:cNvPicPr>
            <a:picLocks noChangeAspect="1"/>
          </p:cNvPicPr>
          <p:nvPr/>
        </p:nvPicPr>
        <p:blipFill>
          <a:blip r:embed="rId2"/>
          <a:stretch>
            <a:fillRect/>
          </a:stretch>
        </p:blipFill>
        <p:spPr>
          <a:xfrm>
            <a:off x="347472" y="2595904"/>
            <a:ext cx="9716856" cy="2076740"/>
          </a:xfrm>
          <a:prstGeom prst="rect">
            <a:avLst/>
          </a:prstGeom>
        </p:spPr>
      </p:pic>
      <p:pic>
        <p:nvPicPr>
          <p:cNvPr id="10" name="Image 9">
            <a:extLst>
              <a:ext uri="{FF2B5EF4-FFF2-40B4-BE49-F238E27FC236}">
                <a16:creationId xmlns:a16="http://schemas.microsoft.com/office/drawing/2014/main" id="{D5E6B7D4-1AE3-1360-C944-E6EA9EEA4850}"/>
              </a:ext>
            </a:extLst>
          </p:cNvPr>
          <p:cNvPicPr>
            <a:picLocks noChangeAspect="1"/>
          </p:cNvPicPr>
          <p:nvPr/>
        </p:nvPicPr>
        <p:blipFill>
          <a:blip r:embed="rId3"/>
          <a:stretch>
            <a:fillRect/>
          </a:stretch>
        </p:blipFill>
        <p:spPr>
          <a:xfrm>
            <a:off x="301372" y="4982843"/>
            <a:ext cx="6773220" cy="1333686"/>
          </a:xfrm>
          <a:prstGeom prst="rect">
            <a:avLst/>
          </a:prstGeom>
        </p:spPr>
      </p:pic>
    </p:spTree>
    <p:extLst>
      <p:ext uri="{BB962C8B-B14F-4D97-AF65-F5344CB8AC3E}">
        <p14:creationId xmlns:p14="http://schemas.microsoft.com/office/powerpoint/2010/main" val="5889217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1500</TotalTime>
  <Words>4124</Words>
  <Application>Microsoft Office PowerPoint</Application>
  <PresentationFormat>Grand écran</PresentationFormat>
  <Paragraphs>554</Paragraphs>
  <Slides>52</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52</vt:i4>
      </vt:variant>
    </vt:vector>
  </HeadingPairs>
  <TitlesOfParts>
    <vt:vector size="56" baseType="lpstr">
      <vt:lpstr>Arial</vt:lpstr>
      <vt:lpstr>Calibri</vt:lpstr>
      <vt:lpstr>Wingdings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THEBAULT Didier</dc:creator>
  <cp:keywords/>
  <dc:description>generated using python-pptx</dc:description>
  <cp:lastModifiedBy>THEBAULT Didier</cp:lastModifiedBy>
  <cp:revision>29</cp:revision>
  <dcterms:created xsi:type="dcterms:W3CDTF">2013-01-27T09:14:16Z</dcterms:created>
  <dcterms:modified xsi:type="dcterms:W3CDTF">2026-09-24T13:12:17Z</dcterms:modified>
  <cp:category/>
</cp:coreProperties>
</file>